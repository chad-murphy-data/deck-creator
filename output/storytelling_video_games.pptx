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45</c:v>
                </c:pt>
                <c:pt idx="2">
                  <c:v>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7863840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4000" b="1" i="0">
                <a:solidFill>
                  <a:srgbClr val="403F3E"/>
                </a:solidFill>
                <a:latin typeface="Fidelity Slab"/>
              </a:defRPr>
            </a:pPr>
            <a:r>
              <a:t>Everything I Learned About Storytelling I Learned from Video Games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423160"/>
            <a:ext cx="2286000" cy="36576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555555"/>
                </a:solidFill>
                <a:latin typeface="Fidelity Sans"/>
              </a:defRPr>
            </a:pPr>
            <a:r>
              <a:t>Applying Jesse Schell's Lenses to Narrative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7863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555555"/>
                </a:solidFill>
                <a:latin typeface="Fidelity Sans"/>
              </a:defRPr>
            </a:pPr>
            <a:r>
              <a:t>A Fellow Gamer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55555"/>
                </a:solidFill>
                <a:latin typeface="Fidelity Sans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68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828800" cy="7315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4800" b="1" i="0">
                <a:solidFill>
                  <a:srgbClr val="1DE4CA"/>
                </a:solidFill>
                <a:latin typeface="Fidelity Slab"/>
              </a:defRPr>
            </a:pPr>
            <a:r>
              <a:t>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315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Fidelity Slab"/>
              </a:defRPr>
            </a:pPr>
            <a:r>
              <a:t>Setting the Stage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1DE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"/>
            <a:ext cx="7863840" cy="5943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2600" b="1" i="0">
                <a:solidFill>
                  <a:srgbClr val="403F3E"/>
                </a:solidFill>
                <a:latin typeface="Fidelity Slab"/>
              </a:defRPr>
            </a:pPr>
            <a:r>
              <a:t>Today's Quest 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2286000" cy="36576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057503"/>
            <a:ext cx="7863840" cy="658368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057503"/>
            <a:ext cx="91440" cy="658368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203807"/>
            <a:ext cx="365760" cy="365760"/>
          </a:xfrm>
          <a:prstGeom prst="ellipse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203807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Fidelity Slab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057503"/>
            <a:ext cx="5029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403F3E"/>
                </a:solidFill>
                <a:latin typeface="Fidelity Sans"/>
              </a:defRPr>
            </a:pPr>
            <a:r>
              <a:t>The Lens of Essential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057503"/>
            <a:ext cx="1645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 i="0">
                <a:solidFill>
                  <a:srgbClr val="555555"/>
                </a:solidFill>
                <a:latin typeface="Fidelity Sans"/>
              </a:defRPr>
            </a:pPr>
            <a:r>
              <a:t>What makes a story feel real?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789023"/>
            <a:ext cx="7863840" cy="658368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789023"/>
            <a:ext cx="91440" cy="658368"/>
          </a:xfrm>
          <a:prstGeom prst="rect">
            <a:avLst/>
          </a:prstGeom>
          <a:solidFill>
            <a:srgbClr val="388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4128" y="1935327"/>
            <a:ext cx="365760" cy="365760"/>
          </a:xfrm>
          <a:prstGeom prst="ellipse">
            <a:avLst/>
          </a:prstGeom>
          <a:solidFill>
            <a:srgbClr val="388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1935327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Fidelity Slab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1789023"/>
            <a:ext cx="5029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403F3E"/>
                </a:solidFill>
                <a:latin typeface="Fidelity Sans"/>
              </a:defRPr>
            </a:pPr>
            <a:r>
              <a:t>The Lens of Surprise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789023"/>
            <a:ext cx="1645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 i="0">
                <a:solidFill>
                  <a:srgbClr val="555555"/>
                </a:solidFill>
                <a:latin typeface="Fidelity Sans"/>
              </a:defRPr>
            </a:pPr>
            <a:r>
              <a:t>Plot twists and player agency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520543"/>
            <a:ext cx="7863840" cy="658368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2520543"/>
            <a:ext cx="91440" cy="658368"/>
          </a:xfrm>
          <a:prstGeom prst="rect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2666847"/>
            <a:ext cx="365760" cy="365760"/>
          </a:xfrm>
          <a:prstGeom prst="ellipse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2666847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Fidelity Slab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520543"/>
            <a:ext cx="5029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403F3E"/>
                </a:solidFill>
                <a:latin typeface="Fidelity Sans"/>
              </a:defRPr>
            </a:pPr>
            <a:r>
              <a:t>The Lens of 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520543"/>
            <a:ext cx="1645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 i="0">
                <a:solidFill>
                  <a:srgbClr val="555555"/>
                </a:solidFill>
                <a:latin typeface="Fidelity Sans"/>
              </a:defRPr>
            </a:pPr>
            <a:r>
              <a:t>Narrative arcs in interactive media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252063"/>
            <a:ext cx="7863840" cy="658368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3252063"/>
            <a:ext cx="91440" cy="658368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4128" y="3398367"/>
            <a:ext cx="365760" cy="365760"/>
          </a:xfrm>
          <a:prstGeom prst="ellipse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3398367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Fidelity Slab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252063"/>
            <a:ext cx="5029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403F3E"/>
                </a:solidFill>
                <a:latin typeface="Fidelity Sans"/>
              </a:defRPr>
            </a:pPr>
            <a:r>
              <a:t>The Lens of the Hero's Journey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52063"/>
            <a:ext cx="1645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 i="0">
                <a:solidFill>
                  <a:srgbClr val="555555"/>
                </a:solidFill>
                <a:latin typeface="Fidelity Sans"/>
              </a:defRPr>
            </a:pPr>
            <a:r>
              <a:t>From tutorial to final boss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3983583"/>
            <a:ext cx="7863840" cy="658368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3983583"/>
            <a:ext cx="91440" cy="65836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4128" y="4129887"/>
            <a:ext cx="365760" cy="36576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4129887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Fidelity Slab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3983583"/>
            <a:ext cx="5029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403F3E"/>
                </a:solidFill>
                <a:latin typeface="Fidelity Sans"/>
              </a:defRPr>
            </a:pPr>
            <a:r>
              <a:t>The Lens of Interest Curves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983583"/>
            <a:ext cx="1645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 i="0">
                <a:solidFill>
                  <a:srgbClr val="555555"/>
                </a:solidFill>
                <a:latin typeface="Fidelity Sans"/>
              </a:defRPr>
            </a:pPr>
            <a:r>
              <a:t>Pacing that keeps players hooked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"/>
            <a:ext cx="7863840" cy="5943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2800" b="1" i="0">
                <a:solidFill>
                  <a:srgbClr val="403F3E"/>
                </a:solidFill>
                <a:latin typeface="Fidelity Slab"/>
              </a:defRPr>
            </a:pPr>
            <a:r>
              <a:t>Why Video Games?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2286000" cy="36576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60120"/>
            <a:ext cx="7863840" cy="883539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960120"/>
            <a:ext cx="91440" cy="883539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219009"/>
            <a:ext cx="365760" cy="365760"/>
          </a:xfrm>
          <a:prstGeom prst="ellipse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219009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Fidelity Slab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960120"/>
            <a:ext cx="6995160" cy="8835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1">
                <a:solidFill>
                  <a:srgbClr val="403F3E"/>
                </a:solidFill>
                <a:latin typeface="Fidelity Sans"/>
              </a:rPr>
              <a:t>Games are the only medium </a:t>
            </a:r>
            <a:r>
              <a:rPr sz="1500" b="0">
                <a:solidFill>
                  <a:srgbClr val="403F3E"/>
                </a:solidFill>
                <a:latin typeface="Fidelity Sans"/>
              </a:rPr>
              <a:t>where the audience IS the protagonist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53387"/>
            <a:ext cx="7863840" cy="883539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953387"/>
            <a:ext cx="91440" cy="883539"/>
          </a:xfrm>
          <a:prstGeom prst="rect">
            <a:avLst/>
          </a:prstGeom>
          <a:solidFill>
            <a:srgbClr val="388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212276"/>
            <a:ext cx="365760" cy="365760"/>
          </a:xfrm>
          <a:prstGeom prst="ellipse">
            <a:avLst/>
          </a:prstGeom>
          <a:solidFill>
            <a:srgbClr val="388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21227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Fidelity Slab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953387"/>
            <a:ext cx="6995160" cy="8835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1">
                <a:solidFill>
                  <a:srgbClr val="403F3E"/>
                </a:solidFill>
                <a:latin typeface="Fidelity Sans"/>
              </a:rPr>
              <a:t>Player agency forces stories to earn their emotional beats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946654"/>
            <a:ext cx="7863840" cy="883539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2946654"/>
            <a:ext cx="91440" cy="883539"/>
          </a:xfrm>
          <a:prstGeom prst="rect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4128" y="3205543"/>
            <a:ext cx="365760" cy="365760"/>
          </a:xfrm>
          <a:prstGeom prst="ellipse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205543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Fidelity Slab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946654"/>
            <a:ext cx="6995160" cy="8835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1">
                <a:solidFill>
                  <a:srgbClr val="403F3E"/>
                </a:solidFill>
                <a:latin typeface="Fidelity Sans"/>
              </a:rPr>
              <a:t>Failure states create stakes that passive media can't match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939921"/>
            <a:ext cx="7863840" cy="883539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3939921"/>
            <a:ext cx="91440" cy="883539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4128" y="4198810"/>
            <a:ext cx="365760" cy="365760"/>
          </a:xfrm>
          <a:prstGeom prst="ellipse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19881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Fidelity Slab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939921"/>
            <a:ext cx="6995160" cy="8835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1">
                <a:solidFill>
                  <a:srgbClr val="403F3E"/>
                </a:solidFill>
                <a:latin typeface="Fidelity Sans"/>
              </a:rPr>
              <a:t>Schell's 100+ lenses provide a universal storytelling toolkit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880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828800" cy="7315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4800" b="1" i="0">
                <a:solidFill>
                  <a:srgbClr val="1DE4CA"/>
                </a:solidFill>
                <a:latin typeface="Fidelity Slab"/>
              </a:defRPr>
            </a:pPr>
            <a:r>
              <a:t>002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315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Fidelity Slab"/>
              </a:defRPr>
            </a:pPr>
            <a:r>
              <a:t>Core Lenses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1DE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"/>
            <a:ext cx="7863840" cy="5943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2200" b="1" i="0">
                <a:solidFill>
                  <a:srgbClr val="403F3E"/>
                </a:solidFill>
                <a:latin typeface="Fidelity Slab"/>
              </a:defRPr>
            </a:pPr>
            <a:r>
              <a:t>The Lens of Essential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2286000" cy="36576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7863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0" b="1" i="0">
                <a:solidFill>
                  <a:srgbClr val="3880F3"/>
                </a:solidFill>
                <a:latin typeface="Fidelity Slab"/>
              </a:defRPr>
            </a:pPr>
            <a: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403F3E"/>
                </a:solidFill>
                <a:latin typeface="Fidelity Sans"/>
              </a:defRPr>
            </a:pPr>
            <a:r>
              <a:t>Lenses in The Art of Game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29000"/>
            <a:ext cx="6400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ts val="1700"/>
              </a:lnSpc>
              <a:defRPr sz="1300" b="0" i="0">
                <a:solidFill>
                  <a:srgbClr val="555555"/>
                </a:solidFill>
                <a:latin typeface="Fidelity Sans"/>
              </a:defRPr>
            </a:pPr>
            <a:r>
              <a:t>Jesse Schell's book catalogs over 113 lenses — each a different way to examine your creative work. Many apply directly to any form of storytelling.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1">
                <a:solidFill>
                  <a:srgbClr val="555555"/>
                </a:solidFill>
                <a:latin typeface="Fidelity Sans"/>
              </a:defRPr>
            </a:pPr>
            <a:r>
              <a:t>The Art of Game Design, 3rd Edition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"/>
            <a:ext cx="7863840" cy="5943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2200" b="1" i="0">
                <a:solidFill>
                  <a:srgbClr val="403F3E"/>
                </a:solidFill>
                <a:latin typeface="Fidelity Slab"/>
              </a:defRPr>
            </a:pPr>
            <a:r>
              <a:t>The Lens of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2286000" cy="36576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400" b="1" i="0">
                <a:solidFill>
                  <a:srgbClr val="F7F4E4"/>
                </a:solidFill>
                <a:latin typeface="Georgia"/>
              </a:defRPr>
            </a:pPr>
            <a: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71600"/>
            <a:ext cx="6858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2500"/>
              </a:lnSpc>
              <a:defRPr sz="1800" b="0" i="1">
                <a:solidFill>
                  <a:srgbClr val="403F3E"/>
                </a:solidFill>
                <a:latin typeface="Fidelity Sans"/>
              </a:defRPr>
            </a:pPr>
            <a:r>
              <a:t>A game is not a story. A game is an experience. But stories can be a powerful part of that experience.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3383280"/>
            <a:ext cx="1371600" cy="36576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555555"/>
                </a:solidFill>
                <a:latin typeface="Fidelity Sans"/>
              </a:defRPr>
            </a:pPr>
            <a:r>
              <a:t>Jesse Schell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8404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Fidelity Sans"/>
              </a:defRPr>
            </a:pPr>
            <a:r>
              <a:t>The Art of Game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"/>
            <a:ext cx="7863840" cy="5943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2400" b="1" i="0">
                <a:solidFill>
                  <a:srgbClr val="403F3E"/>
                </a:solidFill>
                <a:latin typeface="Fidelity Slab"/>
              </a:defRPr>
            </a:pPr>
            <a:r>
              <a:t>Linear vs. Interactive Storytelling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2286000" cy="36576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60120"/>
            <a:ext cx="3657600" cy="329184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960120"/>
            <a:ext cx="73152" cy="3291840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04547C"/>
                </a:solidFill>
                <a:latin typeface="Fidelity Slab"/>
              </a:defRPr>
            </a:pPr>
            <a:r>
              <a:t>Film / Novel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403F3E"/>
                </a:solidFill>
                <a:latin typeface="Fidelity Sans"/>
              </a:defRPr>
            </a:pPr>
            <a:r>
              <a:t>Fixed narrative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403F3E"/>
                </a:solidFill>
                <a:latin typeface="Fidelity Sans"/>
              </a:defRPr>
            </a:pPr>
            <a:r>
              <a:t>Author controls 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403F3E"/>
                </a:solidFill>
                <a:latin typeface="Fidelity Sans"/>
              </a:defRPr>
            </a:pPr>
            <a:r>
              <a:t>Audience is passive observer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403F3E"/>
                </a:solidFill>
                <a:latin typeface="Fidelity Sans"/>
              </a:defRPr>
            </a:pPr>
            <a:r>
              <a:t>Single canonical ending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143000"/>
            <a:ext cx="27432" cy="292608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00600" y="960120"/>
            <a:ext cx="3886200" cy="329184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00600" y="960120"/>
            <a:ext cx="73152" cy="329184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0972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368727"/>
                </a:solidFill>
                <a:latin typeface="Fidelity Slab"/>
              </a:defRPr>
            </a:pPr>
            <a:r>
              <a:t>Video Games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554480"/>
            <a:ext cx="3520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403F3E"/>
                </a:solidFill>
                <a:latin typeface="Fidelity Sans"/>
              </a:defRPr>
            </a:pPr>
            <a:r>
              <a:t>Branching possibilities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103120"/>
            <a:ext cx="3520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403F3E"/>
                </a:solidFill>
                <a:latin typeface="Fidelity Sans"/>
              </a:defRPr>
            </a:pPr>
            <a:r>
              <a:t>Player controls pacing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651760"/>
            <a:ext cx="3520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403F3E"/>
                </a:solidFill>
                <a:latin typeface="Fidelity Sans"/>
              </a:defRPr>
            </a:pPr>
            <a:r>
              <a:t>Audience is active participant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200400"/>
            <a:ext cx="3520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403F3E"/>
                </a:solidFill>
                <a:latin typeface="Fidelity Sans"/>
              </a:defRPr>
            </a:pPr>
            <a:r>
              <a:t>Multiple outcomes possible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"/>
            <a:ext cx="7863840" cy="5943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2400" b="1" i="0">
                <a:solidFill>
                  <a:srgbClr val="403F3E"/>
                </a:solidFill>
                <a:latin typeface="Fidelity Slab"/>
              </a:defRPr>
            </a:pPr>
            <a:r>
              <a:t>The Interest Curve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2286000" cy="36576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3657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800"/>
              </a:lnSpc>
              <a:defRPr sz="1300" b="0" i="0">
                <a:solidFill>
                  <a:srgbClr val="403F3E"/>
                </a:solidFill>
                <a:latin typeface="Fidelity Sans"/>
              </a:defRPr>
            </a:pPr>
            <a:r>
              <a:t>Schell's Lens of Interest Curves shows that great stories follow a pattern of rising tension, peaks of excitement, and valleys of rest.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3657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800"/>
              </a:lnSpc>
              <a:defRPr sz="1300" b="0" i="0">
                <a:solidFill>
                  <a:srgbClr val="403F3E"/>
                </a:solidFill>
                <a:latin typeface="Fidelity Sans"/>
              </a:defRPr>
            </a:pPr>
            <a:r>
              <a:t>Games like The Last of Us master this by alternating combat sequences with quiet exploration and dialogue.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960120"/>
            <a:ext cx="27432" cy="32004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846320" y="960120"/>
          <a:ext cx="384048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2C8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828800" cy="7315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4800" b="1" i="0">
                <a:solidFill>
                  <a:srgbClr val="1DE4CA"/>
                </a:solidFill>
                <a:latin typeface="Fidelity Slab"/>
              </a:defRPr>
            </a:pPr>
            <a:r>
              <a:t>003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315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Fidelity Slab"/>
              </a:defRPr>
            </a:pPr>
            <a:r>
              <a:t>Frameworks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1DE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"/>
            <a:ext cx="7863840" cy="5943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2400" b="1" i="0">
                <a:solidFill>
                  <a:srgbClr val="403F3E"/>
                </a:solidFill>
                <a:latin typeface="Fidelity Slab"/>
              </a:defRPr>
            </a:pPr>
            <a:r>
              <a:t>The Hero's Journey in Games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2286000" cy="36576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60120"/>
            <a:ext cx="1353312" cy="356616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960120"/>
            <a:ext cx="54864" cy="356616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0972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368727"/>
                </a:solidFill>
                <a:latin typeface="Fidelity Slab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63040"/>
            <a:ext cx="107899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403F3E"/>
                </a:solidFill>
                <a:latin typeface="Fidelity Sans"/>
              </a:defRPr>
            </a:pPr>
            <a:r>
              <a:t>Tutorial 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1078992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  <a:defRPr sz="1100" b="0" i="0">
                <a:solidFill>
                  <a:srgbClr val="555555"/>
                </a:solidFill>
                <a:latin typeface="Fidelity Sans"/>
              </a:defRPr>
            </a:pPr>
            <a:r>
              <a:t>The ordinary world — learn the controls, meet allies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331720"/>
            <a:ext cx="23774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 i="0">
                <a:solidFill>
                  <a:srgbClr val="E5E5E5"/>
                </a:solidFill>
                <a:latin typeface="Fidelity San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50592" y="960120"/>
            <a:ext cx="1353312" cy="356616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50592" y="960120"/>
            <a:ext cx="54864" cy="3566160"/>
          </a:xfrm>
          <a:prstGeom prst="rect">
            <a:avLst/>
          </a:prstGeom>
          <a:solidFill>
            <a:srgbClr val="388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7752" y="10972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3880F3"/>
                </a:solidFill>
                <a:latin typeface="Fidelity Slab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7752" y="1463040"/>
            <a:ext cx="107899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403F3E"/>
                </a:solidFill>
                <a:latin typeface="Fidelity Sans"/>
              </a:defRPr>
            </a:pPr>
            <a:r>
              <a:t>The 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7752" y="2103120"/>
            <a:ext cx="1078992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  <a:defRPr sz="1100" b="0" i="0">
                <a:solidFill>
                  <a:srgbClr val="555555"/>
                </a:solidFill>
                <a:latin typeface="Fidelity Sans"/>
              </a:defRPr>
            </a:pPr>
            <a:r>
              <a:t>Inciting incident — the village burns, the princess vanishes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2" y="2331720"/>
            <a:ext cx="23774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 i="0">
                <a:solidFill>
                  <a:srgbClr val="E5E5E5"/>
                </a:solidFill>
                <a:latin typeface="Fidelity San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78224" y="960120"/>
            <a:ext cx="1353312" cy="356616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78224" y="960120"/>
            <a:ext cx="54864" cy="3566160"/>
          </a:xfrm>
          <a:prstGeom prst="rect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15384" y="10972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5B2C8F"/>
                </a:solidFill>
                <a:latin typeface="Fidelity Slab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15384" y="1463040"/>
            <a:ext cx="107899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403F3E"/>
                </a:solidFill>
                <a:latin typeface="Fidelity Sans"/>
              </a:defRPr>
            </a:pPr>
            <a:r>
              <a:t>Trials &amp;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15384" y="2103120"/>
            <a:ext cx="1078992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  <a:defRPr sz="1100" b="0" i="0">
                <a:solidFill>
                  <a:srgbClr val="555555"/>
                </a:solidFill>
                <a:latin typeface="Fidelity Sans"/>
              </a:defRPr>
            </a:pPr>
            <a:r>
              <a:t>Dungeons, bosses, skill trees — transformation through 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9824" y="2331720"/>
            <a:ext cx="23774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 i="0">
                <a:solidFill>
                  <a:srgbClr val="E5E5E5"/>
                </a:solidFill>
                <a:latin typeface="Fidelity San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05856" y="960120"/>
            <a:ext cx="1353312" cy="356616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05856" y="960120"/>
            <a:ext cx="54864" cy="3566160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43016" y="10972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04547C"/>
                </a:solidFill>
                <a:latin typeface="Fidelity Slab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3016" y="1463040"/>
            <a:ext cx="107899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403F3E"/>
                </a:solidFill>
                <a:latin typeface="Fidelity Sans"/>
              </a:defRPr>
            </a:pPr>
            <a:r>
              <a:t>The Final Boss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3016" y="2103120"/>
            <a:ext cx="1078992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  <a:defRPr sz="1100" b="0" i="0">
                <a:solidFill>
                  <a:srgbClr val="555555"/>
                </a:solidFill>
                <a:latin typeface="Fidelity Sans"/>
              </a:defRPr>
            </a:pPr>
            <a:r>
              <a:t>Supreme ordeal — everything learned is tested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77456" y="2331720"/>
            <a:ext cx="23774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 i="0">
                <a:solidFill>
                  <a:srgbClr val="E5E5E5"/>
                </a:solidFill>
                <a:latin typeface="Fidelity San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33488" y="960120"/>
            <a:ext cx="1353312" cy="356616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33488" y="960120"/>
            <a:ext cx="54864" cy="35661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0648" y="10972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D4A843"/>
                </a:solidFill>
                <a:latin typeface="Fidelity Slab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0648" y="1463040"/>
            <a:ext cx="107899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403F3E"/>
                </a:solidFill>
                <a:latin typeface="Fidelity Sans"/>
              </a:defRPr>
            </a:pPr>
            <a:r>
              <a:t>Return Home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0648" y="2103120"/>
            <a:ext cx="1078992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  <a:defRPr sz="1100" b="0" i="0">
                <a:solidFill>
                  <a:srgbClr val="555555"/>
                </a:solidFill>
                <a:latin typeface="Fidelity Sans"/>
              </a:defRPr>
            </a:pPr>
            <a:r>
              <a:t>The ending cutscene — changed by the journey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"/>
            <a:ext cx="7863840" cy="5943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2400" b="1" i="0">
                <a:solidFill>
                  <a:srgbClr val="403F3E"/>
                </a:solidFill>
                <a:latin typeface="Fidelity Slab"/>
              </a:defRPr>
            </a:pPr>
            <a:r>
              <a:t>Story Engagement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2286000" cy="36576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60120"/>
            <a:ext cx="3703320" cy="169164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960120"/>
            <a:ext cx="54864" cy="169164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069848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68727"/>
                </a:solidFill>
                <a:latin typeface="Fidelity Slab"/>
              </a:defRPr>
            </a:pPr>
            <a:r>
              <a:t>Walking Simulator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3337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  <a:defRPr sz="1100" b="0" i="0">
                <a:solidFill>
                  <a:srgbClr val="403F3E"/>
                </a:solidFill>
                <a:latin typeface="Fidelity Sans"/>
              </a:defRPr>
            </a:pPr>
            <a:r>
              <a:t>Deep story, limited choices. E.g. Gone Home, Firewatch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960120"/>
            <a:ext cx="3703320" cy="169164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960120"/>
            <a:ext cx="54864" cy="1691640"/>
          </a:xfrm>
          <a:prstGeom prst="rect">
            <a:avLst/>
          </a:prstGeom>
          <a:solidFill>
            <a:srgbClr val="388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069848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880F3"/>
                </a:solidFill>
                <a:latin typeface="Fidelity Slab"/>
              </a:defRPr>
            </a:pPr>
            <a:r>
              <a:t>Branching Epic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417320"/>
            <a:ext cx="3337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  <a:defRPr sz="1100" b="0" i="0">
                <a:solidFill>
                  <a:srgbClr val="403F3E"/>
                </a:solidFill>
                <a:latin typeface="Fidelity Sans"/>
              </a:defRPr>
            </a:pPr>
            <a:r>
              <a:t>Deep story, high agency. E.g. Mass Effect, Disco Elysium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834640"/>
            <a:ext cx="3703320" cy="169164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834640"/>
            <a:ext cx="54864" cy="1691640"/>
          </a:xfrm>
          <a:prstGeom prst="rect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944368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5B2C8F"/>
                </a:solidFill>
                <a:latin typeface="Fidelity Slab"/>
              </a:defRPr>
            </a:pPr>
            <a:r>
              <a:t>Arcade Classic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91840"/>
            <a:ext cx="3337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  <a:defRPr sz="1100" b="0" i="0">
                <a:solidFill>
                  <a:srgbClr val="403F3E"/>
                </a:solidFill>
                <a:latin typeface="Fidelity Sans"/>
              </a:defRPr>
            </a:pPr>
            <a:r>
              <a:t>Minimal story, minimal agency. E.g. Tetris, Pac-Man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2834640"/>
            <a:ext cx="3703320" cy="169164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09160" y="2834640"/>
            <a:ext cx="54864" cy="1691640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2944368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04547C"/>
                </a:solidFill>
                <a:latin typeface="Fidelity Slab"/>
              </a:defRPr>
            </a:pPr>
            <a:r>
              <a:t>Sandbox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291840"/>
            <a:ext cx="3337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  <a:defRPr sz="1100" b="0" i="0">
                <a:solidFill>
                  <a:srgbClr val="403F3E"/>
                </a:solidFill>
                <a:latin typeface="Fidelity Sans"/>
              </a:defRPr>
            </a:pPr>
            <a:r>
              <a:t>Minimal story, high agency. E.g. Minecraft, GTA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"/>
            <a:ext cx="7863840" cy="5943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2400" b="1" i="0">
                <a:solidFill>
                  <a:srgbClr val="403F3E"/>
                </a:solidFill>
                <a:latin typeface="Fidelity Slab"/>
              </a:defRPr>
            </a:pPr>
            <a:r>
              <a:t>Schell's Storytelling Toolkit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2286000" cy="36576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42290"/>
            <a:ext cx="7863840" cy="749808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942290"/>
            <a:ext cx="91440" cy="749808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942290"/>
            <a:ext cx="16459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 i="0">
                <a:solidFill>
                  <a:srgbClr val="368727"/>
                </a:solidFill>
                <a:latin typeface="Fidelity Sans"/>
              </a:defRPr>
            </a:pPr>
            <a:r>
              <a:t>Lens 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942290"/>
            <a:ext cx="57607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403F3E"/>
                </a:solidFill>
                <a:latin typeface="Fidelity Sans"/>
              </a:defRPr>
            </a:pPr>
            <a:r>
              <a:t>Essential Experience — What experience do I want the player to have?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46962"/>
            <a:ext cx="7863840" cy="749808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746962"/>
            <a:ext cx="91440" cy="749808"/>
          </a:xfrm>
          <a:prstGeom prst="rect">
            <a:avLst/>
          </a:prstGeom>
          <a:solidFill>
            <a:srgbClr val="388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746962"/>
            <a:ext cx="16459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 i="0">
                <a:solidFill>
                  <a:srgbClr val="3880F3"/>
                </a:solidFill>
                <a:latin typeface="Fidelity Sans"/>
              </a:defRPr>
            </a:pPr>
            <a:r>
              <a:t>Lens 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746962"/>
            <a:ext cx="57607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403F3E"/>
                </a:solidFill>
                <a:latin typeface="Fidelity Sans"/>
              </a:defRPr>
            </a:pPr>
            <a:r>
              <a:t>Surprise — What surprises does my story deliver?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551634"/>
            <a:ext cx="7863840" cy="749808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551634"/>
            <a:ext cx="91440" cy="749808"/>
          </a:xfrm>
          <a:prstGeom prst="rect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551634"/>
            <a:ext cx="16459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 i="0">
                <a:solidFill>
                  <a:srgbClr val="5B2C8F"/>
                </a:solidFill>
                <a:latin typeface="Fidelity Sans"/>
              </a:defRPr>
            </a:pPr>
            <a:r>
              <a:t>Lens #9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551634"/>
            <a:ext cx="57607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403F3E"/>
                </a:solidFill>
                <a:latin typeface="Fidelity Sans"/>
              </a:defRPr>
            </a:pPr>
            <a:r>
              <a:t>Unification — Does every element serve the theme?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356306"/>
            <a:ext cx="7863840" cy="749808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356306"/>
            <a:ext cx="91440" cy="749808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356306"/>
            <a:ext cx="16459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 i="0">
                <a:solidFill>
                  <a:srgbClr val="04547C"/>
                </a:solidFill>
                <a:latin typeface="Fidelity Sans"/>
              </a:defRPr>
            </a:pPr>
            <a:r>
              <a:t>Lens #72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356306"/>
            <a:ext cx="57607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403F3E"/>
                </a:solidFill>
                <a:latin typeface="Fidelity Sans"/>
              </a:defRPr>
            </a:pPr>
            <a:r>
              <a:t>Interest Curves — Does my pacing have peaks and valleys?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160978"/>
            <a:ext cx="7863840" cy="749808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60978"/>
            <a:ext cx="91440" cy="74980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160978"/>
            <a:ext cx="16459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 i="0">
                <a:solidFill>
                  <a:srgbClr val="D4A843"/>
                </a:solidFill>
                <a:latin typeface="Fidelity Sans"/>
              </a:defRPr>
            </a:pPr>
            <a:r>
              <a:t>Lens #78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160978"/>
            <a:ext cx="57607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403F3E"/>
                </a:solidFill>
                <a:latin typeface="Fidelity Sans"/>
              </a:defRPr>
            </a:pPr>
            <a:r>
              <a:t>Story — Does my game have a story worth telling?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"/>
            <a:ext cx="7863840" cy="5943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2400" b="1" i="0">
                <a:solidFill>
                  <a:srgbClr val="403F3E"/>
                </a:solidFill>
                <a:latin typeface="Fidelity Slab"/>
              </a:defRPr>
            </a:pPr>
            <a:r>
              <a:t>Storytelling Hypotheses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2286000" cy="36576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96415"/>
            <a:ext cx="7863840" cy="658368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96415"/>
            <a:ext cx="91440" cy="658368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1661007"/>
            <a:ext cx="329184" cy="329184"/>
          </a:xfrm>
          <a:prstGeom prst="ellipse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661007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Fidelity Slab"/>
              </a:defRPr>
            </a:pPr>
            <a:r>
              <a:t>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496415"/>
            <a:ext cx="5440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403F3E"/>
                </a:solidFill>
                <a:latin typeface="Fidelity Sans"/>
              </a:defRPr>
            </a:pPr>
            <a:r>
              <a:t>Player agency enhances emotional investment in story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496415"/>
            <a:ext cx="1097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368727"/>
                </a:solidFill>
                <a:latin typeface="Fidelity Sans"/>
              </a:defRPr>
            </a:pPr>
            <a:r>
              <a:t>Confirmed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227935"/>
            <a:ext cx="7863840" cy="658368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227935"/>
            <a:ext cx="91440" cy="658368"/>
          </a:xfrm>
          <a:prstGeom prst="rect">
            <a:avLst/>
          </a:prstGeom>
          <a:solidFill>
            <a:srgbClr val="388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7552" y="2392527"/>
            <a:ext cx="329184" cy="329184"/>
          </a:xfrm>
          <a:prstGeom prst="ellipse">
            <a:avLst/>
          </a:prstGeom>
          <a:solidFill>
            <a:srgbClr val="388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392527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Fidelity Slab"/>
              </a:defRPr>
            </a:pPr>
            <a:r>
              <a:t>H2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227935"/>
            <a:ext cx="5440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403F3E"/>
                </a:solidFill>
                <a:latin typeface="Fidelity Sans"/>
              </a:defRPr>
            </a:pPr>
            <a:r>
              <a:t>Branching narratives are always better than linear 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227935"/>
            <a:ext cx="1097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4547C"/>
                </a:solidFill>
                <a:latin typeface="Fidelity Sans"/>
              </a:defRPr>
            </a:pPr>
            <a:r>
              <a:t>Rejected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959455"/>
            <a:ext cx="7863840" cy="658368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2959455"/>
            <a:ext cx="91440" cy="658368"/>
          </a:xfrm>
          <a:prstGeom prst="rect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7552" y="3124047"/>
            <a:ext cx="329184" cy="329184"/>
          </a:xfrm>
          <a:prstGeom prst="ellipse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124047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Fidelity Slab"/>
              </a:defRPr>
            </a:pPr>
            <a:r>
              <a:t>H3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2959455"/>
            <a:ext cx="5440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403F3E"/>
                </a:solidFill>
                <a:latin typeface="Fidelity Sans"/>
              </a:defRPr>
            </a:pPr>
            <a:r>
              <a:t>Failure states make narrative stakes feel more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959455"/>
            <a:ext cx="10972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368727"/>
                </a:solidFill>
                <a:latin typeface="Fidelity Sans"/>
              </a:defRPr>
            </a:pPr>
            <a:r>
              <a:t>Confirmed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54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828800" cy="7315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4800" b="1" i="0">
                <a:solidFill>
                  <a:srgbClr val="1DE4CA"/>
                </a:solidFill>
                <a:latin typeface="Fidelity Slab"/>
              </a:defRPr>
            </a:pPr>
            <a:r>
              <a:t>004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315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Fidelity Slab"/>
              </a:defRPr>
            </a:pPr>
            <a:r>
              <a:t>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1DE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"/>
            <a:ext cx="7863840" cy="5943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2400" b="1" i="0">
                <a:solidFill>
                  <a:srgbClr val="403F3E"/>
                </a:solidFill>
                <a:latin typeface="Fidelity Slab"/>
              </a:defRPr>
            </a:pPr>
            <a:r>
              <a:t>The Lens of Emotion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2286000" cy="36576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60120"/>
            <a:ext cx="2514600" cy="347472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960120"/>
            <a:ext cx="54864" cy="347472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368727"/>
                </a:solidFill>
                <a:latin typeface="Fidelity Slab"/>
              </a:defRPr>
            </a:pPr>
            <a:r>
              <a:t>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63040"/>
            <a:ext cx="2148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defRPr sz="1200" b="1" i="0">
                <a:solidFill>
                  <a:srgbClr val="403F3E"/>
                </a:solidFill>
                <a:latin typeface="Fidelity Sans"/>
              </a:defRPr>
            </a:pPr>
            <a:r>
              <a:t>Games create unique emotions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21488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defRPr sz="1100" b="0" i="0">
                <a:solidFill>
                  <a:srgbClr val="555555"/>
                </a:solidFill>
                <a:latin typeface="Fidelity Sans"/>
              </a:defRPr>
            </a:pPr>
            <a:r>
              <a:t>Triumph after defeating a hard boss, guilt from an NPC death, wonder at exploring a new world — these feelings are uniquely interactive.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960120"/>
            <a:ext cx="2514600" cy="347472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960120"/>
            <a:ext cx="54864" cy="3474720"/>
          </a:xfrm>
          <a:prstGeom prst="rect">
            <a:avLst/>
          </a:prstGeom>
          <a:solidFill>
            <a:srgbClr val="388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09728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3880F3"/>
                </a:solidFill>
                <a:latin typeface="Fidelity Slab"/>
              </a:defRPr>
            </a:pPr>
            <a:r>
              <a:t>So What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463040"/>
            <a:ext cx="2148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defRPr sz="1200" b="1" i="0">
                <a:solidFill>
                  <a:srgbClr val="403F3E"/>
                </a:solidFill>
                <a:latin typeface="Fidelity Sans"/>
              </a:defRPr>
            </a:pPr>
            <a:r>
              <a:t>Emotion drives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514600"/>
            <a:ext cx="21488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defRPr sz="1100" b="0" i="0">
                <a:solidFill>
                  <a:srgbClr val="555555"/>
                </a:solidFill>
                <a:latin typeface="Fidelity Sans"/>
              </a:defRPr>
            </a:pPr>
            <a:r>
              <a:t>Players remember how a game made them FEEL, not the polygon count. Storytellers in any medium should prioritize emotional truth.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960120"/>
            <a:ext cx="2514600" cy="347472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960120"/>
            <a:ext cx="54864" cy="3474720"/>
          </a:xfrm>
          <a:prstGeom prst="rect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09728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5B2C8F"/>
                </a:solidFill>
                <a:latin typeface="Fidelity Slab"/>
              </a:defRPr>
            </a:pPr>
            <a:r>
              <a:t>Now What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463040"/>
            <a:ext cx="2148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defRPr sz="1200" b="1" i="0">
                <a:solidFill>
                  <a:srgbClr val="403F3E"/>
                </a:solidFill>
                <a:latin typeface="Fidelity Sans"/>
              </a:defRPr>
            </a:pPr>
            <a:r>
              <a:t>Design for feelings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14600"/>
            <a:ext cx="21488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defRPr sz="1100" b="0" i="0">
                <a:solidFill>
                  <a:srgbClr val="555555"/>
                </a:solidFill>
                <a:latin typeface="Fidelity Sans"/>
              </a:defRPr>
            </a:pPr>
            <a:r>
              <a:t>Start with the emotion you want your audience to feel, then build mechanics and narrative to deliver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"/>
            <a:ext cx="7863840" cy="5943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2400" b="1" i="0">
                <a:solidFill>
                  <a:srgbClr val="403F3E"/>
                </a:solidFill>
                <a:latin typeface="Fidelity Slab"/>
              </a:defRPr>
            </a:pPr>
            <a:r>
              <a:t>The Lens of Curiosity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2286000" cy="36576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94560" y="1005840"/>
            <a:ext cx="384048" cy="384048"/>
          </a:xfrm>
          <a:prstGeom prst="ellipse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00584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Fidelity Slab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37944" y="142646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368727"/>
                </a:solidFill>
                <a:latin typeface="Fidelity Sans"/>
              </a:defRPr>
            </a:pPr>
            <a:r>
              <a:t>What We Found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197864"/>
            <a:ext cx="1755648" cy="2286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80560" y="1005840"/>
            <a:ext cx="384048" cy="384048"/>
          </a:xfrm>
          <a:prstGeom prst="ellipse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00584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555555"/>
                </a:solidFill>
                <a:latin typeface="Fidelity Slab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3944" y="142646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555555"/>
                </a:solidFill>
                <a:latin typeface="Fidelity Sans"/>
              </a:defRPr>
            </a:pPr>
            <a:r>
              <a:t>So What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197864"/>
            <a:ext cx="1755648" cy="2286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66560" y="1005840"/>
            <a:ext cx="384048" cy="384048"/>
          </a:xfrm>
          <a:prstGeom prst="ellipse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00584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555555"/>
                </a:solidFill>
                <a:latin typeface="Fidelity Slab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142646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555555"/>
                </a:solidFill>
                <a:latin typeface="Fidelity Sans"/>
              </a:defRPr>
            </a:pPr>
            <a:r>
              <a:t>Now What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1828800"/>
            <a:ext cx="5029200" cy="338328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1828800"/>
            <a:ext cx="91440" cy="338328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011680"/>
            <a:ext cx="4572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403F3E"/>
                </a:solidFill>
                <a:latin typeface="Fidelity Sans"/>
              </a:defRPr>
            </a:pPr>
            <a:r>
              <a:t>Curiosity is a renewable resource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880360"/>
            <a:ext cx="4572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defRPr sz="1200" b="0" i="0">
                <a:solidFill>
                  <a:srgbClr val="555555"/>
                </a:solidFill>
                <a:latin typeface="Fidelity Sans"/>
              </a:defRPr>
            </a:pPr>
            <a:r>
              <a:t>Games like Breath of the Wild place something interesting on every horizon. Each answer spawns two new questions.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"/>
            <a:ext cx="7863840" cy="5943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2400" b="1" i="0">
                <a:solidFill>
                  <a:srgbClr val="403F3E"/>
                </a:solidFill>
                <a:latin typeface="Fidelity Slab"/>
              </a:defRPr>
            </a:pPr>
            <a:r>
              <a:t>The Lens of Curiosity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2286000" cy="36576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94560" y="1005840"/>
            <a:ext cx="384048" cy="384048"/>
          </a:xfrm>
          <a:prstGeom prst="ellipse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00584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Fidelity Slab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37944" y="142646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368727"/>
                </a:solidFill>
                <a:latin typeface="Fidelity Sans"/>
              </a:defRPr>
            </a:pPr>
            <a:r>
              <a:t>What We Found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197864"/>
            <a:ext cx="1755648" cy="2286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80560" y="1005840"/>
            <a:ext cx="384048" cy="384048"/>
          </a:xfrm>
          <a:prstGeom prst="ellipse">
            <a:avLst/>
          </a:prstGeom>
          <a:solidFill>
            <a:srgbClr val="388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00584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Fidelity Slab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3944" y="142646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3880F3"/>
                </a:solidFill>
                <a:latin typeface="Fidelity Sans"/>
              </a:defRPr>
            </a:pPr>
            <a:r>
              <a:t>So What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197864"/>
            <a:ext cx="1755648" cy="2286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66560" y="1005840"/>
            <a:ext cx="384048" cy="384048"/>
          </a:xfrm>
          <a:prstGeom prst="ellipse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00584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555555"/>
                </a:solidFill>
                <a:latin typeface="Fidelity Slab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142646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555555"/>
                </a:solidFill>
                <a:latin typeface="Fidelity Sans"/>
              </a:defRPr>
            </a:pPr>
            <a:r>
              <a:t>Now What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1828800"/>
            <a:ext cx="3703320" cy="338328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1828800"/>
            <a:ext cx="91440" cy="338328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01168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700"/>
              </a:lnSpc>
              <a:defRPr sz="1300" b="1" i="0">
                <a:solidFill>
                  <a:srgbClr val="403F3E"/>
                </a:solidFill>
                <a:latin typeface="Fidelity Sans"/>
              </a:defRPr>
            </a:pPr>
            <a:r>
              <a:t>Curiosity is a renewable resource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880360"/>
            <a:ext cx="3246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defRPr sz="1100" b="0" i="0">
                <a:solidFill>
                  <a:srgbClr val="555555"/>
                </a:solidFill>
                <a:latin typeface="Fidelity Sans"/>
              </a:defRPr>
            </a:pPr>
            <a:r>
              <a:t>Games like Breath of the Wild place something interesting on every horizon. Each answer spawns two new questions.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1828800"/>
            <a:ext cx="3931920" cy="338328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0" y="1828800"/>
            <a:ext cx="91440" cy="3383280"/>
          </a:xfrm>
          <a:prstGeom prst="rect">
            <a:avLst/>
          </a:prstGeom>
          <a:solidFill>
            <a:srgbClr val="388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2011680"/>
            <a:ext cx="3474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403F3E"/>
                </a:solidFill>
                <a:latin typeface="Fidelity Sans"/>
              </a:defRPr>
            </a:pPr>
            <a:r>
              <a:t>Stories must earn attention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2880360"/>
            <a:ext cx="3474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defRPr sz="1200" b="0" i="0">
                <a:solidFill>
                  <a:srgbClr val="555555"/>
                </a:solidFill>
                <a:latin typeface="Fidelity Sans"/>
              </a:defRPr>
            </a:pPr>
            <a:r>
              <a:t>In an age of infinite content, curiosity is the only reliable hook. Schell calls this the engine of engagement.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"/>
            <a:ext cx="7863840" cy="5943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2400" b="1" i="0">
                <a:solidFill>
                  <a:srgbClr val="403F3E"/>
                </a:solidFill>
                <a:latin typeface="Fidelity Slab"/>
              </a:defRPr>
            </a:pPr>
            <a:r>
              <a:t>The Lens of Curiosity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2286000" cy="36576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94560" y="1005840"/>
            <a:ext cx="384048" cy="384048"/>
          </a:xfrm>
          <a:prstGeom prst="ellipse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00584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Fidelity Slab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37944" y="142646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368727"/>
                </a:solidFill>
                <a:latin typeface="Fidelity Sans"/>
              </a:defRPr>
            </a:pPr>
            <a:r>
              <a:t>What We Found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197864"/>
            <a:ext cx="1755648" cy="2286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80560" y="1005840"/>
            <a:ext cx="384048" cy="384048"/>
          </a:xfrm>
          <a:prstGeom prst="ellipse">
            <a:avLst/>
          </a:prstGeom>
          <a:solidFill>
            <a:srgbClr val="388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00584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Fidelity Slab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3944" y="142646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3880F3"/>
                </a:solidFill>
                <a:latin typeface="Fidelity Sans"/>
              </a:defRPr>
            </a:pPr>
            <a:r>
              <a:t>So What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197864"/>
            <a:ext cx="1755648" cy="2286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66560" y="1005840"/>
            <a:ext cx="384048" cy="384048"/>
          </a:xfrm>
          <a:prstGeom prst="ellipse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00584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Fidelity Slab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142646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5B2C8F"/>
                </a:solidFill>
                <a:latin typeface="Fidelity Sans"/>
              </a:defRPr>
            </a:pPr>
            <a:r>
              <a:t>Now What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1828800"/>
            <a:ext cx="3703320" cy="160020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1828800"/>
            <a:ext cx="73152" cy="160020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193852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403F3E"/>
                </a:solidFill>
                <a:latin typeface="Fidelity Sans"/>
              </a:defRPr>
            </a:pPr>
            <a:r>
              <a:t>Curiosity is a renewable resource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4231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555555"/>
                </a:solidFill>
                <a:latin typeface="Fidelity Sans"/>
              </a:defRPr>
            </a:pPr>
            <a:r>
              <a:t>Games like Breath of the Wild place something interesting on every horizon. Each answer spawns two new questions.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1828800"/>
            <a:ext cx="3931920" cy="160020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0" y="1828800"/>
            <a:ext cx="73152" cy="1600200"/>
          </a:xfrm>
          <a:prstGeom prst="rect">
            <a:avLst/>
          </a:prstGeom>
          <a:solidFill>
            <a:srgbClr val="388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1938528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403F3E"/>
                </a:solidFill>
                <a:latin typeface="Fidelity Sans"/>
              </a:defRPr>
            </a:pPr>
            <a:r>
              <a:t>Stories must earn attention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2423160"/>
            <a:ext cx="3474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555555"/>
                </a:solidFill>
                <a:latin typeface="Fidelity Sans"/>
              </a:defRPr>
            </a:pPr>
            <a:r>
              <a:t>In an age of infinite content, curiosity is the only reliable hook. Schell calls this the engine of engagement.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566160"/>
            <a:ext cx="7863840" cy="150876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3566160"/>
            <a:ext cx="91440" cy="1508760"/>
          </a:xfrm>
          <a:prstGeom prst="rect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3703320"/>
            <a:ext cx="7406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403F3E"/>
                </a:solidFill>
                <a:latin typeface="Fidelity Sans"/>
              </a:defRPr>
            </a:pPr>
            <a:r>
              <a:t>Plant questions, delay answers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297680"/>
            <a:ext cx="7406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555555"/>
                </a:solidFill>
                <a:latin typeface="Fidelity Sans"/>
              </a:defRPr>
            </a:pPr>
            <a:r>
              <a:t>Every scene should raise a question the audience needs answered. Mystery sustains momentum.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"/>
            <a:ext cx="7863840" cy="5943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2400" b="1" i="0">
                <a:solidFill>
                  <a:srgbClr val="403F3E"/>
                </a:solidFill>
                <a:latin typeface="Fidelity Slab"/>
              </a:defRPr>
            </a:pPr>
            <a:r>
              <a:t>What Games Teach Storytellers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2286000" cy="36576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67485"/>
            <a:ext cx="3566160" cy="77724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67485"/>
            <a:ext cx="91440" cy="77724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67485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403F3E"/>
                </a:solidFill>
                <a:latin typeface="Fidelity Sans"/>
              </a:defRPr>
            </a:pPr>
            <a:r>
              <a:t>Players skip cutscenes when story feels disconnected from gameplay</a:t>
            </a:r>
          </a:p>
        </p:txBody>
      </p:sp>
      <p:sp>
        <p:nvSpPr>
          <p:cNvPr id="8" name="Oval 7"/>
          <p:cNvSpPr/>
          <p:nvPr/>
        </p:nvSpPr>
        <p:spPr>
          <a:xfrm>
            <a:off x="4544568" y="1618945"/>
            <a:ext cx="274320" cy="274320"/>
          </a:xfrm>
          <a:prstGeom prst="ellipse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618945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 i="0">
                <a:solidFill>
                  <a:srgbClr val="FFFFFF"/>
                </a:solidFill>
                <a:latin typeface="Fidelity San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367485"/>
            <a:ext cx="3749039" cy="77724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37760" y="1367485"/>
            <a:ext cx="91440" cy="77724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367485"/>
            <a:ext cx="3429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403F3E"/>
                </a:solidFill>
                <a:latin typeface="Fidelity Sans"/>
              </a:defRPr>
            </a:pPr>
            <a:r>
              <a:t>Integrate narrative into mechanics — show, don't tell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254453"/>
            <a:ext cx="3566160" cy="77724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254453"/>
            <a:ext cx="91440" cy="777240"/>
          </a:xfrm>
          <a:prstGeom prst="rect">
            <a:avLst/>
          </a:prstGeom>
          <a:solidFill>
            <a:srgbClr val="388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254453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403F3E"/>
                </a:solidFill>
                <a:latin typeface="Fidelity Sans"/>
              </a:defRPr>
            </a:pPr>
            <a:r>
              <a:t>Open worlds with no direction cause player fatigue</a:t>
            </a:r>
          </a:p>
        </p:txBody>
      </p:sp>
      <p:sp>
        <p:nvSpPr>
          <p:cNvPr id="16" name="Oval 15"/>
          <p:cNvSpPr/>
          <p:nvPr/>
        </p:nvSpPr>
        <p:spPr>
          <a:xfrm>
            <a:off x="4544568" y="2505913"/>
            <a:ext cx="274320" cy="274320"/>
          </a:xfrm>
          <a:prstGeom prst="ellipse">
            <a:avLst/>
          </a:prstGeom>
          <a:solidFill>
            <a:srgbClr val="388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2505913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 i="0">
                <a:solidFill>
                  <a:srgbClr val="FFFFFF"/>
                </a:solidFill>
                <a:latin typeface="Fidelity San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2254453"/>
            <a:ext cx="3749039" cy="77724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60" y="2254453"/>
            <a:ext cx="91440" cy="777240"/>
          </a:xfrm>
          <a:prstGeom prst="rect">
            <a:avLst/>
          </a:prstGeom>
          <a:solidFill>
            <a:srgbClr val="388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254453"/>
            <a:ext cx="3429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403F3E"/>
                </a:solidFill>
                <a:latin typeface="Fidelity Sans"/>
              </a:defRPr>
            </a:pPr>
            <a:r>
              <a:t>Use breadcrumbs and interest curves to guide without constraining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141421"/>
            <a:ext cx="3566160" cy="77724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3141421"/>
            <a:ext cx="91440" cy="777240"/>
          </a:xfrm>
          <a:prstGeom prst="rect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141421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403F3E"/>
                </a:solidFill>
                <a:latin typeface="Fidelity Sans"/>
              </a:defRPr>
            </a:pPr>
            <a:r>
              <a:t>Moral choices without consequences feel hollow</a:t>
            </a:r>
          </a:p>
        </p:txBody>
      </p:sp>
      <p:sp>
        <p:nvSpPr>
          <p:cNvPr id="24" name="Oval 23"/>
          <p:cNvSpPr/>
          <p:nvPr/>
        </p:nvSpPr>
        <p:spPr>
          <a:xfrm>
            <a:off x="4544568" y="3392881"/>
            <a:ext cx="274320" cy="274320"/>
          </a:xfrm>
          <a:prstGeom prst="ellipse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44568" y="339288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 i="0">
                <a:solidFill>
                  <a:srgbClr val="FFFFFF"/>
                </a:solidFill>
                <a:latin typeface="Fidelity San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3141421"/>
            <a:ext cx="3749039" cy="77724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7760" y="3141421"/>
            <a:ext cx="91440" cy="777240"/>
          </a:xfrm>
          <a:prstGeom prst="rect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3141421"/>
            <a:ext cx="3429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403F3E"/>
                </a:solidFill>
                <a:latin typeface="Fidelity Sans"/>
              </a:defRPr>
            </a:pPr>
            <a:r>
              <a:t>Every decision should ripple — audiences need to see impact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"/>
            <a:ext cx="7863840" cy="5943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2200" b="1" i="0">
                <a:solidFill>
                  <a:srgbClr val="403F3E"/>
                </a:solidFill>
                <a:latin typeface="Fidelity Slab"/>
              </a:defRPr>
            </a:pPr>
            <a:r>
              <a:t>Lens-by-Lens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2286000" cy="36576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287932"/>
            <a:ext cx="3749039" cy="438912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287932"/>
            <a:ext cx="36576" cy="438912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287932"/>
            <a:ext cx="3520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403F3E"/>
                </a:solidFill>
                <a:latin typeface="Fidelity Sans"/>
              </a:defRPr>
            </a:pPr>
            <a:r>
              <a:t>Essential Experience lens: many stories lack a clear core feeling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287932"/>
            <a:ext cx="3977639" cy="438912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287932"/>
            <a:ext cx="36576" cy="438912"/>
          </a:xfrm>
          <a:prstGeom prst="rect">
            <a:avLst/>
          </a:prstGeom>
          <a:solidFill>
            <a:srgbClr val="388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287932"/>
            <a:ext cx="374903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403F3E"/>
                </a:solidFill>
                <a:latin typeface="Fidelity Sans"/>
              </a:defRPr>
            </a:pPr>
            <a:r>
              <a:t>Define your one-sentence emotional promise before writing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781708"/>
            <a:ext cx="3749039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781708"/>
            <a:ext cx="36576" cy="438912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781708"/>
            <a:ext cx="3520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403F3E"/>
                </a:solidFill>
                <a:latin typeface="Fidelity Sans"/>
              </a:defRPr>
            </a:pPr>
            <a:r>
              <a:t>Surprise lens: predictable plots lose audiences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1781708"/>
            <a:ext cx="3977639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09160" y="1781708"/>
            <a:ext cx="36576" cy="438912"/>
          </a:xfrm>
          <a:prstGeom prst="rect">
            <a:avLst/>
          </a:prstGeom>
          <a:solidFill>
            <a:srgbClr val="388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781708"/>
            <a:ext cx="374903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403F3E"/>
                </a:solidFill>
                <a:latin typeface="Fidelity Sans"/>
              </a:defRPr>
            </a:pPr>
            <a:r>
              <a:t>Subvert one expectation per 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275484"/>
            <a:ext cx="3749039" cy="438912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2275484"/>
            <a:ext cx="36576" cy="438912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275484"/>
            <a:ext cx="3520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403F3E"/>
                </a:solidFill>
                <a:latin typeface="Fidelity Sans"/>
              </a:defRPr>
            </a:pPr>
            <a:r>
              <a:t>Story lens: not every game needs a story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275484"/>
            <a:ext cx="3977639" cy="438912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9160" y="2275484"/>
            <a:ext cx="36576" cy="438912"/>
          </a:xfrm>
          <a:prstGeom prst="rect">
            <a:avLst/>
          </a:prstGeom>
          <a:solidFill>
            <a:srgbClr val="388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2275484"/>
            <a:ext cx="374903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403F3E"/>
                </a:solidFill>
                <a:latin typeface="Fidelity Sans"/>
              </a:defRPr>
            </a:pPr>
            <a:r>
              <a:t>Only add narrative if it serves the experience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2769260"/>
            <a:ext cx="3749039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2769260"/>
            <a:ext cx="36576" cy="438912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2769260"/>
            <a:ext cx="3520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403F3E"/>
                </a:solidFill>
                <a:latin typeface="Fidelity Sans"/>
              </a:defRPr>
            </a:pPr>
            <a:r>
              <a:t>Interest Curve lens: pacing problems kill engagement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2769260"/>
            <a:ext cx="3977639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9160" y="2769260"/>
            <a:ext cx="36576" cy="438912"/>
          </a:xfrm>
          <a:prstGeom prst="rect">
            <a:avLst/>
          </a:prstGeom>
          <a:solidFill>
            <a:srgbClr val="388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2769260"/>
            <a:ext cx="374903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403F3E"/>
                </a:solidFill>
                <a:latin typeface="Fidelity Sans"/>
              </a:defRPr>
            </a:pPr>
            <a:r>
              <a:t>Map your beats to a tension graph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263036"/>
            <a:ext cx="3749039" cy="438912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3263036"/>
            <a:ext cx="36576" cy="438912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3263036"/>
            <a:ext cx="3520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403F3E"/>
                </a:solidFill>
                <a:latin typeface="Fidelity Sans"/>
              </a:defRPr>
            </a:pPr>
            <a:r>
              <a:t>Emotion lens: technical polish can't replace feeling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3263036"/>
            <a:ext cx="3977639" cy="438912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09160" y="3263036"/>
            <a:ext cx="36576" cy="438912"/>
          </a:xfrm>
          <a:prstGeom prst="rect">
            <a:avLst/>
          </a:prstGeom>
          <a:solidFill>
            <a:srgbClr val="388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3263036"/>
            <a:ext cx="374903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403F3E"/>
                </a:solidFill>
                <a:latin typeface="Fidelity Sans"/>
              </a:defRPr>
            </a:pPr>
            <a:r>
              <a:t>Playtest for emotion, not just bugs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3756812"/>
            <a:ext cx="3749039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" y="3756812"/>
            <a:ext cx="36576" cy="438912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3756812"/>
            <a:ext cx="3520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403F3E"/>
                </a:solidFill>
                <a:latin typeface="Fidelity Sans"/>
              </a:defRPr>
            </a:pPr>
            <a:r>
              <a:t>Curiosity lens: front-loading exposition kills wonder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09160" y="3756812"/>
            <a:ext cx="3977639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09160" y="3756812"/>
            <a:ext cx="36576" cy="438912"/>
          </a:xfrm>
          <a:prstGeom prst="rect">
            <a:avLst/>
          </a:prstGeom>
          <a:solidFill>
            <a:srgbClr val="388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3756812"/>
            <a:ext cx="374903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403F3E"/>
                </a:solidFill>
                <a:latin typeface="Fidelity Sans"/>
              </a:defRPr>
            </a:pPr>
            <a:r>
              <a:t>Withhold information strategically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A8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828800" cy="7315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4800" b="1" i="0">
                <a:solidFill>
                  <a:srgbClr val="1DE4CA"/>
                </a:solidFill>
                <a:latin typeface="Fidelity Slab"/>
              </a:defRPr>
            </a:pPr>
            <a:r>
              <a:t>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315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Fidelity Slab"/>
              </a:defRPr>
            </a:pPr>
            <a:r>
              <a:t>Wrap-Up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1DE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"/>
            <a:ext cx="7863840" cy="5943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2600" b="1" i="0">
                <a:solidFill>
                  <a:srgbClr val="403F3E"/>
                </a:solidFill>
                <a:latin typeface="Fidelity Slab"/>
              </a:defRPr>
            </a:pPr>
            <a:r>
              <a:t>Open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2286000" cy="36576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60120"/>
            <a:ext cx="3749039" cy="155448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960120"/>
            <a:ext cx="54864" cy="155448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069848"/>
            <a:ext cx="320040" cy="320040"/>
          </a:xfrm>
          <a:prstGeom prst="ellipse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06984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Fidelity Slab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63040"/>
            <a:ext cx="33832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700"/>
              </a:lnSpc>
              <a:defRPr sz="1300" b="0" i="0">
                <a:solidFill>
                  <a:srgbClr val="403F3E"/>
                </a:solidFill>
                <a:latin typeface="Fidelity Sans"/>
              </a:defRPr>
            </a:pPr>
            <a:r>
              <a:t>Can AI-generated narratives ever match hand-crafted storytelling?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59" y="960120"/>
            <a:ext cx="3749039" cy="155448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37759" y="960120"/>
            <a:ext cx="54864" cy="1554480"/>
          </a:xfrm>
          <a:prstGeom prst="rect">
            <a:avLst/>
          </a:prstGeom>
          <a:solidFill>
            <a:srgbClr val="388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74919" y="1069848"/>
            <a:ext cx="320040" cy="320040"/>
          </a:xfrm>
          <a:prstGeom prst="ellipse">
            <a:avLst/>
          </a:prstGeom>
          <a:solidFill>
            <a:srgbClr val="388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19" y="106984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Fidelity Slab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39" y="1463040"/>
            <a:ext cx="33832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700"/>
              </a:lnSpc>
              <a:defRPr sz="1300" b="0" i="0">
                <a:solidFill>
                  <a:srgbClr val="403F3E"/>
                </a:solidFill>
                <a:latin typeface="Fidelity Sans"/>
              </a:defRPr>
            </a:pPr>
            <a:r>
              <a:t>Will VR create entirely new storytelling lenses?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697480"/>
            <a:ext cx="3749039" cy="155448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2697480"/>
            <a:ext cx="54864" cy="1554480"/>
          </a:xfrm>
          <a:prstGeom prst="rect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2807208"/>
            <a:ext cx="320040" cy="320040"/>
          </a:xfrm>
          <a:prstGeom prst="ellipse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80720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Fidelity Slab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200400"/>
            <a:ext cx="33832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700"/>
              </a:lnSpc>
              <a:defRPr sz="1300" b="0" i="0">
                <a:solidFill>
                  <a:srgbClr val="403F3E"/>
                </a:solidFill>
                <a:latin typeface="Fidelity Sans"/>
              </a:defRPr>
            </a:pPr>
            <a:r>
              <a:t>How do we measure 'emotional impact' of interactive stories?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59" y="2697480"/>
            <a:ext cx="3749039" cy="155448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59" y="2697480"/>
            <a:ext cx="54864" cy="1554480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74919" y="2807208"/>
            <a:ext cx="320040" cy="320040"/>
          </a:xfrm>
          <a:prstGeom prst="ellipse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19" y="280720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Fidelity Slab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39" y="3200400"/>
            <a:ext cx="33832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700"/>
              </a:lnSpc>
              <a:defRPr sz="1300" b="0" i="0">
                <a:solidFill>
                  <a:srgbClr val="403F3E"/>
                </a:solidFill>
                <a:latin typeface="Fidelity Sans"/>
              </a:defRPr>
            </a:pPr>
            <a:r>
              <a:t>What lens is missing from Schell's framework?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"/>
            <a:ext cx="7863840" cy="5943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2800" b="1" i="0">
                <a:solidFill>
                  <a:srgbClr val="403F3E"/>
                </a:solidFill>
                <a:latin typeface="Fidelity Slab"/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2286000" cy="36576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60120"/>
            <a:ext cx="7863840" cy="219456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960120"/>
            <a:ext cx="54864" cy="219456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051560"/>
            <a:ext cx="7498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403F3E"/>
                </a:solidFill>
                <a:latin typeface="Fidelity Sans"/>
              </a:defRPr>
            </a:pPr>
            <a:r>
              <a:t>Stories are experiences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7498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defRPr sz="1200" b="0" i="0">
                <a:solidFill>
                  <a:srgbClr val="555555"/>
                </a:solidFill>
                <a:latin typeface="Fidelity Sans"/>
              </a:defRPr>
            </a:pPr>
            <a:r>
              <a:t>Schell's most fundamental insight: design the experience first, then find the story that delivers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3337560"/>
            <a:ext cx="9144000" cy="36576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68727"/>
                </a:solidFill>
                <a:latin typeface="Fidelity Slab"/>
              </a:defRPr>
            </a:pPr>
            <a:r>
              <a:t>Running Takeaways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749040"/>
            <a:ext cx="109728" cy="109728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703320"/>
            <a:ext cx="7635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403F3E"/>
                </a:solidFill>
                <a:latin typeface="Fidelity Sans"/>
              </a:defRPr>
            </a:pPr>
            <a:r>
              <a:t>Design the experience first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"/>
            <a:ext cx="7863840" cy="5943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2800" b="1" i="0">
                <a:solidFill>
                  <a:srgbClr val="403F3E"/>
                </a:solidFill>
                <a:latin typeface="Fidelity Slab"/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2286000" cy="36576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60120"/>
            <a:ext cx="7863840" cy="219456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960120"/>
            <a:ext cx="54864" cy="219456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051560"/>
            <a:ext cx="7498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403F3E"/>
                </a:solidFill>
                <a:latin typeface="Fidelity Sans"/>
              </a:defRPr>
            </a:pPr>
            <a:r>
              <a:t>Agency amplifies emotion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7498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defRPr sz="1200" b="0" i="0">
                <a:solidFill>
                  <a:srgbClr val="555555"/>
                </a:solidFill>
                <a:latin typeface="Fidelity Sans"/>
              </a:defRPr>
            </a:pPr>
            <a:r>
              <a:t>When the audience participates in the story, every beat hits harder. Give people choices that matter.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3337560"/>
            <a:ext cx="9144000" cy="36576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68727"/>
                </a:solidFill>
                <a:latin typeface="Fidelity Slab"/>
              </a:defRPr>
            </a:pPr>
            <a:r>
              <a:t>Running Takeaways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749040"/>
            <a:ext cx="109728" cy="109728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703320"/>
            <a:ext cx="7635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555555"/>
                </a:solidFill>
                <a:latin typeface="Fidelity Sans"/>
              </a:defRPr>
            </a:pPr>
            <a:r>
              <a:t>Design the experience first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69080"/>
            <a:ext cx="109728" cy="109728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23360"/>
            <a:ext cx="7635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403F3E"/>
                </a:solidFill>
                <a:latin typeface="Fidelity Sans"/>
              </a:defRPr>
            </a:pPr>
            <a:r>
              <a:t>Give choices that matter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"/>
            <a:ext cx="7863840" cy="5943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2800" b="1" i="0">
                <a:solidFill>
                  <a:srgbClr val="403F3E"/>
                </a:solidFill>
                <a:latin typeface="Fidelity Slab"/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2286000" cy="36576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60120"/>
            <a:ext cx="7863840" cy="2194560"/>
          </a:xfrm>
          <a:prstGeom prst="roundRect">
            <a:avLst>
              <a:gd name="adj" fmla="val 5000"/>
            </a:avLst>
          </a:prstGeom>
          <a:solidFill>
            <a:srgbClr val="F9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960120"/>
            <a:ext cx="54864" cy="2194560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051560"/>
            <a:ext cx="7498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403F3E"/>
                </a:solidFill>
                <a:latin typeface="Fidelity Sans"/>
              </a:defRPr>
            </a:pPr>
            <a:r>
              <a:t>Curiosity is the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7498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defRPr sz="1200" b="0" i="0">
                <a:solidFill>
                  <a:srgbClr val="555555"/>
                </a:solidFill>
                <a:latin typeface="Fidelity Sans"/>
              </a:defRPr>
            </a:pPr>
            <a:r>
              <a:t>The best stories — in games or anywhere — are driven by questions the audience needs answered.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3337560"/>
            <a:ext cx="9144000" cy="36576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68727"/>
                </a:solidFill>
                <a:latin typeface="Fidelity Slab"/>
              </a:defRPr>
            </a:pPr>
            <a:r>
              <a:t>Running Takeaways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749040"/>
            <a:ext cx="109728" cy="109728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703320"/>
            <a:ext cx="7635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555555"/>
                </a:solidFill>
                <a:latin typeface="Fidelity Sans"/>
              </a:defRPr>
            </a:pPr>
            <a:r>
              <a:t>Design the experience first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69080"/>
            <a:ext cx="109728" cy="109728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23360"/>
            <a:ext cx="7635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555555"/>
                </a:solidFill>
                <a:latin typeface="Fidelity Sans"/>
              </a:defRPr>
            </a:pPr>
            <a:r>
              <a:t>Give choices that matter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389120"/>
            <a:ext cx="109728" cy="109728"/>
          </a:xfrm>
          <a:prstGeom prst="rect">
            <a:avLst/>
          </a:prstGeom>
          <a:solidFill>
            <a:srgbClr val="36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343400"/>
            <a:ext cx="7635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403F3E"/>
                </a:solidFill>
                <a:latin typeface="Fidelity Sans"/>
              </a:defRPr>
            </a:pPr>
            <a:r>
              <a:t>Lead with questions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A8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Fidelity Slab"/>
              </a:defRPr>
            </a:pPr>
            <a:r>
              <a:t>Now Go Tell Better Stories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429000" y="2514600"/>
            <a:ext cx="2286000" cy="36576"/>
          </a:xfrm>
          <a:prstGeom prst="rect">
            <a:avLst/>
          </a:prstGeom>
          <a:solidFill>
            <a:srgbClr val="1DE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 i="0">
                <a:solidFill>
                  <a:srgbClr val="FFFFFF"/>
                </a:solidFill>
                <a:latin typeface="Fidelity Sans"/>
              </a:defRPr>
            </a:pPr>
            <a:r>
              <a:t>Apply the lenses. Play more games. Never stop iterating.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F7F4E4"/>
                </a:solidFill>
                <a:latin typeface="Fidelity Sans"/>
              </a:defRPr>
            </a:pPr>
            <a:r>
              <a:t>@agamedesigner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