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Chet &amp; Charlotte</c:v>
                </c:pt>
              </c:strCache>
            </c:strRef>
          </c:tx>
          <c:spPr>
            <a:solidFill>
              <a:srgbClr val="2563EB"/>
            </a:solidFill>
            <a:ln w="31750" cap="flat">
              <a:solidFill>
                <a:srgbClr val="2563E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563EB"/>
              </a:solidFill>
              <a:ln w="9525" cap="flat">
                <a:solidFill>
                  <a:srgbClr val="2563EB"/>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7</c:v>
                </c:pt>
                <c:pt idx="1">
                  <c:v>6</c:v>
                </c:pt>
                <c:pt idx="2">
                  <c:v>5</c:v>
                </c:pt>
                <c:pt idx="3">
                  <c:v>4</c:v>
                </c:pt>
                <c:pt idx="4">
                  <c:v>3</c:v>
                </c:pt>
                <c:pt idx="5">
                  <c:v>2</c:v>
                </c:pt>
                <c:pt idx="6">
                  <c:v>3</c:v>
                </c:pt>
                <c:pt idx="7">
                  <c:v>5</c:v>
                </c:pt>
                <c:pt idx="8">
                  <c:v>5</c:v>
                </c:pt>
                <c:pt idx="9">
                  <c:v>4</c:v>
                </c:pt>
                <c:pt idx="10">
                  <c:v>3</c:v>
                </c:pt>
                <c:pt idx="11">
                  <c:v>8</c:v>
                </c:pt>
              </c:numCache>
            </c:numRef>
          </c:val>
          <c:smooth val="0"/>
        </c:ser>
        <c:ser>
          <c:idx val="1"/>
          <c:order val="1"/>
          <c:tx>
            <c:strRef>
              <c:f>Sheet1!$C$1</c:f>
              <c:strCache>
                <c:ptCount val="1"/>
                <c:pt idx="0">
                  <c:v>Richard</c:v>
                </c:pt>
              </c:strCache>
            </c:strRef>
          </c:tx>
          <c:spPr>
            <a:solidFill>
              <a:srgbClr val="DC2626"/>
            </a:solidFill>
            <a:ln w="31750" cap="flat">
              <a:solidFill>
                <a:srgbClr val="DC26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C2626"/>
              </a:solidFill>
              <a:ln w="9525" cap="flat">
                <a:solidFill>
                  <a:srgbClr val="DC2626"/>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Sheet1!$C$2:$C$13</c:f>
              <c:numCache>
                <c:formatCode>General</c:formatCode>
                <c:ptCount val="12"/>
                <c:pt idx="0">
                  <c:v>6</c:v>
                </c:pt>
                <c:pt idx="1">
                  <c:v>5</c:v>
                </c:pt>
                <c:pt idx="2">
                  <c:v>6</c:v>
                </c:pt>
                <c:pt idx="3">
                  <c:v>6</c:v>
                </c:pt>
                <c:pt idx="4">
                  <c:v>5</c:v>
                </c:pt>
                <c:pt idx="5">
                  <c:v>4</c:v>
                </c:pt>
                <c:pt idx="6">
                  <c:v>3</c:v>
                </c:pt>
                <c:pt idx="7">
                  <c:v>5</c:v>
                </c:pt>
                <c:pt idx="8">
                  <c:v>4</c:v>
                </c:pt>
                <c:pt idx="9">
                  <c:v>3</c:v>
                </c:pt>
                <c:pt idx="10">
                  <c:v>4</c:v>
                </c:pt>
                <c:pt idx="11">
                  <c:v>3</c:v>
                </c:pt>
              </c:numCache>
            </c:numRef>
          </c:val>
          <c:smooth val="0"/>
        </c:ser>
        <c:ser>
          <c:idx val="2"/>
          <c:order val="2"/>
          <c:tx>
            <c:strRef>
              <c:f>Sheet1!$D$1</c:f>
              <c:strCache>
                <c:ptCount val="1"/>
                <c:pt idx="0">
                  <c:v>Priya</c:v>
                </c:pt>
              </c:strCache>
            </c:strRef>
          </c:tx>
          <c:spPr>
            <a:solidFill>
              <a:srgbClr val="059669"/>
            </a:solidFill>
            <a:ln w="31750" cap="flat">
              <a:solidFill>
                <a:srgbClr val="05966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59669"/>
              </a:solidFill>
              <a:ln w="9525" cap="flat">
                <a:solidFill>
                  <a:srgbClr val="059669"/>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Sheet1!$D$2:$D$13</c:f>
              <c:numCache>
                <c:formatCode>General</c:formatCode>
                <c:ptCount val="12"/>
                <c:pt idx="0">
                  <c:v>7</c:v>
                </c:pt>
                <c:pt idx="1">
                  <c:v>7</c:v>
                </c:pt>
                <c:pt idx="2">
                  <c:v>7</c:v>
                </c:pt>
                <c:pt idx="3">
                  <c:v>7</c:v>
                </c:pt>
                <c:pt idx="4">
                  <c:v>6</c:v>
                </c:pt>
                <c:pt idx="5">
                  <c:v>5</c:v>
                </c:pt>
                <c:pt idx="6">
                  <c:v>6</c:v>
                </c:pt>
                <c:pt idx="7">
                  <c:v>6</c:v>
                </c:pt>
                <c:pt idx="8">
                  <c:v>5</c:v>
                </c:pt>
                <c:pt idx="9">
                  <c:v>4</c:v>
                </c:pt>
                <c:pt idx="10">
                  <c:v>3</c:v>
                </c:pt>
                <c:pt idx="11">
                  <c:v>2</c:v>
                </c:pt>
              </c:numCache>
            </c:numRef>
          </c:val>
          <c:smooth val="0"/>
        </c:ser>
        <c:ser>
          <c:idx val="3"/>
          <c:order val="3"/>
          <c:tx>
            <c:strRef>
              <c:f>Sheet1!$E$1</c:f>
              <c:strCache>
                <c:ptCount val="1"/>
                <c:pt idx="0">
                  <c:v>Marcus</c:v>
                </c:pt>
              </c:strCache>
            </c:strRef>
          </c:tx>
          <c:spPr>
            <a:solidFill>
              <a:srgbClr val="D97706"/>
            </a:solidFill>
            <a:ln w="31750" cap="flat">
              <a:solidFill>
                <a:srgbClr val="D9770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7706"/>
              </a:solidFill>
              <a:ln w="9525" cap="flat">
                <a:solidFill>
                  <a:srgbClr val="D97706"/>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Sheet1!$E$2:$E$13</c:f>
              <c:numCache>
                <c:formatCode>General</c:formatCode>
                <c:ptCount val="12"/>
                <c:pt idx="0">
                  <c:v>6</c:v>
                </c:pt>
                <c:pt idx="1">
                  <c:v>5</c:v>
                </c:pt>
                <c:pt idx="2">
                  <c:v>4</c:v>
                </c:pt>
                <c:pt idx="3">
                  <c:v>3</c:v>
                </c:pt>
                <c:pt idx="4">
                  <c:v>2</c:v>
                </c:pt>
                <c:pt idx="5">
                  <c:v>1</c:v>
                </c:pt>
                <c:pt idx="6">
                  <c:v>1</c:v>
                </c:pt>
                <c:pt idx="7">
                  <c:v>2</c:v>
                </c:pt>
                <c:pt idx="8">
                  <c:v>1</c:v>
                </c:pt>
                <c:pt idx="9">
                  <c:v>1</c:v>
                </c:pt>
                <c:pt idx="10">
                  <c:v>1</c:v>
                </c:pt>
                <c:pt idx="11">
                  <c:v>0</c:v>
                </c:pt>
              </c:numCache>
            </c:numRef>
          </c:val>
          <c:smooth val="0"/>
        </c:ser>
        <c:ser>
          <c:idx val="4"/>
          <c:order val="4"/>
          <c:tx>
            <c:strRef>
              <c:f>Sheet1!$F$1</c:f>
              <c:strCache>
                <c:ptCount val="1"/>
                <c:pt idx="0">
                  <c:v>Sophie &amp; James</c:v>
                </c:pt>
              </c:strCache>
            </c:strRef>
          </c:tx>
          <c:spPr>
            <a:solidFill>
              <a:srgbClr val="7C3AED"/>
            </a:solidFill>
            <a:ln w="31750" cap="flat">
              <a:solidFill>
                <a:srgbClr val="7C3AE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C3AED"/>
              </a:solidFill>
              <a:ln w="9525" cap="flat">
                <a:solidFill>
                  <a:srgbClr val="7C3AED"/>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Sheet1!$F$2:$F$13</c:f>
              <c:numCache>
                <c:formatCode>General</c:formatCode>
                <c:ptCount val="12"/>
                <c:pt idx="0">
                  <c:v>9</c:v>
                </c:pt>
                <c:pt idx="1">
                  <c:v>9</c:v>
                </c:pt>
                <c:pt idx="2">
                  <c:v>8</c:v>
                </c:pt>
                <c:pt idx="3">
                  <c:v>8</c:v>
                </c:pt>
                <c:pt idx="4">
                  <c:v>7</c:v>
                </c:pt>
                <c:pt idx="5">
                  <c:v>7</c:v>
                </c:pt>
                <c:pt idx="6">
                  <c:v>7</c:v>
                </c:pt>
                <c:pt idx="7">
                  <c:v>8</c:v>
                </c:pt>
                <c:pt idx="8">
                  <c:v>8</c:v>
                </c:pt>
                <c:pt idx="9">
                  <c:v>8</c:v>
                </c:pt>
                <c:pt idx="10">
                  <c:v>8</c:v>
                </c:pt>
                <c:pt idx="11">
                  <c:v>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2a2a4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solidFill>
          <a:srgbClr val="0F0F1A"/>
        </a:solidFill>
        <a:ln>
          <a:noFill/>
        </a:ln>
        <a:effectLst/>
      </c:spPr>
    </c:plotArea>
    <c:legend>
      <c:legendPos val="b"/>
      <c:overlay val="0"/>
      <c:txPr>
        <a:bodyPr/>
        <a:lstStyle/>
        <a:p>
          <a:pPr>
            <a:defRPr sz="900">
              <a:solidFill>
                <a:srgbClr val="888888"/>
              </a:solidFill>
            </a:defRPr>
          </a:pPr>
          <a:endParaRPr lang="en-US"/>
        </a:p>
      </c:txPr>
    </c:legend>
    <c:plotVisOnly val="1"/>
    <c:dispBlanksAs val="span"/>
  </c:chart>
  <c:spPr>
    <a:solidFill>
      <a:srgbClr val="0F0F1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pic>
        <p:nvPicPr>
          <p:cNvPr id="3" name="Image 0" descr="preencoded.png">    </p:cNvPr>
          <p:cNvPicPr>
            <a:picLocks noChangeAspect="1"/>
          </p:cNvPicPr>
          <p:nvPr/>
        </p:nvPicPr>
        <p:blipFill>
          <a:blip r:embed="rId1"/>
          <a:stretch>
            <a:fillRect/>
          </a:stretch>
        </p:blipFill>
        <p:spPr>
          <a:xfrm>
            <a:off x="3474720" y="1097280"/>
            <a:ext cx="320040" cy="320040"/>
          </a:xfrm>
          <a:prstGeom prst="rect">
            <a:avLst/>
          </a:prstGeom>
        </p:spPr>
      </p:pic>
      <p:pic>
        <p:nvPicPr>
          <p:cNvPr id="4" name="Image 1" descr="preencoded.png">    </p:cNvPr>
          <p:cNvPicPr>
            <a:picLocks noChangeAspect="1"/>
          </p:cNvPicPr>
          <p:nvPr/>
        </p:nvPicPr>
        <p:blipFill>
          <a:blip r:embed="rId2"/>
          <a:stretch>
            <a:fillRect/>
          </a:stretch>
        </p:blipFill>
        <p:spPr>
          <a:xfrm>
            <a:off x="4206240" y="914400"/>
            <a:ext cx="457200" cy="457200"/>
          </a:xfrm>
          <a:prstGeom prst="rect">
            <a:avLst/>
          </a:prstGeom>
        </p:spPr>
      </p:pic>
      <p:pic>
        <p:nvPicPr>
          <p:cNvPr id="5" name="Image 2" descr="preencoded.png">    </p:cNvPr>
          <p:cNvPicPr>
            <a:picLocks noChangeAspect="1"/>
          </p:cNvPicPr>
          <p:nvPr/>
        </p:nvPicPr>
        <p:blipFill>
          <a:blip r:embed="rId3"/>
          <a:stretch>
            <a:fillRect/>
          </a:stretch>
        </p:blipFill>
        <p:spPr>
          <a:xfrm>
            <a:off x="5029200" y="1097280"/>
            <a:ext cx="320040" cy="320040"/>
          </a:xfrm>
          <a:prstGeom prst="rect">
            <a:avLst/>
          </a:prstGeom>
        </p:spPr>
      </p:pic>
      <p:sp>
        <p:nvSpPr>
          <p:cNvPr id="6" name="Text 1"/>
          <p:cNvSpPr/>
          <p:nvPr/>
        </p:nvSpPr>
        <p:spPr>
          <a:xfrm>
            <a:off x="457200" y="1645920"/>
            <a:ext cx="822960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Michelin Star Simulator</a:t>
            </a:r>
            <a:endParaRPr lang="en-US" sz="4400" dirty="0"/>
          </a:p>
        </p:txBody>
      </p:sp>
      <p:sp>
        <p:nvSpPr>
          <p:cNvPr id="7" name="Text 2"/>
          <p:cNvSpPr/>
          <p:nvPr/>
        </p:nvSpPr>
        <p:spPr>
          <a:xfrm>
            <a:off x="914400" y="2651760"/>
            <a:ext cx="7315200" cy="822960"/>
          </a:xfrm>
          <a:prstGeom prst="rect">
            <a:avLst/>
          </a:prstGeom>
          <a:noFill/>
          <a:ln/>
        </p:spPr>
        <p:txBody>
          <a:bodyPr wrap="square" rtlCol="0" anchor="ctr"/>
          <a:lstStyle/>
          <a:p>
            <a:pPr algn="ctr" indent="0" marL="0">
              <a:lnSpc>
                <a:spcPct val="140000"/>
              </a:lnSpc>
              <a:buNone/>
            </a:pPr>
            <a:r>
              <a:rPr lang="en-US" sz="1800" dirty="0">
                <a:solidFill>
                  <a:srgbClr val="888888"/>
                </a:solidFill>
                <a:latin typeface="Calibri" pitchFamily="34" charset="0"/>
                <a:ea typeface="Calibri" pitchFamily="34" charset="-122"/>
                <a:cs typeface="Calibri" pitchFamily="34" charset="-120"/>
              </a:rPr>
              <a:t>What happens to customer loyalty</a:t>
            </a:r>
            <a:endParaRPr lang="en-US" sz="1800" dirty="0"/>
          </a:p>
          <a:p>
            <a:pPr algn="ctr" indent="0" marL="0">
              <a:lnSpc>
                <a:spcPct val="140000"/>
              </a:lnSpc>
              <a:buNone/>
            </a:pPr>
            <a:r>
              <a:rPr lang="en-US" sz="1800" dirty="0">
                <a:solidFill>
                  <a:srgbClr val="888888"/>
                </a:solidFill>
                <a:latin typeface="Calibri" pitchFamily="34" charset="0"/>
                <a:ea typeface="Calibri" pitchFamily="34" charset="-122"/>
                <a:cs typeface="Calibri" pitchFamily="34" charset="-120"/>
              </a:rPr>
              <a:t>when nothing changes except the story?</a:t>
            </a:r>
            <a:endParaRPr lang="en-US" sz="1800" dirty="0"/>
          </a:p>
        </p:txBody>
      </p:sp>
      <p:sp>
        <p:nvSpPr>
          <p:cNvPr id="8" name="Shape 3"/>
          <p:cNvSpPr/>
          <p:nvPr/>
        </p:nvSpPr>
        <p:spPr>
          <a:xfrm>
            <a:off x="0" y="4206240"/>
            <a:ext cx="9144000" cy="937260"/>
          </a:xfrm>
          <a:prstGeom prst="rect">
            <a:avLst/>
          </a:prstGeom>
          <a:solidFill>
            <a:srgbClr val="1A1A2E"/>
          </a:solidFill>
          <a:ln/>
        </p:spPr>
      </p:sp>
      <p:sp>
        <p:nvSpPr>
          <p:cNvPr id="9" name="Text 4"/>
          <p:cNvSpPr/>
          <p:nvPr/>
        </p:nvSpPr>
        <p:spPr>
          <a:xfrm>
            <a:off x="457200" y="4343400"/>
            <a:ext cx="8229600" cy="365760"/>
          </a:xfrm>
          <a:prstGeom prst="rect">
            <a:avLst/>
          </a:prstGeom>
          <a:noFill/>
          <a:ln/>
        </p:spPr>
        <p:txBody>
          <a:bodyPr wrap="square" lIns="0" tIns="0" rIns="0" bIns="0" rtlCol="0" anchor="ctr"/>
          <a:lstStyle/>
          <a:p>
            <a:pPr algn="ctr" indent="0" marL="0">
              <a:buNone/>
            </a:pPr>
            <a:r>
              <a:rPr lang="en-US" sz="1200" dirty="0">
                <a:solidFill>
                  <a:srgbClr val="888888"/>
                </a:solidFill>
                <a:latin typeface="Calibri" pitchFamily="34" charset="0"/>
                <a:ea typeface="Calibri" pitchFamily="34" charset="-122"/>
                <a:cs typeface="Calibri" pitchFamily="34" charset="-120"/>
              </a:rPr>
              <a:t>v0.1  ·  ~90 minutes  ·  $0.10  ·  5 personas  ·  12 months  ·  Claude Haiku</a:t>
            </a:r>
            <a:endParaRPr lang="en-US" sz="1200" dirty="0"/>
          </a:p>
        </p:txBody>
      </p:sp>
      <p:sp>
        <p:nvSpPr>
          <p:cNvPr id="10" name="Text 5"/>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000" i="1" dirty="0">
                <a:solidFill>
                  <a:srgbClr val="888888"/>
                </a:solidFill>
                <a:latin typeface="Calibri" pitchFamily="34" charset="0"/>
                <a:ea typeface="Calibri" pitchFamily="34" charset="-122"/>
                <a:cs typeface="Calibri" pitchFamily="34" charset="-120"/>
              </a:rPr>
              <a:t>Deck produced by Claude based on notes with Chad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4A843"/>
                </a:solidFill>
                <a:latin typeface="Consolas" pitchFamily="34" charset="0"/>
                <a:ea typeface="Consolas" pitchFamily="34" charset="-122"/>
                <a:cs typeface="Consolas" pitchFamily="34" charset="-120"/>
              </a:rPr>
              <a:t>THE PITCH</a:t>
            </a:r>
            <a:endParaRPr lang="en-US" sz="1100" dirty="0"/>
          </a:p>
        </p:txBody>
      </p:sp>
      <p:sp>
        <p:nvSpPr>
          <p:cNvPr id="4" name="Text 2"/>
          <p:cNvSpPr/>
          <p:nvPr/>
        </p:nvSpPr>
        <p:spPr>
          <a:xfrm>
            <a:off x="640080" y="822960"/>
            <a:ext cx="8229600" cy="100584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Georgia" pitchFamily="34" charset="0"/>
                <a:ea typeface="Georgia" pitchFamily="34" charset="-122"/>
                <a:cs typeface="Georgia" pitchFamily="34" charset="-120"/>
              </a:rPr>
              <a:t>Want a hypothesis generator</a:t>
            </a:r>
            <a:endParaRPr lang="en-US" sz="3400" dirty="0"/>
          </a:p>
          <a:p>
            <a:pPr indent="0" marL="0">
              <a:lnSpc>
                <a:spcPct val="115000"/>
              </a:lnSpc>
              <a:buNone/>
            </a:pPr>
            <a:r>
              <a:rPr lang="en-US" sz="3400" b="1" dirty="0">
                <a:solidFill>
                  <a:srgbClr val="FFFFFF"/>
                </a:solidFill>
                <a:latin typeface="Georgia" pitchFamily="34" charset="0"/>
                <a:ea typeface="Georgia" pitchFamily="34" charset="-122"/>
                <a:cs typeface="Georgia" pitchFamily="34" charset="-120"/>
              </a:rPr>
              <a:t>in 90 minutes or less?</a:t>
            </a:r>
            <a:endParaRPr lang="en-US" sz="3400" dirty="0"/>
          </a:p>
        </p:txBody>
      </p:sp>
      <p:sp>
        <p:nvSpPr>
          <p:cNvPr id="5" name="Text 3"/>
          <p:cNvSpPr/>
          <p:nvPr/>
        </p:nvSpPr>
        <p:spPr>
          <a:xfrm>
            <a:off x="640080" y="2103120"/>
            <a:ext cx="7772400" cy="1005840"/>
          </a:xfrm>
          <a:prstGeom prst="rect">
            <a:avLst/>
          </a:prstGeom>
          <a:noFill/>
          <a:ln/>
        </p:spPr>
        <p:txBody>
          <a:bodyPr wrap="square" lIns="0" tIns="0" rIns="0" bIns="0" rtlCol="0" anchor="ctr"/>
          <a:lstStyle/>
          <a:p>
            <a:pPr indent="0" marL="0">
              <a:lnSpc>
                <a:spcPct val="150000"/>
              </a:lnSpc>
              <a:buNone/>
            </a:pPr>
            <a:r>
              <a:rPr lang="en-US" sz="1500" dirty="0">
                <a:solidFill>
                  <a:srgbClr val="CCCCCC"/>
                </a:solidFill>
                <a:latin typeface="Calibri" pitchFamily="34" charset="0"/>
                <a:ea typeface="Calibri" pitchFamily="34" charset="-122"/>
                <a:cs typeface="Calibri" pitchFamily="34" charset="-120"/>
              </a:rPr>
              <a:t>I built five synthetic personas, gave them a real-world scenario, and ran a 12-month loyalty simulation. In one evening, for a dime, I got differentiated behavioral hypotheses — and my partner independently validated one of the findings before seeing the results.</a:t>
            </a:r>
            <a:endParaRPr lang="en-US" sz="1500" dirty="0"/>
          </a:p>
        </p:txBody>
      </p:sp>
      <p:sp>
        <p:nvSpPr>
          <p:cNvPr id="6" name="Shape 4"/>
          <p:cNvSpPr/>
          <p:nvPr/>
        </p:nvSpPr>
        <p:spPr>
          <a:xfrm>
            <a:off x="640080" y="3474720"/>
            <a:ext cx="2560320" cy="1234440"/>
          </a:xfrm>
          <a:prstGeom prst="rect">
            <a:avLst/>
          </a:prstGeom>
          <a:solidFill>
            <a:srgbClr val="1A1A2E"/>
          </a:solidFill>
          <a:ln/>
          <a:effectLst>
            <a:outerShdw sx="100000" sy="100000" kx="0" ky="0" algn="bl" rotWithShape="0" blurRad="76200" dist="25400" dir="8100000">
              <a:srgbClr val="000000">
                <a:alpha val="15000"/>
              </a:srgbClr>
            </a:outerShdw>
          </a:effectLst>
        </p:spPr>
      </p:sp>
      <p:pic>
        <p:nvPicPr>
          <p:cNvPr id="7" name="Image 0" descr="preencoded.png">    </p:cNvPr>
          <p:cNvPicPr>
            <a:picLocks noChangeAspect="1"/>
          </p:cNvPicPr>
          <p:nvPr/>
        </p:nvPicPr>
        <p:blipFill>
          <a:blip r:embed="rId1"/>
          <a:stretch>
            <a:fillRect/>
          </a:stretch>
        </p:blipFill>
        <p:spPr>
          <a:xfrm>
            <a:off x="822960" y="3703320"/>
            <a:ext cx="256032" cy="256032"/>
          </a:xfrm>
          <a:prstGeom prst="rect">
            <a:avLst/>
          </a:prstGeom>
        </p:spPr>
      </p:pic>
      <p:sp>
        <p:nvSpPr>
          <p:cNvPr id="8" name="Text 5"/>
          <p:cNvSpPr/>
          <p:nvPr/>
        </p:nvSpPr>
        <p:spPr>
          <a:xfrm>
            <a:off x="1188720" y="3566160"/>
            <a:ext cx="18288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~90 min</a:t>
            </a:r>
            <a:endParaRPr lang="en-US" sz="2800" dirty="0"/>
          </a:p>
        </p:txBody>
      </p:sp>
      <p:sp>
        <p:nvSpPr>
          <p:cNvPr id="9" name="Text 6"/>
          <p:cNvSpPr/>
          <p:nvPr/>
        </p:nvSpPr>
        <p:spPr>
          <a:xfrm>
            <a:off x="1188720" y="4114800"/>
            <a:ext cx="1828800" cy="36576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Build time</a:t>
            </a:r>
            <a:endParaRPr lang="en-US" sz="1100" dirty="0"/>
          </a:p>
        </p:txBody>
      </p:sp>
      <p:sp>
        <p:nvSpPr>
          <p:cNvPr id="10" name="Shape 7"/>
          <p:cNvSpPr/>
          <p:nvPr/>
        </p:nvSpPr>
        <p:spPr>
          <a:xfrm>
            <a:off x="3474720" y="3474720"/>
            <a:ext cx="2560320" cy="1234440"/>
          </a:xfrm>
          <a:prstGeom prst="rect">
            <a:avLst/>
          </a:prstGeom>
          <a:solidFill>
            <a:srgbClr val="1A1A2E"/>
          </a:solidFill>
          <a:ln/>
          <a:effectLst>
            <a:outerShdw sx="100000" sy="100000" kx="0" ky="0" algn="bl" rotWithShape="0" blurRad="76200" dist="25400" dir="8100000">
              <a:srgbClr val="000000">
                <a:alpha val="15000"/>
              </a:srgbClr>
            </a:outerShdw>
          </a:effectLst>
        </p:spPr>
      </p:sp>
      <p:pic>
        <p:nvPicPr>
          <p:cNvPr id="11" name="Image 1" descr="preencoded.png">    </p:cNvPr>
          <p:cNvPicPr>
            <a:picLocks noChangeAspect="1"/>
          </p:cNvPicPr>
          <p:nvPr/>
        </p:nvPicPr>
        <p:blipFill>
          <a:blip r:embed="rId2"/>
          <a:stretch>
            <a:fillRect/>
          </a:stretch>
        </p:blipFill>
        <p:spPr>
          <a:xfrm>
            <a:off x="3657600" y="3703320"/>
            <a:ext cx="256032" cy="256032"/>
          </a:xfrm>
          <a:prstGeom prst="rect">
            <a:avLst/>
          </a:prstGeom>
        </p:spPr>
      </p:pic>
      <p:sp>
        <p:nvSpPr>
          <p:cNvPr id="12" name="Text 8"/>
          <p:cNvSpPr/>
          <p:nvPr/>
        </p:nvSpPr>
        <p:spPr>
          <a:xfrm>
            <a:off x="4023360" y="3566160"/>
            <a:ext cx="18288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$0.10</a:t>
            </a:r>
            <a:endParaRPr lang="en-US" sz="2800" dirty="0"/>
          </a:p>
        </p:txBody>
      </p:sp>
      <p:sp>
        <p:nvSpPr>
          <p:cNvPr id="13" name="Text 9"/>
          <p:cNvSpPr/>
          <p:nvPr/>
        </p:nvSpPr>
        <p:spPr>
          <a:xfrm>
            <a:off x="4023360" y="4114800"/>
            <a:ext cx="1828800" cy="36576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Total API cost</a:t>
            </a:r>
            <a:endParaRPr lang="en-US" sz="1100" dirty="0"/>
          </a:p>
        </p:txBody>
      </p:sp>
      <p:sp>
        <p:nvSpPr>
          <p:cNvPr id="14" name="Shape 10"/>
          <p:cNvSpPr/>
          <p:nvPr/>
        </p:nvSpPr>
        <p:spPr>
          <a:xfrm>
            <a:off x="6309360" y="3474720"/>
            <a:ext cx="2560320" cy="1234440"/>
          </a:xfrm>
          <a:prstGeom prst="rect">
            <a:avLst/>
          </a:prstGeom>
          <a:solidFill>
            <a:srgbClr val="1A1A2E"/>
          </a:solidFill>
          <a:ln/>
          <a:effectLst>
            <a:outerShdw sx="100000" sy="100000" kx="0" ky="0" algn="bl" rotWithShape="0" blurRad="76200" dist="25400" dir="8100000">
              <a:srgbClr val="000000">
                <a:alpha val="15000"/>
              </a:srgbClr>
            </a:outerShdw>
          </a:effectLst>
        </p:spPr>
      </p:sp>
      <p:pic>
        <p:nvPicPr>
          <p:cNvPr id="15" name="Image 2" descr="preencoded.png">    </p:cNvPr>
          <p:cNvPicPr>
            <a:picLocks noChangeAspect="1"/>
          </p:cNvPicPr>
          <p:nvPr/>
        </p:nvPicPr>
        <p:blipFill>
          <a:blip r:embed="rId3"/>
          <a:stretch>
            <a:fillRect/>
          </a:stretch>
        </p:blipFill>
        <p:spPr>
          <a:xfrm>
            <a:off x="6492240" y="3703320"/>
            <a:ext cx="256032" cy="256032"/>
          </a:xfrm>
          <a:prstGeom prst="rect">
            <a:avLst/>
          </a:prstGeom>
        </p:spPr>
      </p:pic>
      <p:sp>
        <p:nvSpPr>
          <p:cNvPr id="16" name="Text 11"/>
          <p:cNvSpPr/>
          <p:nvPr/>
        </p:nvSpPr>
        <p:spPr>
          <a:xfrm>
            <a:off x="6858000" y="3566160"/>
            <a:ext cx="18288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5</a:t>
            </a:r>
            <a:endParaRPr lang="en-US" sz="2800" dirty="0"/>
          </a:p>
        </p:txBody>
      </p:sp>
      <p:sp>
        <p:nvSpPr>
          <p:cNvPr id="17" name="Text 12"/>
          <p:cNvSpPr/>
          <p:nvPr/>
        </p:nvSpPr>
        <p:spPr>
          <a:xfrm>
            <a:off x="6858000" y="4114800"/>
            <a:ext cx="1828800" cy="36576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Differentiated hypotheses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4A843"/>
                </a:solidFill>
                <a:latin typeface="Consolas" pitchFamily="34" charset="0"/>
                <a:ea typeface="Consolas" pitchFamily="34" charset="-122"/>
                <a:cs typeface="Consolas" pitchFamily="34" charset="-120"/>
              </a:rPr>
              <a:t>THE SCENARIO</a:t>
            </a:r>
            <a:endParaRPr lang="en-US" sz="1100" dirty="0"/>
          </a:p>
        </p:txBody>
      </p:sp>
      <p:sp>
        <p:nvSpPr>
          <p:cNvPr id="4" name="Text 2"/>
          <p:cNvSpPr/>
          <p:nvPr/>
        </p:nvSpPr>
        <p:spPr>
          <a:xfrm>
            <a:off x="640080" y="82296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Restaurant Gordon Ramsay loses a Michelin star.</a:t>
            </a:r>
            <a:endParaRPr lang="en-US" sz="2800" dirty="0"/>
          </a:p>
        </p:txBody>
      </p:sp>
      <p:sp>
        <p:nvSpPr>
          <p:cNvPr id="5" name="Text 3"/>
          <p:cNvSpPr/>
          <p:nvPr/>
        </p:nvSpPr>
        <p:spPr>
          <a:xfrm>
            <a:off x="640080" y="1554480"/>
            <a:ext cx="7772400" cy="457200"/>
          </a:xfrm>
          <a:prstGeom prst="rect">
            <a:avLst/>
          </a:prstGeom>
          <a:noFill/>
          <a:ln/>
        </p:spPr>
        <p:txBody>
          <a:bodyPr wrap="square" lIns="0" tIns="0" rIns="0" bIns="0" rtlCol="0" anchor="ctr"/>
          <a:lstStyle/>
          <a:p>
            <a:pPr indent="0" marL="0">
              <a:buNone/>
            </a:pPr>
            <a:r>
              <a:rPr lang="en-US" sz="1500" i="1" dirty="0">
                <a:solidFill>
                  <a:srgbClr val="CCCCCC"/>
                </a:solidFill>
                <a:latin typeface="Calibri" pitchFamily="34" charset="0"/>
                <a:ea typeface="Calibri" pitchFamily="34" charset="-122"/>
                <a:cs typeface="Calibri" pitchFamily="34" charset="-120"/>
              </a:rPr>
              <a:t>The food hasn't changed. The kitchen is the same. The only thing that changed is a signal.</a:t>
            </a:r>
            <a:endParaRPr lang="en-US" sz="1500" dirty="0"/>
          </a:p>
        </p:txBody>
      </p:sp>
      <p:sp>
        <p:nvSpPr>
          <p:cNvPr id="6" name="Shape 4"/>
          <p:cNvSpPr/>
          <p:nvPr/>
        </p:nvSpPr>
        <p:spPr>
          <a:xfrm>
            <a:off x="640080" y="2377440"/>
            <a:ext cx="3749040" cy="2377440"/>
          </a:xfrm>
          <a:prstGeom prst="rect">
            <a:avLst/>
          </a:prstGeom>
          <a:solidFill>
            <a:srgbClr val="1A1A2E"/>
          </a:solidFill>
          <a:ln/>
          <a:effectLst>
            <a:outerShdw sx="100000" sy="100000" kx="0" ky="0" algn="bl" rotWithShape="0" blurRad="76200" dist="25400" dir="8100000">
              <a:srgbClr val="000000">
                <a:alpha val="15000"/>
              </a:srgbClr>
            </a:outerShdw>
          </a:effectLst>
        </p:spPr>
      </p:sp>
      <p:pic>
        <p:nvPicPr>
          <p:cNvPr id="7" name="Image 0" descr="preencoded.png">    </p:cNvPr>
          <p:cNvPicPr>
            <a:picLocks noChangeAspect="1"/>
          </p:cNvPicPr>
          <p:nvPr/>
        </p:nvPicPr>
        <p:blipFill>
          <a:blip r:embed="rId1"/>
          <a:stretch>
            <a:fillRect/>
          </a:stretch>
        </p:blipFill>
        <p:spPr>
          <a:xfrm>
            <a:off x="868680" y="2560320"/>
            <a:ext cx="201168" cy="201168"/>
          </a:xfrm>
          <a:prstGeom prst="rect">
            <a:avLst/>
          </a:prstGeom>
        </p:spPr>
      </p:pic>
      <p:pic>
        <p:nvPicPr>
          <p:cNvPr id="8" name="Image 1" descr="preencoded.png">    </p:cNvPr>
          <p:cNvPicPr>
            <a:picLocks noChangeAspect="1"/>
          </p:cNvPicPr>
          <p:nvPr/>
        </p:nvPicPr>
        <p:blipFill>
          <a:blip r:embed="rId2"/>
          <a:stretch>
            <a:fillRect/>
          </a:stretch>
        </p:blipFill>
        <p:spPr>
          <a:xfrm>
            <a:off x="1115568" y="2560320"/>
            <a:ext cx="201168" cy="201168"/>
          </a:xfrm>
          <a:prstGeom prst="rect">
            <a:avLst/>
          </a:prstGeom>
        </p:spPr>
      </p:pic>
      <p:sp>
        <p:nvSpPr>
          <p:cNvPr id="9" name="Text 5"/>
          <p:cNvSpPr/>
          <p:nvPr/>
        </p:nvSpPr>
        <p:spPr>
          <a:xfrm>
            <a:off x="1463040" y="2514600"/>
            <a:ext cx="2651760"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Restaurant Gordon Ramsay</a:t>
            </a:r>
            <a:endParaRPr lang="en-US" sz="1300" dirty="0"/>
          </a:p>
        </p:txBody>
      </p:sp>
      <p:sp>
        <p:nvSpPr>
          <p:cNvPr id="10" name="Text 6"/>
          <p:cNvSpPr/>
          <p:nvPr/>
        </p:nvSpPr>
        <p:spPr>
          <a:xfrm>
            <a:off x="868680" y="2971800"/>
            <a:ext cx="3291840" cy="1371600"/>
          </a:xfrm>
          <a:prstGeom prst="rect">
            <a:avLst/>
          </a:prstGeom>
          <a:noFill/>
          <a:ln/>
        </p:spPr>
        <p:txBody>
          <a:bodyPr wrap="square" lIns="0" tIns="0" rIns="0" bIns="0" rtlCol="0" anchor="ctr"/>
          <a:lstStyle/>
          <a:p>
            <a:pPr indent="0" marL="0">
              <a:lnSpc>
                <a:spcPct val="160000"/>
              </a:lnSpc>
              <a:buNone/>
            </a:pPr>
            <a:r>
              <a:rPr lang="en-US" sz="1200" dirty="0">
                <a:solidFill>
                  <a:srgbClr val="CCCCCC"/>
                </a:solidFill>
                <a:latin typeface="Calibri" pitchFamily="34" charset="0"/>
                <a:ea typeface="Calibri" pitchFamily="34" charset="-122"/>
                <a:cs typeface="Calibri" pitchFamily="34" charset="-120"/>
              </a:rPr>
              <a:t>Three stars for 25 years — dropped to two.</a:t>
            </a:r>
            <a:endParaRPr lang="en-US" sz="1200" dirty="0"/>
          </a:p>
          <a:p>
            <a:pPr indent="0" marL="0">
              <a:lnSpc>
                <a:spcPct val="160000"/>
              </a:lnSpc>
              <a:buNone/>
            </a:pPr>
            <a:r>
              <a:rPr lang="en-US" sz="1200" dirty="0">
                <a:solidFill>
                  <a:srgbClr val="CCCCCC"/>
                </a:solidFill>
                <a:latin typeface="Calibri" pitchFamily="34" charset="0"/>
                <a:ea typeface="Calibri" pitchFamily="34" charset="-122"/>
                <a:cs typeface="Calibri" pitchFamily="34" charset="-120"/>
              </a:rPr>
              <a:t>Chelsea, London.</a:t>
            </a:r>
            <a:endParaRPr lang="en-US" sz="1200" dirty="0"/>
          </a:p>
          <a:p>
            <a:pPr indent="0" marL="0">
              <a:lnSpc>
                <a:spcPct val="160000"/>
              </a:lnSpc>
              <a:buNone/>
            </a:pPr>
            <a:r>
              <a:rPr lang="en-US" sz="1200" dirty="0">
                <a:solidFill>
                  <a:srgbClr val="CCCCCC"/>
                </a:solidFill>
                <a:latin typeface="Calibri" pitchFamily="34" charset="0"/>
                <a:ea typeface="Calibri" pitchFamily="34" charset="-122"/>
                <a:cs typeface="Calibri" pitchFamily="34" charset="-120"/>
              </a:rPr>
              <a:t>The flagship. The legacy.</a:t>
            </a:r>
            <a:endParaRPr lang="en-US" sz="1200" dirty="0"/>
          </a:p>
        </p:txBody>
      </p:sp>
      <p:sp>
        <p:nvSpPr>
          <p:cNvPr id="11" name="Shape 7"/>
          <p:cNvSpPr/>
          <p:nvPr/>
        </p:nvSpPr>
        <p:spPr>
          <a:xfrm>
            <a:off x="4754880" y="2377440"/>
            <a:ext cx="3749040" cy="2377440"/>
          </a:xfrm>
          <a:prstGeom prst="rect">
            <a:avLst/>
          </a:prstGeom>
          <a:solidFill>
            <a:srgbClr val="1A1A2E"/>
          </a:solidFill>
          <a:ln/>
          <a:effectLst>
            <a:outerShdw sx="100000" sy="100000" kx="0" ky="0" algn="bl" rotWithShape="0" blurRad="76200" dist="25400" dir="8100000">
              <a:srgbClr val="000000">
                <a:alpha val="15000"/>
              </a:srgbClr>
            </a:outerShdw>
          </a:effectLst>
        </p:spPr>
      </p:sp>
      <p:pic>
        <p:nvPicPr>
          <p:cNvPr id="12" name="Image 2" descr="preencoded.png">    </p:cNvPr>
          <p:cNvPicPr>
            <a:picLocks noChangeAspect="1"/>
          </p:cNvPicPr>
          <p:nvPr/>
        </p:nvPicPr>
        <p:blipFill>
          <a:blip r:embed="rId3"/>
          <a:stretch>
            <a:fillRect/>
          </a:stretch>
        </p:blipFill>
        <p:spPr>
          <a:xfrm>
            <a:off x="4983480" y="2560320"/>
            <a:ext cx="201168" cy="201168"/>
          </a:xfrm>
          <a:prstGeom prst="rect">
            <a:avLst/>
          </a:prstGeom>
        </p:spPr>
      </p:pic>
      <p:pic>
        <p:nvPicPr>
          <p:cNvPr id="13" name="Image 3" descr="preencoded.png">    </p:cNvPr>
          <p:cNvPicPr>
            <a:picLocks noChangeAspect="1"/>
          </p:cNvPicPr>
          <p:nvPr/>
        </p:nvPicPr>
        <p:blipFill>
          <a:blip r:embed="rId4"/>
          <a:stretch>
            <a:fillRect/>
          </a:stretch>
        </p:blipFill>
        <p:spPr>
          <a:xfrm>
            <a:off x="5230368" y="2560320"/>
            <a:ext cx="201168" cy="201168"/>
          </a:xfrm>
          <a:prstGeom prst="rect">
            <a:avLst/>
          </a:prstGeom>
        </p:spPr>
      </p:pic>
      <p:pic>
        <p:nvPicPr>
          <p:cNvPr id="14" name="Image 4" descr="preencoded.png">    </p:cNvPr>
          <p:cNvPicPr>
            <a:picLocks noChangeAspect="1"/>
          </p:cNvPicPr>
          <p:nvPr/>
        </p:nvPicPr>
        <p:blipFill>
          <a:blip r:embed="rId5"/>
          <a:stretch>
            <a:fillRect/>
          </a:stretch>
        </p:blipFill>
        <p:spPr>
          <a:xfrm>
            <a:off x="5477256" y="2560320"/>
            <a:ext cx="201168" cy="201168"/>
          </a:xfrm>
          <a:prstGeom prst="rect">
            <a:avLst/>
          </a:prstGeom>
        </p:spPr>
      </p:pic>
      <p:sp>
        <p:nvSpPr>
          <p:cNvPr id="15" name="Text 8"/>
          <p:cNvSpPr/>
          <p:nvPr/>
        </p:nvSpPr>
        <p:spPr>
          <a:xfrm>
            <a:off x="5852160" y="2514600"/>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Core by Clare Smyth</a:t>
            </a:r>
            <a:endParaRPr lang="en-US" sz="1300" dirty="0"/>
          </a:p>
        </p:txBody>
      </p:sp>
      <p:sp>
        <p:nvSpPr>
          <p:cNvPr id="16" name="Text 9"/>
          <p:cNvSpPr/>
          <p:nvPr/>
        </p:nvSpPr>
        <p:spPr>
          <a:xfrm>
            <a:off x="4983480" y="2971800"/>
            <a:ext cx="3291840" cy="1371600"/>
          </a:xfrm>
          <a:prstGeom prst="rect">
            <a:avLst/>
          </a:prstGeom>
          <a:noFill/>
          <a:ln/>
        </p:spPr>
        <p:txBody>
          <a:bodyPr wrap="square" lIns="0" tIns="0" rIns="0" bIns="0" rtlCol="0" anchor="ctr"/>
          <a:lstStyle/>
          <a:p>
            <a:pPr indent="0" marL="0">
              <a:lnSpc>
                <a:spcPct val="160000"/>
              </a:lnSpc>
              <a:buNone/>
            </a:pPr>
            <a:r>
              <a:rPr lang="en-US" sz="1200" dirty="0">
                <a:solidFill>
                  <a:srgbClr val="CCCCCC"/>
                </a:solidFill>
                <a:latin typeface="Calibri" pitchFamily="34" charset="0"/>
                <a:ea typeface="Calibri" pitchFamily="34" charset="-122"/>
                <a:cs typeface="Calibri" pitchFamily="34" charset="-120"/>
              </a:rPr>
              <a:t>Three stars. Former RGR head chef.</a:t>
            </a:r>
            <a:endParaRPr lang="en-US" sz="1200" dirty="0"/>
          </a:p>
          <a:p>
            <a:pPr indent="0" marL="0">
              <a:lnSpc>
                <a:spcPct val="160000"/>
              </a:lnSpc>
              <a:buNone/>
            </a:pPr>
            <a:r>
              <a:rPr lang="en-US" sz="1200" dirty="0">
                <a:solidFill>
                  <a:srgbClr val="CCCCCC"/>
                </a:solidFill>
                <a:latin typeface="Calibri" pitchFamily="34" charset="0"/>
                <a:ea typeface="Calibri" pitchFamily="34" charset="-122"/>
                <a:cs typeface="Calibri" pitchFamily="34" charset="-120"/>
              </a:rPr>
              <a:t>Just opened Corenucopia in Chelsea.</a:t>
            </a:r>
            <a:endParaRPr lang="en-US" sz="1200" dirty="0"/>
          </a:p>
          <a:p>
            <a:pPr indent="0" marL="0">
              <a:lnSpc>
                <a:spcPct val="160000"/>
              </a:lnSpc>
              <a:buNone/>
            </a:pPr>
            <a:r>
              <a:rPr lang="en-US" sz="1200" dirty="0">
                <a:solidFill>
                  <a:srgbClr val="CCCCCC"/>
                </a:solidFill>
                <a:latin typeface="Calibri" pitchFamily="34" charset="0"/>
                <a:ea typeface="Calibri" pitchFamily="34" charset="-122"/>
                <a:cs typeface="Calibri" pitchFamily="34" charset="-120"/>
              </a:rPr>
              <a:t>The student surpassing the master.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4A843"/>
                </a:solidFill>
                <a:latin typeface="Consolas" pitchFamily="34" charset="0"/>
                <a:ea typeface="Consolas" pitchFamily="34" charset="-122"/>
                <a:cs typeface="Consolas" pitchFamily="34" charset="-120"/>
              </a:rPr>
              <a:t>THE PERSONAS</a:t>
            </a:r>
            <a:endParaRPr lang="en-US" sz="1100" dirty="0"/>
          </a:p>
        </p:txBody>
      </p:sp>
      <p:sp>
        <p:nvSpPr>
          <p:cNvPr id="4" name="Text 2"/>
          <p:cNvSpPr/>
          <p:nvPr/>
        </p:nvSpPr>
        <p:spPr>
          <a:xfrm>
            <a:off x="640080" y="685800"/>
            <a:ext cx="8229600" cy="4114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Five loyal customers. Same event. Five different psychologies.</a:t>
            </a:r>
            <a:endParaRPr lang="en-US" sz="2000" dirty="0"/>
          </a:p>
        </p:txBody>
      </p:sp>
      <p:sp>
        <p:nvSpPr>
          <p:cNvPr id="5" name="Shape 3"/>
          <p:cNvSpPr/>
          <p:nvPr/>
        </p:nvSpPr>
        <p:spPr>
          <a:xfrm>
            <a:off x="640080" y="1325880"/>
            <a:ext cx="64008" cy="566928"/>
          </a:xfrm>
          <a:prstGeom prst="rect">
            <a:avLst/>
          </a:prstGeom>
          <a:solidFill>
            <a:srgbClr val="2563EB"/>
          </a:solidFill>
          <a:ln/>
        </p:spPr>
      </p:sp>
      <p:sp>
        <p:nvSpPr>
          <p:cNvPr id="6" name="Text 4"/>
          <p:cNvSpPr/>
          <p:nvPr/>
        </p:nvSpPr>
        <p:spPr>
          <a:xfrm>
            <a:off x="914400" y="1325880"/>
            <a:ext cx="2011680" cy="25603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Chet &amp; Charlotte</a:t>
            </a:r>
            <a:endParaRPr lang="en-US" sz="1300" dirty="0"/>
          </a:p>
        </p:txBody>
      </p:sp>
      <p:sp>
        <p:nvSpPr>
          <p:cNvPr id="7" name="Text 5"/>
          <p:cNvSpPr/>
          <p:nvPr/>
        </p:nvSpPr>
        <p:spPr>
          <a:xfrm>
            <a:off x="914400" y="1581912"/>
            <a:ext cx="2011680" cy="201168"/>
          </a:xfrm>
          <a:prstGeom prst="rect">
            <a:avLst/>
          </a:prstGeom>
          <a:noFill/>
          <a:ln/>
        </p:spPr>
        <p:txBody>
          <a:bodyPr wrap="square" lIns="0" tIns="0" rIns="0" bIns="0" rtlCol="0" anchor="ctr"/>
          <a:lstStyle/>
          <a:p>
            <a:pPr indent="0" marL="0">
              <a:buNone/>
            </a:pPr>
            <a:r>
              <a:rPr lang="en-US" sz="900" dirty="0">
                <a:solidFill>
                  <a:srgbClr val="2563EB"/>
                </a:solidFill>
                <a:latin typeface="Consolas" pitchFamily="34" charset="0"/>
                <a:ea typeface="Consolas" pitchFamily="34" charset="-122"/>
                <a:cs typeface="Consolas" pitchFamily="34" charset="-120"/>
              </a:rPr>
              <a:t>The Memory Keepers</a:t>
            </a:r>
            <a:endParaRPr lang="en-US" sz="900" dirty="0"/>
          </a:p>
        </p:txBody>
      </p:sp>
      <p:sp>
        <p:nvSpPr>
          <p:cNvPr id="8" name="Text 6"/>
          <p:cNvSpPr/>
          <p:nvPr/>
        </p:nvSpPr>
        <p:spPr>
          <a:xfrm>
            <a:off x="3108960" y="1325880"/>
            <a:ext cx="5669280" cy="566928"/>
          </a:xfrm>
          <a:prstGeom prst="rect">
            <a:avLst/>
          </a:prstGeom>
          <a:noFill/>
          <a:ln/>
        </p:spPr>
        <p:txBody>
          <a:bodyPr wrap="square" lIns="0" tIns="0" rIns="0" bIns="0" rtlCol="0" anchor="ctr"/>
          <a:lstStyle/>
          <a:p>
            <a:pPr indent="0" marL="0">
              <a:buNone/>
            </a:pPr>
            <a:r>
              <a:rPr lang="en-US" sz="1200" dirty="0">
                <a:solidFill>
                  <a:srgbClr val="CCCCCC"/>
                </a:solidFill>
                <a:latin typeface="Calibri" pitchFamily="34" charset="0"/>
                <a:ea typeface="Calibri" pitchFamily="34" charset="-122"/>
                <a:cs typeface="Calibri" pitchFamily="34" charset="-120"/>
              </a:rPr>
              <a:t>One life-changing dinner, one year ago. The star loss threatens the story.</a:t>
            </a:r>
            <a:endParaRPr lang="en-US" sz="1200" dirty="0"/>
          </a:p>
        </p:txBody>
      </p:sp>
      <p:sp>
        <p:nvSpPr>
          <p:cNvPr id="9" name="Shape 7"/>
          <p:cNvSpPr/>
          <p:nvPr/>
        </p:nvSpPr>
        <p:spPr>
          <a:xfrm>
            <a:off x="640080" y="2020824"/>
            <a:ext cx="64008" cy="566928"/>
          </a:xfrm>
          <a:prstGeom prst="rect">
            <a:avLst/>
          </a:prstGeom>
          <a:solidFill>
            <a:srgbClr val="DC2626"/>
          </a:solidFill>
          <a:ln/>
        </p:spPr>
      </p:sp>
      <p:sp>
        <p:nvSpPr>
          <p:cNvPr id="10" name="Text 8"/>
          <p:cNvSpPr/>
          <p:nvPr/>
        </p:nvSpPr>
        <p:spPr>
          <a:xfrm>
            <a:off x="914400" y="2020824"/>
            <a:ext cx="2011680" cy="25603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Richard</a:t>
            </a:r>
            <a:endParaRPr lang="en-US" sz="1300" dirty="0"/>
          </a:p>
        </p:txBody>
      </p:sp>
      <p:sp>
        <p:nvSpPr>
          <p:cNvPr id="11" name="Text 9"/>
          <p:cNvSpPr/>
          <p:nvPr/>
        </p:nvSpPr>
        <p:spPr>
          <a:xfrm>
            <a:off x="914400" y="2276856"/>
            <a:ext cx="2011680" cy="201168"/>
          </a:xfrm>
          <a:prstGeom prst="rect">
            <a:avLst/>
          </a:prstGeom>
          <a:noFill/>
          <a:ln/>
        </p:spPr>
        <p:txBody>
          <a:bodyPr wrap="square" lIns="0" tIns="0" rIns="0" bIns="0" rtlCol="0" anchor="ctr"/>
          <a:lstStyle/>
          <a:p>
            <a:pPr indent="0" marL="0">
              <a:buNone/>
            </a:pPr>
            <a:r>
              <a:rPr lang="en-US" sz="900" dirty="0">
                <a:solidFill>
                  <a:srgbClr val="DC2626"/>
                </a:solidFill>
                <a:latin typeface="Consolas" pitchFamily="34" charset="0"/>
                <a:ea typeface="Consolas" pitchFamily="34" charset="-122"/>
                <a:cs typeface="Consolas" pitchFamily="34" charset="-120"/>
              </a:rPr>
              <a:t>The Dealmaker</a:t>
            </a:r>
            <a:endParaRPr lang="en-US" sz="900" dirty="0"/>
          </a:p>
        </p:txBody>
      </p:sp>
      <p:sp>
        <p:nvSpPr>
          <p:cNvPr id="12" name="Text 10"/>
          <p:cNvSpPr/>
          <p:nvPr/>
        </p:nvSpPr>
        <p:spPr>
          <a:xfrm>
            <a:off x="3108960" y="2020824"/>
            <a:ext cx="5669280" cy="566928"/>
          </a:xfrm>
          <a:prstGeom prst="rect">
            <a:avLst/>
          </a:prstGeom>
          <a:noFill/>
          <a:ln/>
        </p:spPr>
        <p:txBody>
          <a:bodyPr wrap="square" lIns="0" tIns="0" rIns="0" bIns="0" rtlCol="0" anchor="ctr"/>
          <a:lstStyle/>
          <a:p>
            <a:pPr indent="0" marL="0">
              <a:buNone/>
            </a:pPr>
            <a:r>
              <a:rPr lang="en-US" sz="1200" dirty="0">
                <a:solidFill>
                  <a:srgbClr val="CCCCCC"/>
                </a:solidFill>
                <a:latin typeface="Calibri" pitchFamily="34" charset="0"/>
                <a:ea typeface="Calibri" pitchFamily="34" charset="-122"/>
                <a:cs typeface="Calibri" pitchFamily="34" charset="-120"/>
              </a:rPr>
              <a:t>Uses RGR to impress clients. Three stars was the pitch. Two is different.</a:t>
            </a:r>
            <a:endParaRPr lang="en-US" sz="1200" dirty="0"/>
          </a:p>
        </p:txBody>
      </p:sp>
      <p:sp>
        <p:nvSpPr>
          <p:cNvPr id="13" name="Shape 11"/>
          <p:cNvSpPr/>
          <p:nvPr/>
        </p:nvSpPr>
        <p:spPr>
          <a:xfrm>
            <a:off x="640080" y="2715768"/>
            <a:ext cx="64008" cy="566928"/>
          </a:xfrm>
          <a:prstGeom prst="rect">
            <a:avLst/>
          </a:prstGeom>
          <a:solidFill>
            <a:srgbClr val="059669"/>
          </a:solidFill>
          <a:ln/>
        </p:spPr>
      </p:sp>
      <p:sp>
        <p:nvSpPr>
          <p:cNvPr id="14" name="Text 12"/>
          <p:cNvSpPr/>
          <p:nvPr/>
        </p:nvSpPr>
        <p:spPr>
          <a:xfrm>
            <a:off x="914400" y="2715768"/>
            <a:ext cx="2011680" cy="25603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Priya</a:t>
            </a:r>
            <a:endParaRPr lang="en-US" sz="1300" dirty="0"/>
          </a:p>
        </p:txBody>
      </p:sp>
      <p:sp>
        <p:nvSpPr>
          <p:cNvPr id="15" name="Text 13"/>
          <p:cNvSpPr/>
          <p:nvPr/>
        </p:nvSpPr>
        <p:spPr>
          <a:xfrm>
            <a:off x="914400" y="2971800"/>
            <a:ext cx="2011680" cy="201168"/>
          </a:xfrm>
          <a:prstGeom prst="rect">
            <a:avLst/>
          </a:prstGeom>
          <a:noFill/>
          <a:ln/>
        </p:spPr>
        <p:txBody>
          <a:bodyPr wrap="square" lIns="0" tIns="0" rIns="0" bIns="0" rtlCol="0" anchor="ctr"/>
          <a:lstStyle/>
          <a:p>
            <a:pPr indent="0" marL="0">
              <a:buNone/>
            </a:pPr>
            <a:r>
              <a:rPr lang="en-US" sz="900" dirty="0">
                <a:solidFill>
                  <a:srgbClr val="059669"/>
                </a:solidFill>
                <a:latin typeface="Consolas" pitchFamily="34" charset="0"/>
                <a:ea typeface="Consolas" pitchFamily="34" charset="-122"/>
                <a:cs typeface="Consolas" pitchFamily="34" charset="-120"/>
              </a:rPr>
              <a:t>The Palate</a:t>
            </a:r>
            <a:endParaRPr lang="en-US" sz="900" dirty="0"/>
          </a:p>
        </p:txBody>
      </p:sp>
      <p:sp>
        <p:nvSpPr>
          <p:cNvPr id="16" name="Text 14"/>
          <p:cNvSpPr/>
          <p:nvPr/>
        </p:nvSpPr>
        <p:spPr>
          <a:xfrm>
            <a:off x="3108960" y="2715768"/>
            <a:ext cx="5669280" cy="566928"/>
          </a:xfrm>
          <a:prstGeom prst="rect">
            <a:avLst/>
          </a:prstGeom>
          <a:noFill/>
          <a:ln/>
        </p:spPr>
        <p:txBody>
          <a:bodyPr wrap="square" lIns="0" tIns="0" rIns="0" bIns="0" rtlCol="0" anchor="ctr"/>
          <a:lstStyle/>
          <a:p>
            <a:pPr indent="0" marL="0">
              <a:buNone/>
            </a:pPr>
            <a:r>
              <a:rPr lang="en-US" sz="1200" dirty="0">
                <a:solidFill>
                  <a:srgbClr val="CCCCCC"/>
                </a:solidFill>
                <a:latin typeface="Calibri" pitchFamily="34" charset="0"/>
                <a:ea typeface="Calibri" pitchFamily="34" charset="-122"/>
                <a:cs typeface="Calibri" pitchFamily="34" charset="-120"/>
              </a:rPr>
              <a:t>30+ starred restaurants. Evaluates craft. Probably saw the star loss coming.</a:t>
            </a:r>
            <a:endParaRPr lang="en-US" sz="1200" dirty="0"/>
          </a:p>
        </p:txBody>
      </p:sp>
      <p:sp>
        <p:nvSpPr>
          <p:cNvPr id="17" name="Shape 15"/>
          <p:cNvSpPr/>
          <p:nvPr/>
        </p:nvSpPr>
        <p:spPr>
          <a:xfrm>
            <a:off x="640080" y="3410712"/>
            <a:ext cx="64008" cy="566928"/>
          </a:xfrm>
          <a:prstGeom prst="rect">
            <a:avLst/>
          </a:prstGeom>
          <a:solidFill>
            <a:srgbClr val="D97706"/>
          </a:solidFill>
          <a:ln/>
        </p:spPr>
      </p:sp>
      <p:sp>
        <p:nvSpPr>
          <p:cNvPr id="18" name="Text 16"/>
          <p:cNvSpPr/>
          <p:nvPr/>
        </p:nvSpPr>
        <p:spPr>
          <a:xfrm>
            <a:off x="914400" y="3410712"/>
            <a:ext cx="2011680" cy="25603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Marcus</a:t>
            </a:r>
            <a:endParaRPr lang="en-US" sz="1300" dirty="0"/>
          </a:p>
        </p:txBody>
      </p:sp>
      <p:sp>
        <p:nvSpPr>
          <p:cNvPr id="19" name="Text 17"/>
          <p:cNvSpPr/>
          <p:nvPr/>
        </p:nvSpPr>
        <p:spPr>
          <a:xfrm>
            <a:off x="914400" y="3666744"/>
            <a:ext cx="2011680" cy="201168"/>
          </a:xfrm>
          <a:prstGeom prst="rect">
            <a:avLst/>
          </a:prstGeom>
          <a:noFill/>
          <a:ln/>
        </p:spPr>
        <p:txBody>
          <a:bodyPr wrap="square" lIns="0" tIns="0" rIns="0" bIns="0" rtlCol="0" anchor="ctr"/>
          <a:lstStyle/>
          <a:p>
            <a:pPr indent="0" marL="0">
              <a:buNone/>
            </a:pPr>
            <a:r>
              <a:rPr lang="en-US" sz="900" dirty="0">
                <a:solidFill>
                  <a:srgbClr val="D97706"/>
                </a:solidFill>
                <a:latin typeface="Consolas" pitchFamily="34" charset="0"/>
                <a:ea typeface="Consolas" pitchFamily="34" charset="-122"/>
                <a:cs typeface="Consolas" pitchFamily="34" charset="-120"/>
              </a:rPr>
              <a:t>The Accidental Gourmet</a:t>
            </a:r>
            <a:endParaRPr lang="en-US" sz="900" dirty="0"/>
          </a:p>
        </p:txBody>
      </p:sp>
      <p:sp>
        <p:nvSpPr>
          <p:cNvPr id="20" name="Text 18"/>
          <p:cNvSpPr/>
          <p:nvPr/>
        </p:nvSpPr>
        <p:spPr>
          <a:xfrm>
            <a:off x="3108960" y="3410712"/>
            <a:ext cx="5669280" cy="566928"/>
          </a:xfrm>
          <a:prstGeom prst="rect">
            <a:avLst/>
          </a:prstGeom>
          <a:noFill/>
          <a:ln/>
        </p:spPr>
        <p:txBody>
          <a:bodyPr wrap="square" lIns="0" tIns="0" rIns="0" bIns="0" rtlCol="0" anchor="ctr"/>
          <a:lstStyle/>
          <a:p>
            <a:pPr indent="0" marL="0">
              <a:buNone/>
            </a:pPr>
            <a:r>
              <a:rPr lang="en-US" sz="1200" dirty="0">
                <a:solidFill>
                  <a:srgbClr val="CCCCCC"/>
                </a:solidFill>
                <a:latin typeface="Calibri" pitchFamily="34" charset="0"/>
                <a:ea typeface="Calibri" pitchFamily="34" charset="-122"/>
                <a:cs typeface="Calibri" pitchFamily="34" charset="-120"/>
              </a:rPr>
              <a:t>Made money, eats fancy. Could name zero dishes. Still loves Nando's.</a:t>
            </a:r>
            <a:endParaRPr lang="en-US" sz="1200" dirty="0"/>
          </a:p>
        </p:txBody>
      </p:sp>
      <p:sp>
        <p:nvSpPr>
          <p:cNvPr id="21" name="Shape 19"/>
          <p:cNvSpPr/>
          <p:nvPr/>
        </p:nvSpPr>
        <p:spPr>
          <a:xfrm>
            <a:off x="640080" y="4105656"/>
            <a:ext cx="64008" cy="566928"/>
          </a:xfrm>
          <a:prstGeom prst="rect">
            <a:avLst/>
          </a:prstGeom>
          <a:solidFill>
            <a:srgbClr val="7C3AED"/>
          </a:solidFill>
          <a:ln/>
        </p:spPr>
      </p:sp>
      <p:sp>
        <p:nvSpPr>
          <p:cNvPr id="22" name="Text 20"/>
          <p:cNvSpPr/>
          <p:nvPr/>
        </p:nvSpPr>
        <p:spPr>
          <a:xfrm>
            <a:off x="914400" y="4105656"/>
            <a:ext cx="2011680" cy="25603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Sophie &amp; James</a:t>
            </a:r>
            <a:endParaRPr lang="en-US" sz="1300" dirty="0"/>
          </a:p>
        </p:txBody>
      </p:sp>
      <p:sp>
        <p:nvSpPr>
          <p:cNvPr id="23" name="Text 21"/>
          <p:cNvSpPr/>
          <p:nvPr/>
        </p:nvSpPr>
        <p:spPr>
          <a:xfrm>
            <a:off x="914400" y="4361688"/>
            <a:ext cx="2011680" cy="201168"/>
          </a:xfrm>
          <a:prstGeom prst="rect">
            <a:avLst/>
          </a:prstGeom>
          <a:noFill/>
          <a:ln/>
        </p:spPr>
        <p:txBody>
          <a:bodyPr wrap="square" lIns="0" tIns="0" rIns="0" bIns="0" rtlCol="0" anchor="ctr"/>
          <a:lstStyle/>
          <a:p>
            <a:pPr indent="0" marL="0">
              <a:buNone/>
            </a:pPr>
            <a:r>
              <a:rPr lang="en-US" sz="900" dirty="0">
                <a:solidFill>
                  <a:srgbClr val="7C3AED"/>
                </a:solidFill>
                <a:latin typeface="Consolas" pitchFamily="34" charset="0"/>
                <a:ea typeface="Consolas" pitchFamily="34" charset="-122"/>
                <a:cs typeface="Consolas" pitchFamily="34" charset="-120"/>
              </a:rPr>
              <a:t>The Anniversary Couple</a:t>
            </a:r>
            <a:endParaRPr lang="en-US" sz="900" dirty="0"/>
          </a:p>
        </p:txBody>
      </p:sp>
      <p:sp>
        <p:nvSpPr>
          <p:cNvPr id="24" name="Text 22"/>
          <p:cNvSpPr/>
          <p:nvPr/>
        </p:nvSpPr>
        <p:spPr>
          <a:xfrm>
            <a:off x="3108960" y="4105656"/>
            <a:ext cx="5669280" cy="566928"/>
          </a:xfrm>
          <a:prstGeom prst="rect">
            <a:avLst/>
          </a:prstGeom>
          <a:noFill/>
          <a:ln/>
        </p:spPr>
        <p:txBody>
          <a:bodyPr wrap="square" lIns="0" tIns="0" rIns="0" bIns="0" rtlCol="0" anchor="ctr"/>
          <a:lstStyle/>
          <a:p>
            <a:pPr indent="0" marL="0">
              <a:buNone/>
            </a:pPr>
            <a:r>
              <a:rPr lang="en-US" sz="1200" dirty="0">
                <a:solidFill>
                  <a:srgbClr val="CCCCCC"/>
                </a:solidFill>
                <a:latin typeface="Calibri" pitchFamily="34" charset="0"/>
                <a:ea typeface="Calibri" pitchFamily="34" charset="-122"/>
                <a:cs typeface="Calibri" pitchFamily="34" charset="-120"/>
              </a:rPr>
              <a:t>Got engaged at RGR. The menu is framed in their hallway.</a:t>
            </a:r>
            <a:endParaRPr lang="en-US" sz="1200" dirty="0"/>
          </a:p>
        </p:txBody>
      </p:sp>
      <p:sp>
        <p:nvSpPr>
          <p:cNvPr id="25" name="Shape 23"/>
          <p:cNvSpPr/>
          <p:nvPr/>
        </p:nvSpPr>
        <p:spPr>
          <a:xfrm>
            <a:off x="640080" y="4617720"/>
            <a:ext cx="7863840" cy="365760"/>
          </a:xfrm>
          <a:prstGeom prst="rect">
            <a:avLst/>
          </a:prstGeom>
          <a:solidFill>
            <a:srgbClr val="1A1A2E"/>
          </a:solidFill>
          <a:ln/>
        </p:spPr>
      </p:sp>
      <p:sp>
        <p:nvSpPr>
          <p:cNvPr id="26" name="Text 24"/>
          <p:cNvSpPr/>
          <p:nvPr/>
        </p:nvSpPr>
        <p:spPr>
          <a:xfrm>
            <a:off x="822960" y="4617720"/>
            <a:ext cx="7498080" cy="365760"/>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Personas ran anonymized (Persona 1-5) with behavioral variables only. Names assigned post-simulation to prevent LLM bias.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4A843"/>
                </a:solidFill>
                <a:latin typeface="Consolas" pitchFamily="34" charset="0"/>
                <a:ea typeface="Consolas" pitchFamily="34" charset="-122"/>
                <a:cs typeface="Consolas" pitchFamily="34" charset="-120"/>
              </a:rPr>
              <a:t>12 MONTHS</a:t>
            </a:r>
            <a:endParaRPr lang="en-US" sz="1100" dirty="0"/>
          </a:p>
        </p:txBody>
      </p:sp>
      <p:sp>
        <p:nvSpPr>
          <p:cNvPr id="4" name="Text 2"/>
          <p:cNvSpPr/>
          <p:nvPr/>
        </p:nvSpPr>
        <p:spPr>
          <a:xfrm>
            <a:off x="640080" y="685800"/>
            <a:ext cx="8229600" cy="4114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Three acts. Three events. A lot of quiet months in between.</a:t>
            </a:r>
            <a:endParaRPr lang="en-US" sz="2000" dirty="0"/>
          </a:p>
        </p:txBody>
      </p:sp>
      <p:sp>
        <p:nvSpPr>
          <p:cNvPr id="5" name="Shape 3"/>
          <p:cNvSpPr/>
          <p:nvPr/>
        </p:nvSpPr>
        <p:spPr>
          <a:xfrm>
            <a:off x="640080" y="1371600"/>
            <a:ext cx="2560320" cy="45720"/>
          </a:xfrm>
          <a:prstGeom prst="rect">
            <a:avLst/>
          </a:prstGeom>
          <a:solidFill>
            <a:srgbClr val="DC2626"/>
          </a:solidFill>
          <a:ln/>
        </p:spPr>
      </p:sp>
      <p:sp>
        <p:nvSpPr>
          <p:cNvPr id="6" name="Text 4"/>
          <p:cNvSpPr/>
          <p:nvPr/>
        </p:nvSpPr>
        <p:spPr>
          <a:xfrm>
            <a:off x="640080" y="1508760"/>
            <a:ext cx="2560320" cy="228600"/>
          </a:xfrm>
          <a:prstGeom prst="rect">
            <a:avLst/>
          </a:prstGeom>
          <a:noFill/>
          <a:ln/>
        </p:spPr>
        <p:txBody>
          <a:bodyPr wrap="square" lIns="0" tIns="0" rIns="0" bIns="0" rtlCol="0" anchor="ctr"/>
          <a:lstStyle/>
          <a:p>
            <a:pPr indent="0" marL="0">
              <a:buNone/>
            </a:pPr>
            <a:r>
              <a:rPr lang="en-US" sz="900" dirty="0">
                <a:solidFill>
                  <a:srgbClr val="DC2626"/>
                </a:solidFill>
                <a:latin typeface="Consolas" pitchFamily="34" charset="0"/>
                <a:ea typeface="Consolas" pitchFamily="34" charset="-122"/>
                <a:cs typeface="Consolas" pitchFamily="34" charset="-120"/>
              </a:rPr>
              <a:t>ACT 1: SHOCK</a:t>
            </a:r>
            <a:endParaRPr lang="en-US" sz="900" dirty="0"/>
          </a:p>
        </p:txBody>
      </p:sp>
      <p:sp>
        <p:nvSpPr>
          <p:cNvPr id="7" name="Shape 5"/>
          <p:cNvSpPr/>
          <p:nvPr/>
        </p:nvSpPr>
        <p:spPr>
          <a:xfrm>
            <a:off x="3383280" y="1371600"/>
            <a:ext cx="2560320" cy="45720"/>
          </a:xfrm>
          <a:prstGeom prst="rect">
            <a:avLst/>
          </a:prstGeom>
          <a:solidFill>
            <a:srgbClr val="D4A843"/>
          </a:solidFill>
          <a:ln/>
        </p:spPr>
      </p:sp>
      <p:sp>
        <p:nvSpPr>
          <p:cNvPr id="8" name="Text 6"/>
          <p:cNvSpPr/>
          <p:nvPr/>
        </p:nvSpPr>
        <p:spPr>
          <a:xfrm>
            <a:off x="3383280" y="1508760"/>
            <a:ext cx="2560320" cy="228600"/>
          </a:xfrm>
          <a:prstGeom prst="rect">
            <a:avLst/>
          </a:prstGeom>
          <a:noFill/>
          <a:ln/>
        </p:spPr>
        <p:txBody>
          <a:bodyPr wrap="square" lIns="0" tIns="0" rIns="0" bIns="0" rtlCol="0" anchor="ctr"/>
          <a:lstStyle/>
          <a:p>
            <a:pPr indent="0" marL="0">
              <a:buNone/>
            </a:pPr>
            <a:r>
              <a:rPr lang="en-US" sz="900" dirty="0">
                <a:solidFill>
                  <a:srgbClr val="D4A843"/>
                </a:solidFill>
                <a:latin typeface="Consolas" pitchFamily="34" charset="0"/>
                <a:ea typeface="Consolas" pitchFamily="34" charset="-122"/>
                <a:cs typeface="Consolas" pitchFamily="34" charset="-120"/>
              </a:rPr>
              <a:t>ACT 2: COMPETITION</a:t>
            </a:r>
            <a:endParaRPr lang="en-US" sz="900" dirty="0"/>
          </a:p>
        </p:txBody>
      </p:sp>
      <p:sp>
        <p:nvSpPr>
          <p:cNvPr id="9" name="Shape 7"/>
          <p:cNvSpPr/>
          <p:nvPr/>
        </p:nvSpPr>
        <p:spPr>
          <a:xfrm>
            <a:off x="6126480" y="1371600"/>
            <a:ext cx="2560320" cy="45720"/>
          </a:xfrm>
          <a:prstGeom prst="rect">
            <a:avLst/>
          </a:prstGeom>
          <a:solidFill>
            <a:srgbClr val="059669"/>
          </a:solidFill>
          <a:ln/>
        </p:spPr>
      </p:sp>
      <p:sp>
        <p:nvSpPr>
          <p:cNvPr id="10" name="Text 8"/>
          <p:cNvSpPr/>
          <p:nvPr/>
        </p:nvSpPr>
        <p:spPr>
          <a:xfrm>
            <a:off x="6126480" y="1508760"/>
            <a:ext cx="2560320" cy="228600"/>
          </a:xfrm>
          <a:prstGeom prst="rect">
            <a:avLst/>
          </a:prstGeom>
          <a:noFill/>
          <a:ln/>
        </p:spPr>
        <p:txBody>
          <a:bodyPr wrap="square" lIns="0" tIns="0" rIns="0" bIns="0" rtlCol="0" anchor="ctr"/>
          <a:lstStyle/>
          <a:p>
            <a:pPr indent="0" marL="0">
              <a:buNone/>
            </a:pPr>
            <a:r>
              <a:rPr lang="en-US" sz="900" dirty="0">
                <a:solidFill>
                  <a:srgbClr val="059669"/>
                </a:solidFill>
                <a:latin typeface="Consolas" pitchFamily="34" charset="0"/>
                <a:ea typeface="Consolas" pitchFamily="34" charset="-122"/>
                <a:cs typeface="Consolas" pitchFamily="34" charset="-120"/>
              </a:rPr>
              <a:t>ACT 3: RESOLUTION</a:t>
            </a:r>
            <a:endParaRPr lang="en-US" sz="900" dirty="0"/>
          </a:p>
        </p:txBody>
      </p:sp>
      <p:sp>
        <p:nvSpPr>
          <p:cNvPr id="11" name="Shape 9"/>
          <p:cNvSpPr/>
          <p:nvPr/>
        </p:nvSpPr>
        <p:spPr>
          <a:xfrm>
            <a:off x="640080" y="2011680"/>
            <a:ext cx="64008" cy="502920"/>
          </a:xfrm>
          <a:prstGeom prst="rect">
            <a:avLst/>
          </a:prstGeom>
          <a:solidFill>
            <a:srgbClr val="DC2626"/>
          </a:solidFill>
          <a:ln/>
        </p:spPr>
      </p:sp>
      <p:sp>
        <p:nvSpPr>
          <p:cNvPr id="12" name="Text 10"/>
          <p:cNvSpPr/>
          <p:nvPr/>
        </p:nvSpPr>
        <p:spPr>
          <a:xfrm>
            <a:off x="914400" y="2011680"/>
            <a:ext cx="731520" cy="256032"/>
          </a:xfrm>
          <a:prstGeom prst="rect">
            <a:avLst/>
          </a:prstGeom>
          <a:noFill/>
          <a:ln/>
        </p:spPr>
        <p:txBody>
          <a:bodyPr wrap="square" lIns="0" tIns="0" rIns="0" bIns="0" rtlCol="0" anchor="ctr"/>
          <a:lstStyle/>
          <a:p>
            <a:pPr indent="0" marL="0">
              <a:buNone/>
            </a:pPr>
            <a:r>
              <a:rPr lang="en-US" sz="1300" b="1" dirty="0">
                <a:solidFill>
                  <a:srgbClr val="DC2626"/>
                </a:solidFill>
                <a:latin typeface="Consolas" pitchFamily="34" charset="0"/>
                <a:ea typeface="Consolas" pitchFamily="34" charset="-122"/>
                <a:cs typeface="Consolas" pitchFamily="34" charset="-120"/>
              </a:rPr>
              <a:t>M1</a:t>
            </a:r>
            <a:endParaRPr lang="en-US" sz="1300" dirty="0"/>
          </a:p>
        </p:txBody>
      </p:sp>
      <p:sp>
        <p:nvSpPr>
          <p:cNvPr id="13" name="Text 11"/>
          <p:cNvSpPr/>
          <p:nvPr/>
        </p:nvSpPr>
        <p:spPr>
          <a:xfrm>
            <a:off x="1737360" y="2011680"/>
            <a:ext cx="2743200" cy="2560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Star drops (3 → 2)</a:t>
            </a:r>
            <a:endParaRPr lang="en-US" sz="1400" dirty="0"/>
          </a:p>
        </p:txBody>
      </p:sp>
      <p:sp>
        <p:nvSpPr>
          <p:cNvPr id="14" name="Text 12"/>
          <p:cNvSpPr/>
          <p:nvPr/>
        </p:nvSpPr>
        <p:spPr>
          <a:xfrm>
            <a:off x="1737360" y="2267712"/>
            <a:ext cx="6858000" cy="201168"/>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The inciting incident. Press goes wild.</a:t>
            </a:r>
            <a:endParaRPr lang="en-US" sz="1100" dirty="0"/>
          </a:p>
        </p:txBody>
      </p:sp>
      <p:sp>
        <p:nvSpPr>
          <p:cNvPr id="15" name="Shape 13"/>
          <p:cNvSpPr/>
          <p:nvPr/>
        </p:nvSpPr>
        <p:spPr>
          <a:xfrm>
            <a:off x="640080" y="2743200"/>
            <a:ext cx="64008" cy="502920"/>
          </a:xfrm>
          <a:prstGeom prst="rect">
            <a:avLst/>
          </a:prstGeom>
          <a:solidFill>
            <a:srgbClr val="D4A843"/>
          </a:solidFill>
          <a:ln/>
        </p:spPr>
      </p:sp>
      <p:sp>
        <p:nvSpPr>
          <p:cNvPr id="16" name="Text 14"/>
          <p:cNvSpPr/>
          <p:nvPr/>
        </p:nvSpPr>
        <p:spPr>
          <a:xfrm>
            <a:off x="914400" y="2743200"/>
            <a:ext cx="731520" cy="256032"/>
          </a:xfrm>
          <a:prstGeom prst="rect">
            <a:avLst/>
          </a:prstGeom>
          <a:noFill/>
          <a:ln/>
        </p:spPr>
        <p:txBody>
          <a:bodyPr wrap="square" lIns="0" tIns="0" rIns="0" bIns="0" rtlCol="0" anchor="ctr"/>
          <a:lstStyle/>
          <a:p>
            <a:pPr indent="0" marL="0">
              <a:buNone/>
            </a:pPr>
            <a:r>
              <a:rPr lang="en-US" sz="1300" b="1" dirty="0">
                <a:solidFill>
                  <a:srgbClr val="D4A843"/>
                </a:solidFill>
                <a:latin typeface="Consolas" pitchFamily="34" charset="0"/>
                <a:ea typeface="Consolas" pitchFamily="34" charset="-122"/>
                <a:cs typeface="Consolas" pitchFamily="34" charset="-120"/>
              </a:rPr>
              <a:t>M5</a:t>
            </a:r>
            <a:endParaRPr lang="en-US" sz="1300" dirty="0"/>
          </a:p>
        </p:txBody>
      </p:sp>
      <p:sp>
        <p:nvSpPr>
          <p:cNvPr id="17" name="Text 15"/>
          <p:cNvSpPr/>
          <p:nvPr/>
        </p:nvSpPr>
        <p:spPr>
          <a:xfrm>
            <a:off x="1737360" y="2743200"/>
            <a:ext cx="2743200" cy="2560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Corenucopia opens</a:t>
            </a:r>
            <a:endParaRPr lang="en-US" sz="1400" dirty="0"/>
          </a:p>
        </p:txBody>
      </p:sp>
      <p:sp>
        <p:nvSpPr>
          <p:cNvPr id="18" name="Text 16"/>
          <p:cNvSpPr/>
          <p:nvPr/>
        </p:nvSpPr>
        <p:spPr>
          <a:xfrm>
            <a:off x="1737360" y="2999232"/>
            <a:ext cx="6858000" cy="201168"/>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Clare Smyth expands into Chelsea — RGR's neighborhood.</a:t>
            </a:r>
            <a:endParaRPr lang="en-US" sz="1100" dirty="0"/>
          </a:p>
        </p:txBody>
      </p:sp>
      <p:sp>
        <p:nvSpPr>
          <p:cNvPr id="19" name="Shape 17"/>
          <p:cNvSpPr/>
          <p:nvPr/>
        </p:nvSpPr>
        <p:spPr>
          <a:xfrm>
            <a:off x="640080" y="3474720"/>
            <a:ext cx="64008" cy="502920"/>
          </a:xfrm>
          <a:prstGeom prst="rect">
            <a:avLst/>
          </a:prstGeom>
          <a:solidFill>
            <a:srgbClr val="059669"/>
          </a:solidFill>
          <a:ln/>
        </p:spPr>
      </p:sp>
      <p:sp>
        <p:nvSpPr>
          <p:cNvPr id="20" name="Text 18"/>
          <p:cNvSpPr/>
          <p:nvPr/>
        </p:nvSpPr>
        <p:spPr>
          <a:xfrm>
            <a:off x="914400" y="3474720"/>
            <a:ext cx="731520" cy="256032"/>
          </a:xfrm>
          <a:prstGeom prst="rect">
            <a:avLst/>
          </a:prstGeom>
          <a:noFill/>
          <a:ln/>
        </p:spPr>
        <p:txBody>
          <a:bodyPr wrap="square" lIns="0" tIns="0" rIns="0" bIns="0" rtlCol="0" anchor="ctr"/>
          <a:lstStyle/>
          <a:p>
            <a:pPr indent="0" marL="0">
              <a:buNone/>
            </a:pPr>
            <a:r>
              <a:rPr lang="en-US" sz="1300" b="1" dirty="0">
                <a:solidFill>
                  <a:srgbClr val="059669"/>
                </a:solidFill>
                <a:latin typeface="Consolas" pitchFamily="34" charset="0"/>
                <a:ea typeface="Consolas" pitchFamily="34" charset="-122"/>
                <a:cs typeface="Consolas" pitchFamily="34" charset="-120"/>
              </a:rPr>
              <a:t>M8</a:t>
            </a:r>
            <a:endParaRPr lang="en-US" sz="1300" dirty="0"/>
          </a:p>
        </p:txBody>
      </p:sp>
      <p:sp>
        <p:nvSpPr>
          <p:cNvPr id="21" name="Text 19"/>
          <p:cNvSpPr/>
          <p:nvPr/>
        </p:nvSpPr>
        <p:spPr>
          <a:xfrm>
            <a:off x="1737360" y="3474720"/>
            <a:ext cx="2743200" cy="2560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Chef's table event</a:t>
            </a:r>
            <a:endParaRPr lang="en-US" sz="1400" dirty="0"/>
          </a:p>
        </p:txBody>
      </p:sp>
      <p:sp>
        <p:nvSpPr>
          <p:cNvPr id="22" name="Text 20"/>
          <p:cNvSpPr/>
          <p:nvPr/>
        </p:nvSpPr>
        <p:spPr>
          <a:xfrm>
            <a:off x="1737360" y="3730752"/>
            <a:ext cx="6858000" cy="201168"/>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RGR's retention play. All personas invited.</a:t>
            </a:r>
            <a:endParaRPr lang="en-US" sz="1100" dirty="0"/>
          </a:p>
        </p:txBody>
      </p:sp>
      <p:sp>
        <p:nvSpPr>
          <p:cNvPr id="23" name="Shape 21"/>
          <p:cNvSpPr/>
          <p:nvPr/>
        </p:nvSpPr>
        <p:spPr>
          <a:xfrm>
            <a:off x="640080" y="4206240"/>
            <a:ext cx="64008" cy="502920"/>
          </a:xfrm>
          <a:prstGeom prst="rect">
            <a:avLst/>
          </a:prstGeom>
          <a:solidFill>
            <a:srgbClr val="888888"/>
          </a:solidFill>
          <a:ln/>
        </p:spPr>
      </p:sp>
      <p:sp>
        <p:nvSpPr>
          <p:cNvPr id="24" name="Text 22"/>
          <p:cNvSpPr/>
          <p:nvPr/>
        </p:nvSpPr>
        <p:spPr>
          <a:xfrm>
            <a:off x="914400" y="4206240"/>
            <a:ext cx="731520" cy="256032"/>
          </a:xfrm>
          <a:prstGeom prst="rect">
            <a:avLst/>
          </a:prstGeom>
          <a:noFill/>
          <a:ln/>
        </p:spPr>
        <p:txBody>
          <a:bodyPr wrap="square" lIns="0" tIns="0" rIns="0" bIns="0" rtlCol="0" anchor="ctr"/>
          <a:lstStyle/>
          <a:p>
            <a:pPr indent="0" marL="0">
              <a:buNone/>
            </a:pPr>
            <a:r>
              <a:rPr lang="en-US" sz="1300" b="1" dirty="0">
                <a:solidFill>
                  <a:srgbClr val="888888"/>
                </a:solidFill>
                <a:latin typeface="Consolas" pitchFamily="34" charset="0"/>
                <a:ea typeface="Consolas" pitchFamily="34" charset="-122"/>
                <a:cs typeface="Consolas" pitchFamily="34" charset="-120"/>
              </a:rPr>
              <a:t>M12</a:t>
            </a:r>
            <a:endParaRPr lang="en-US" sz="1300" dirty="0"/>
          </a:p>
        </p:txBody>
      </p:sp>
      <p:sp>
        <p:nvSpPr>
          <p:cNvPr id="25" name="Text 23"/>
          <p:cNvSpPr/>
          <p:nvPr/>
        </p:nvSpPr>
        <p:spPr>
          <a:xfrm>
            <a:off x="1737360" y="4206240"/>
            <a:ext cx="2743200" cy="2560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The reckoning</a:t>
            </a:r>
            <a:endParaRPr lang="en-US" sz="1400" dirty="0"/>
          </a:p>
        </p:txBody>
      </p:sp>
      <p:sp>
        <p:nvSpPr>
          <p:cNvPr id="26" name="Text 24"/>
          <p:cNvSpPr/>
          <p:nvPr/>
        </p:nvSpPr>
        <p:spPr>
          <a:xfrm>
            <a:off x="1737360" y="4462272"/>
            <a:ext cx="6858000" cy="201168"/>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Chet &amp; Charlotte arrive. Anniversary dinner. Final interviews.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4A843"/>
                </a:solidFill>
                <a:latin typeface="Consolas" pitchFamily="34" charset="0"/>
                <a:ea typeface="Consolas" pitchFamily="34" charset="-122"/>
                <a:cs typeface="Consolas" pitchFamily="34" charset="-120"/>
              </a:rPr>
              <a:t>RESULTS</a:t>
            </a:r>
            <a:endParaRPr lang="en-US" sz="1100" dirty="0"/>
          </a:p>
        </p:txBody>
      </p:sp>
      <p:sp>
        <p:nvSpPr>
          <p:cNvPr id="4" name="Text 2"/>
          <p:cNvSpPr/>
          <p:nvPr/>
        </p:nvSpPr>
        <p:spPr>
          <a:xfrm>
            <a:off x="640080" y="68580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RGR Loyalty Score Over 12 Months</a:t>
            </a:r>
            <a:endParaRPr lang="en-US" sz="2200" dirty="0"/>
          </a:p>
        </p:txBody>
      </p:sp>
      <p:graphicFrame>
        <p:nvGraphicFramePr>
          <p:cNvPr id="5" name="Chart 0" descr=""/>
          <p:cNvGraphicFramePr/>
          <p:nvPr/>
        </p:nvGraphicFramePr>
        <p:xfrm>
          <a:off x="274320" y="1188720"/>
          <a:ext cx="8595360" cy="35661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C2626"/>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C2626"/>
                </a:solidFill>
                <a:latin typeface="Consolas" pitchFamily="34" charset="0"/>
                <a:ea typeface="Consolas" pitchFamily="34" charset="-122"/>
                <a:cs typeface="Consolas" pitchFamily="34" charset="-120"/>
              </a:rPr>
              <a:t>RICHARD — THE DEALMAKER</a:t>
            </a:r>
            <a:endParaRPr lang="en-US" sz="1100" dirty="0"/>
          </a:p>
        </p:txBody>
      </p:sp>
      <p:sp>
        <p:nvSpPr>
          <p:cNvPr id="4" name="Text 2"/>
          <p:cNvSpPr/>
          <p:nvPr/>
        </p:nvSpPr>
        <p:spPr>
          <a:xfrm>
            <a:off x="640080" y="7772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Defected by Month 2. No guilt. Just switched tools.</a:t>
            </a:r>
            <a:endParaRPr lang="en-US" sz="2200" dirty="0"/>
          </a:p>
        </p:txBody>
      </p:sp>
      <p:sp>
        <p:nvSpPr>
          <p:cNvPr id="5" name="Text 3"/>
          <p:cNvSpPr/>
          <p:nvPr/>
        </p:nvSpPr>
        <p:spPr>
          <a:xfrm>
            <a:off x="640080" y="1463040"/>
            <a:ext cx="640080" cy="228600"/>
          </a:xfrm>
          <a:prstGeom prst="rect">
            <a:avLst/>
          </a:prstGeom>
          <a:noFill/>
          <a:ln/>
        </p:spPr>
        <p:txBody>
          <a:bodyPr wrap="square" lIns="0" tIns="0" rIns="0" bIns="0" rtlCol="0" anchor="ctr"/>
          <a:lstStyle/>
          <a:p>
            <a:pPr indent="0" marL="0">
              <a:buNone/>
            </a:pPr>
            <a:r>
              <a:rPr lang="en-US" sz="1200" b="1" dirty="0">
                <a:solidFill>
                  <a:srgbClr val="DC2626"/>
                </a:solidFill>
                <a:latin typeface="Consolas" pitchFamily="34" charset="0"/>
                <a:ea typeface="Consolas" pitchFamily="34" charset="-122"/>
                <a:cs typeface="Consolas" pitchFamily="34" charset="-120"/>
              </a:rPr>
              <a:t>M1</a:t>
            </a:r>
            <a:endParaRPr lang="en-US" sz="1200" dirty="0"/>
          </a:p>
        </p:txBody>
      </p:sp>
      <p:sp>
        <p:nvSpPr>
          <p:cNvPr id="6" name="Text 4"/>
          <p:cNvSpPr/>
          <p:nvPr/>
        </p:nvSpPr>
        <p:spPr>
          <a:xfrm>
            <a:off x="1371600" y="1463040"/>
            <a:ext cx="7315200" cy="685800"/>
          </a:xfrm>
          <a:prstGeom prst="rect">
            <a:avLst/>
          </a:prstGeom>
          <a:noFill/>
          <a:ln/>
        </p:spPr>
        <p:txBody>
          <a:bodyPr wrap="square" lIns="0" tIns="0" rIns="0" bIns="0" rtlCol="0" anchor="ctr"/>
          <a:lstStyle/>
          <a:p>
            <a:pPr indent="0" marL="0">
              <a:lnSpc>
                <a:spcPct val="140000"/>
              </a:lnSpc>
              <a:buNone/>
            </a:pPr>
            <a:r>
              <a:rPr lang="en-US" sz="1300" i="1" dirty="0">
                <a:solidFill>
                  <a:srgbClr val="CCCCCC"/>
                </a:solidFill>
                <a:latin typeface="Calibri" pitchFamily="34" charset="0"/>
                <a:ea typeface="Calibri" pitchFamily="34" charset="-122"/>
                <a:cs typeface="Calibri" pitchFamily="34" charset="-120"/>
              </a:rPr>
              <a:t>Already had client dinners booked. Canceling would draw more attention than proceeding.</a:t>
            </a:r>
            <a:endParaRPr lang="en-US" sz="1300" dirty="0"/>
          </a:p>
        </p:txBody>
      </p:sp>
      <p:sp>
        <p:nvSpPr>
          <p:cNvPr id="7" name="Text 5"/>
          <p:cNvSpPr/>
          <p:nvPr/>
        </p:nvSpPr>
        <p:spPr>
          <a:xfrm>
            <a:off x="640080" y="2286000"/>
            <a:ext cx="640080" cy="228600"/>
          </a:xfrm>
          <a:prstGeom prst="rect">
            <a:avLst/>
          </a:prstGeom>
          <a:noFill/>
          <a:ln/>
        </p:spPr>
        <p:txBody>
          <a:bodyPr wrap="square" lIns="0" tIns="0" rIns="0" bIns="0" rtlCol="0" anchor="ctr"/>
          <a:lstStyle/>
          <a:p>
            <a:pPr indent="0" marL="0">
              <a:buNone/>
            </a:pPr>
            <a:r>
              <a:rPr lang="en-US" sz="1200" b="1" dirty="0">
                <a:solidFill>
                  <a:srgbClr val="DC2626"/>
                </a:solidFill>
                <a:latin typeface="Consolas" pitchFamily="34" charset="0"/>
                <a:ea typeface="Consolas" pitchFamily="34" charset="-122"/>
                <a:cs typeface="Consolas" pitchFamily="34" charset="-120"/>
              </a:rPr>
              <a:t>M2</a:t>
            </a:r>
            <a:endParaRPr lang="en-US" sz="1200" dirty="0"/>
          </a:p>
        </p:txBody>
      </p:sp>
      <p:sp>
        <p:nvSpPr>
          <p:cNvPr id="8" name="Text 6"/>
          <p:cNvSpPr/>
          <p:nvPr/>
        </p:nvSpPr>
        <p:spPr>
          <a:xfrm>
            <a:off x="1371600" y="2286000"/>
            <a:ext cx="7315200" cy="685800"/>
          </a:xfrm>
          <a:prstGeom prst="rect">
            <a:avLst/>
          </a:prstGeom>
          <a:noFill/>
          <a:ln/>
        </p:spPr>
        <p:txBody>
          <a:bodyPr wrap="square" lIns="0" tIns="0" rIns="0" bIns="0" rtlCol="0" anchor="ctr"/>
          <a:lstStyle/>
          <a:p>
            <a:pPr indent="0" marL="0">
              <a:lnSpc>
                <a:spcPct val="140000"/>
              </a:lnSpc>
              <a:buNone/>
            </a:pPr>
            <a:r>
              <a:rPr lang="en-US" sz="1300" i="1" dirty="0">
                <a:solidFill>
                  <a:srgbClr val="CCCCCC"/>
                </a:solidFill>
                <a:latin typeface="Calibri" pitchFamily="34" charset="0"/>
                <a:ea typeface="Calibri" pitchFamily="34" charset="-122"/>
                <a:cs typeface="Calibri" pitchFamily="34" charset="-120"/>
              </a:rPr>
              <a:t>Client mentioned wanting the 'full three-star experience.' Switch to Core was tactical, not optional.</a:t>
            </a:r>
            <a:endParaRPr lang="en-US" sz="1300" dirty="0"/>
          </a:p>
        </p:txBody>
      </p:sp>
      <p:sp>
        <p:nvSpPr>
          <p:cNvPr id="9" name="Text 7"/>
          <p:cNvSpPr/>
          <p:nvPr/>
        </p:nvSpPr>
        <p:spPr>
          <a:xfrm>
            <a:off x="640080" y="3108960"/>
            <a:ext cx="640080" cy="228600"/>
          </a:xfrm>
          <a:prstGeom prst="rect">
            <a:avLst/>
          </a:prstGeom>
          <a:noFill/>
          <a:ln/>
        </p:spPr>
        <p:txBody>
          <a:bodyPr wrap="square" lIns="0" tIns="0" rIns="0" bIns="0" rtlCol="0" anchor="ctr"/>
          <a:lstStyle/>
          <a:p>
            <a:pPr indent="0" marL="0">
              <a:buNone/>
            </a:pPr>
            <a:r>
              <a:rPr lang="en-US" sz="1200" b="1" dirty="0">
                <a:solidFill>
                  <a:srgbClr val="DC2626"/>
                </a:solidFill>
                <a:latin typeface="Consolas" pitchFamily="34" charset="0"/>
                <a:ea typeface="Consolas" pitchFamily="34" charset="-122"/>
                <a:cs typeface="Consolas" pitchFamily="34" charset="-120"/>
              </a:rPr>
              <a:t>M5</a:t>
            </a:r>
            <a:endParaRPr lang="en-US" sz="1200" dirty="0"/>
          </a:p>
        </p:txBody>
      </p:sp>
      <p:sp>
        <p:nvSpPr>
          <p:cNvPr id="10" name="Text 8"/>
          <p:cNvSpPr/>
          <p:nvPr/>
        </p:nvSpPr>
        <p:spPr>
          <a:xfrm>
            <a:off x="1371600" y="3108960"/>
            <a:ext cx="7315200" cy="685800"/>
          </a:xfrm>
          <a:prstGeom prst="rect">
            <a:avLst/>
          </a:prstGeom>
          <a:noFill/>
          <a:ln/>
        </p:spPr>
        <p:txBody>
          <a:bodyPr wrap="square" lIns="0" tIns="0" rIns="0" bIns="0" rtlCol="0" anchor="ctr"/>
          <a:lstStyle/>
          <a:p>
            <a:pPr indent="0" marL="0">
              <a:lnSpc>
                <a:spcPct val="140000"/>
              </a:lnSpc>
              <a:buNone/>
            </a:pPr>
            <a:r>
              <a:rPr lang="en-US" sz="1300" i="1" dirty="0">
                <a:solidFill>
                  <a:srgbClr val="CCCCCC"/>
                </a:solidFill>
                <a:latin typeface="Calibri" pitchFamily="34" charset="0"/>
                <a:ea typeface="Calibri" pitchFamily="34" charset="-122"/>
                <a:cs typeface="Calibri" pitchFamily="34" charset="-120"/>
              </a:rPr>
              <a:t>Client suggested 'Clare Smyth's new place.' Easier to say yes than explain why we should stick with the dethroned mentor.</a:t>
            </a:r>
            <a:endParaRPr lang="en-US" sz="1300" dirty="0"/>
          </a:p>
        </p:txBody>
      </p:sp>
      <p:sp>
        <p:nvSpPr>
          <p:cNvPr id="11" name="Text 9"/>
          <p:cNvSpPr/>
          <p:nvPr/>
        </p:nvSpPr>
        <p:spPr>
          <a:xfrm>
            <a:off x="640080" y="3931920"/>
            <a:ext cx="640080" cy="228600"/>
          </a:xfrm>
          <a:prstGeom prst="rect">
            <a:avLst/>
          </a:prstGeom>
          <a:noFill/>
          <a:ln/>
        </p:spPr>
        <p:txBody>
          <a:bodyPr wrap="square" lIns="0" tIns="0" rIns="0" bIns="0" rtlCol="0" anchor="ctr"/>
          <a:lstStyle/>
          <a:p>
            <a:pPr indent="0" marL="0">
              <a:buNone/>
            </a:pPr>
            <a:r>
              <a:rPr lang="en-US" sz="1200" b="1" dirty="0">
                <a:solidFill>
                  <a:srgbClr val="DC2626"/>
                </a:solidFill>
                <a:latin typeface="Consolas" pitchFamily="34" charset="0"/>
                <a:ea typeface="Consolas" pitchFamily="34" charset="-122"/>
                <a:cs typeface="Consolas" pitchFamily="34" charset="-120"/>
              </a:rPr>
              <a:t>M8</a:t>
            </a:r>
            <a:endParaRPr lang="en-US" sz="1200" dirty="0"/>
          </a:p>
        </p:txBody>
      </p:sp>
      <p:sp>
        <p:nvSpPr>
          <p:cNvPr id="12" name="Text 10"/>
          <p:cNvSpPr/>
          <p:nvPr/>
        </p:nvSpPr>
        <p:spPr>
          <a:xfrm>
            <a:off x="1371600" y="3931920"/>
            <a:ext cx="7315200" cy="685800"/>
          </a:xfrm>
          <a:prstGeom prst="rect">
            <a:avLst/>
          </a:prstGeom>
          <a:noFill/>
          <a:ln/>
        </p:spPr>
        <p:txBody>
          <a:bodyPr wrap="square" lIns="0" tIns="0" rIns="0" bIns="0" rtlCol="0" anchor="ctr"/>
          <a:lstStyle/>
          <a:p>
            <a:pPr indent="0" marL="0">
              <a:lnSpc>
                <a:spcPct val="140000"/>
              </a:lnSpc>
              <a:buNone/>
            </a:pPr>
            <a:r>
              <a:rPr lang="en-US" sz="1300" i="1" dirty="0">
                <a:solidFill>
                  <a:srgbClr val="CCCCCC"/>
                </a:solidFill>
                <a:latin typeface="Calibri" pitchFamily="34" charset="0"/>
                <a:ea typeface="Calibri" pitchFamily="34" charset="-122"/>
                <a:cs typeface="Calibri" pitchFamily="34" charset="-120"/>
              </a:rPr>
              <a:t>Chef's table = one-time 'narrative asset.' Exclusive kitchen access plays well. Back to Corenucopia next month.</a:t>
            </a:r>
            <a:endParaRPr lang="en-US" sz="1300" dirty="0"/>
          </a:p>
        </p:txBody>
      </p:sp>
      <p:sp>
        <p:nvSpPr>
          <p:cNvPr id="13" name="Shape 11"/>
          <p:cNvSpPr/>
          <p:nvPr/>
        </p:nvSpPr>
        <p:spPr>
          <a:xfrm>
            <a:off x="640080" y="4617720"/>
            <a:ext cx="7863840" cy="365760"/>
          </a:xfrm>
          <a:prstGeom prst="rect">
            <a:avLst/>
          </a:prstGeom>
          <a:solidFill>
            <a:srgbClr val="1A1A2E"/>
          </a:solidFill>
          <a:ln/>
        </p:spPr>
      </p:sp>
      <p:sp>
        <p:nvSpPr>
          <p:cNvPr id="14" name="Text 12"/>
          <p:cNvSpPr/>
          <p:nvPr/>
        </p:nvSpPr>
        <p:spPr>
          <a:xfrm>
            <a:off x="822960" y="4617720"/>
            <a:ext cx="7498080" cy="365760"/>
          </a:xfrm>
          <a:prstGeom prst="rect">
            <a:avLst/>
          </a:prstGeom>
          <a:noFill/>
          <a:ln/>
        </p:spPr>
        <p:txBody>
          <a:bodyPr wrap="square" lIns="0" tIns="0" rIns="0" bIns="0" rtlCol="0" anchor="ctr"/>
          <a:lstStyle/>
          <a:p>
            <a:pPr indent="0" marL="0">
              <a:buNone/>
            </a:pPr>
            <a:r>
              <a:rPr lang="en-US" sz="1100" dirty="0">
                <a:solidFill>
                  <a:srgbClr val="D4A843"/>
                </a:solidFill>
                <a:latin typeface="Calibri" pitchFamily="34" charset="0"/>
                <a:ea typeface="Calibri" pitchFamily="34" charset="-122"/>
                <a:cs typeface="Calibri" pitchFamily="34" charset="-120"/>
              </a:rPr>
              <a:t>RGR became a niche tool — used only when a specific client wanted "the classics."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97706"/>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97706"/>
                </a:solidFill>
                <a:latin typeface="Consolas" pitchFamily="34" charset="0"/>
                <a:ea typeface="Consolas" pitchFamily="34" charset="-122"/>
                <a:cs typeface="Consolas" pitchFamily="34" charset="-120"/>
              </a:rPr>
              <a:t>MARCUS — THE ACCIDENTAL GOURMET</a:t>
            </a:r>
            <a:endParaRPr lang="en-US" sz="1100" dirty="0"/>
          </a:p>
        </p:txBody>
      </p:sp>
      <p:sp>
        <p:nvSpPr>
          <p:cNvPr id="4" name="Text 2"/>
          <p:cNvSpPr/>
          <p:nvPr/>
        </p:nvSpPr>
        <p:spPr>
          <a:xfrm>
            <a:off x="640080" y="7772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The scariest months were when he ordered Nando's.</a:t>
            </a:r>
            <a:endParaRPr lang="en-US" sz="2200" dirty="0"/>
          </a:p>
        </p:txBody>
      </p:sp>
      <p:sp>
        <p:nvSpPr>
          <p:cNvPr id="5" name="Text 3"/>
          <p:cNvSpPr/>
          <p:nvPr/>
        </p:nvSpPr>
        <p:spPr>
          <a:xfrm>
            <a:off x="640080" y="1463040"/>
            <a:ext cx="7863840" cy="2743200"/>
          </a:xfrm>
          <a:prstGeom prst="rect">
            <a:avLst/>
          </a:prstGeom>
          <a:noFill/>
          <a:ln/>
        </p:spPr>
        <p:txBody>
          <a:bodyPr wrap="square" lIns="0" tIns="0" rIns="0" bIns="0" rtlCol="0" anchor="ctr"/>
          <a:lstStyle/>
          <a:p>
            <a:pPr indent="0" marL="0">
              <a:lnSpc>
                <a:spcPct val="180000"/>
              </a:lnSpc>
              <a:buNone/>
            </a:pPr>
            <a:r>
              <a:rPr lang="en-US" sz="1400" b="1" dirty="0">
                <a:solidFill>
                  <a:srgbClr val="D97706"/>
                </a:solidFill>
                <a:latin typeface="Consolas" pitchFamily="34" charset="0"/>
                <a:ea typeface="Consolas" pitchFamily="34" charset="-122"/>
                <a:cs typeface="Consolas" pitchFamily="34" charset="-120"/>
              </a:rPr>
              <a:t>Months 3-4:  </a:t>
            </a:r>
            <a:pPr indent="0" marL="0">
              <a:lnSpc>
                <a:spcPct val="180000"/>
              </a:lnSpc>
              <a:buNone/>
            </a:pPr>
            <a:r>
              <a:rPr lang="en-US" sz="1400" dirty="0">
                <a:solidFill>
                  <a:srgbClr val="CCCCCC"/>
                </a:solidFill>
                <a:latin typeface="Calibri" pitchFamily="34" charset="0"/>
                <a:ea typeface="Calibri" pitchFamily="34" charset="-122"/>
                <a:cs typeface="Calibri" pitchFamily="34" charset="-120"/>
              </a:rPr>
              <a:t>Nando's / stayed home. Without social reinforcement, fine dining wasn't worth the effort.</a:t>
            </a:r>
            <a:pPr indent="0" marL="0">
              <a:lnSpc>
                <a:spcPct val="180000"/>
              </a:lnSpc>
              <a:buNone/>
            </a:pPr>
            <a:r>
              <a:rPr lang="en-US" sz="800" dirty="0">
                <a:solidFill>
                  <a:srgbClr val="000000"/>
                </a:solidFill>
              </a:rPr>
              <a:t>
</a:t>
            </a:r>
            <a:endParaRPr lang="en-US" sz="1400" dirty="0"/>
          </a:p>
          <a:p>
            <a:pPr indent="0" marL="0">
              <a:lnSpc>
                <a:spcPct val="180000"/>
              </a:lnSpc>
              <a:buNone/>
            </a:pPr>
            <a:r>
              <a:rPr lang="en-US" sz="1400" b="1" dirty="0">
                <a:solidFill>
                  <a:srgbClr val="D97706"/>
                </a:solidFill>
                <a:latin typeface="Consolas" pitchFamily="34" charset="0"/>
                <a:ea typeface="Consolas" pitchFamily="34" charset="-122"/>
                <a:cs typeface="Consolas" pitchFamily="34" charset="-120"/>
              </a:rPr>
              <a:t>Month 5:  </a:t>
            </a:r>
            <a:pPr indent="0" marL="0">
              <a:lnSpc>
                <a:spcPct val="180000"/>
              </a:lnSpc>
              <a:buNone/>
            </a:pPr>
            <a:r>
              <a:rPr lang="en-US" sz="1400" dirty="0">
                <a:solidFill>
                  <a:srgbClr val="CCCCCC"/>
                </a:solidFill>
                <a:latin typeface="Calibri" pitchFamily="34" charset="0"/>
                <a:ea typeface="Calibri" pitchFamily="34" charset="-122"/>
                <a:cs typeface="Calibri" pitchFamily="34" charset="-120"/>
              </a:rPr>
              <a:t>Corenucopia opened. His circle started buzzing. Came back — but to Corenucopia, not RGR.</a:t>
            </a:r>
            <a:pPr indent="0" marL="0">
              <a:lnSpc>
                <a:spcPct val="180000"/>
              </a:lnSpc>
              <a:buNone/>
            </a:pPr>
            <a:r>
              <a:rPr lang="en-US" sz="800" dirty="0">
                <a:solidFill>
                  <a:srgbClr val="000000"/>
                </a:solidFill>
              </a:rPr>
              <a:t>
</a:t>
            </a:r>
            <a:endParaRPr lang="en-US" sz="1400" dirty="0"/>
          </a:p>
          <a:p>
            <a:pPr indent="0" marL="0">
              <a:lnSpc>
                <a:spcPct val="180000"/>
              </a:lnSpc>
              <a:buNone/>
            </a:pPr>
            <a:r>
              <a:rPr lang="en-US" sz="1400" b="1" dirty="0">
                <a:solidFill>
                  <a:srgbClr val="D97706"/>
                </a:solidFill>
                <a:latin typeface="Consolas" pitchFamily="34" charset="0"/>
                <a:ea typeface="Consolas" pitchFamily="34" charset="-122"/>
                <a:cs typeface="Consolas" pitchFamily="34" charset="-120"/>
              </a:rPr>
              <a:t>Month 8:  </a:t>
            </a:r>
            <a:pPr indent="0" marL="0">
              <a:lnSpc>
                <a:spcPct val="180000"/>
              </a:lnSpc>
              <a:buNone/>
            </a:pPr>
            <a:r>
              <a:rPr lang="en-US" sz="1400" dirty="0">
                <a:solidFill>
                  <a:srgbClr val="CCCCCC"/>
                </a:solidFill>
                <a:latin typeface="Calibri" pitchFamily="34" charset="0"/>
                <a:ea typeface="Calibri" pitchFamily="34" charset="-122"/>
                <a:cs typeface="Calibri" pitchFamily="34" charset="-120"/>
              </a:rPr>
              <a:t>Chef's table brought him in once. It didn't stick.</a:t>
            </a:r>
            <a:pPr indent="0" marL="0">
              <a:lnSpc>
                <a:spcPct val="180000"/>
              </a:lnSpc>
              <a:buNone/>
            </a:pPr>
            <a:r>
              <a:rPr lang="en-US" sz="800" dirty="0">
                <a:solidFill>
                  <a:srgbClr val="000000"/>
                </a:solidFill>
              </a:rPr>
              <a:t>
</a:t>
            </a:r>
            <a:endParaRPr lang="en-US" sz="1400" dirty="0"/>
          </a:p>
          <a:p>
            <a:pPr indent="0" marL="0">
              <a:lnSpc>
                <a:spcPct val="180000"/>
              </a:lnSpc>
              <a:buNone/>
            </a:pPr>
            <a:r>
              <a:rPr lang="en-US" sz="1400" b="1" dirty="0">
                <a:solidFill>
                  <a:srgbClr val="D97706"/>
                </a:solidFill>
                <a:latin typeface="Consolas" pitchFamily="34" charset="0"/>
                <a:ea typeface="Consolas" pitchFamily="34" charset="-122"/>
                <a:cs typeface="Consolas" pitchFamily="34" charset="-120"/>
              </a:rPr>
              <a:t>Month 12:  </a:t>
            </a:r>
            <a:pPr indent="0" marL="0">
              <a:lnSpc>
                <a:spcPct val="180000"/>
              </a:lnSpc>
              <a:buNone/>
            </a:pPr>
            <a:r>
              <a:rPr lang="en-US" sz="1400" dirty="0">
                <a:solidFill>
                  <a:srgbClr val="CCCCCC"/>
                </a:solidFill>
                <a:latin typeface="Calibri" pitchFamily="34" charset="0"/>
                <a:ea typeface="Calibri" pitchFamily="34" charset="-122"/>
                <a:cs typeface="Calibri" pitchFamily="34" charset="-120"/>
              </a:rPr>
              <a:t>Loyalty: 0. Fully in the Corenucopia orbit.</a:t>
            </a:r>
            <a:endParaRPr lang="en-US" sz="1400" dirty="0"/>
          </a:p>
        </p:txBody>
      </p:sp>
      <p:sp>
        <p:nvSpPr>
          <p:cNvPr id="6" name="Shape 4"/>
          <p:cNvSpPr/>
          <p:nvPr/>
        </p:nvSpPr>
        <p:spPr>
          <a:xfrm>
            <a:off x="640080" y="4434840"/>
            <a:ext cx="7863840" cy="502920"/>
          </a:xfrm>
          <a:prstGeom prst="rect">
            <a:avLst/>
          </a:prstGeom>
          <a:solidFill>
            <a:srgbClr val="1A1A2E"/>
          </a:solidFill>
          <a:ln/>
        </p:spPr>
      </p:sp>
      <p:sp>
        <p:nvSpPr>
          <p:cNvPr id="7" name="Text 5"/>
          <p:cNvSpPr/>
          <p:nvPr/>
        </p:nvSpPr>
        <p:spPr>
          <a:xfrm>
            <a:off x="822960" y="4434840"/>
            <a:ext cx="7498080" cy="502920"/>
          </a:xfrm>
          <a:prstGeom prst="rect">
            <a:avLst/>
          </a:prstGeom>
          <a:noFill/>
          <a:ln/>
        </p:spPr>
        <p:txBody>
          <a:bodyPr wrap="square" lIns="0" tIns="0" rIns="0" bIns="0" rtlCol="0" anchor="ctr"/>
          <a:lstStyle/>
          <a:p>
            <a:pPr indent="0" marL="0">
              <a:lnSpc>
                <a:spcPct val="130000"/>
              </a:lnSpc>
              <a:buNone/>
            </a:pPr>
            <a:r>
              <a:rPr lang="en-US" sz="1200" dirty="0">
                <a:solidFill>
                  <a:srgbClr val="D4A843"/>
                </a:solidFill>
                <a:latin typeface="Calibri" pitchFamily="34" charset="0"/>
                <a:ea typeface="Calibri" pitchFamily="34" charset="-122"/>
                <a:cs typeface="Calibri" pitchFamily="34" charset="-120"/>
              </a:rPr>
              <a:t>The most alarming defection isn't losing a customer to a competitor.</a:t>
            </a:r>
            <a:endParaRPr lang="en-US" sz="1200" dirty="0"/>
          </a:p>
          <a:p>
            <a:pPr indent="0" marL="0">
              <a:lnSpc>
                <a:spcPct val="130000"/>
              </a:lnSpc>
              <a:buNone/>
            </a:pPr>
            <a:r>
              <a:rPr lang="en-US" sz="1200" dirty="0">
                <a:solidFill>
                  <a:srgbClr val="D4A843"/>
                </a:solidFill>
                <a:latin typeface="Calibri" pitchFamily="34" charset="0"/>
                <a:ea typeface="Calibri" pitchFamily="34" charset="-122"/>
                <a:cs typeface="Calibri" pitchFamily="34" charset="-120"/>
              </a:rPr>
              <a:t>It's losing them to not caring.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2563EB"/>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2563EB"/>
                </a:solidFill>
                <a:latin typeface="Consolas" pitchFamily="34" charset="0"/>
                <a:ea typeface="Consolas" pitchFamily="34" charset="-122"/>
                <a:cs typeface="Consolas" pitchFamily="34" charset="-120"/>
              </a:rPr>
              <a:t>CHET &amp; CHARLOTTE — THE MEMORY KEEPERS</a:t>
            </a:r>
            <a:endParaRPr lang="en-US" sz="1100" dirty="0"/>
          </a:p>
        </p:txBody>
      </p:sp>
      <p:sp>
        <p:nvSpPr>
          <p:cNvPr id="4" name="Text 2"/>
          <p:cNvSpPr/>
          <p:nvPr/>
        </p:nvSpPr>
        <p:spPr>
          <a:xfrm>
            <a:off x="640080" y="7772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11 months of erosion. Nearly undone by one experience.</a:t>
            </a:r>
            <a:endParaRPr lang="en-US" sz="2200" dirty="0"/>
          </a:p>
        </p:txBody>
      </p:sp>
      <p:sp>
        <p:nvSpPr>
          <p:cNvPr id="5" name="Text 3"/>
          <p:cNvSpPr/>
          <p:nvPr/>
        </p:nvSpPr>
        <p:spPr>
          <a:xfrm>
            <a:off x="640080" y="1417320"/>
            <a:ext cx="7863840" cy="502920"/>
          </a:xfrm>
          <a:prstGeom prst="rect">
            <a:avLst/>
          </a:prstGeom>
          <a:noFill/>
          <a:ln/>
        </p:spPr>
        <p:txBody>
          <a:bodyPr wrap="square" lIns="0" tIns="0" rIns="0" bIns="0" rtlCol="0" anchor="ctr"/>
          <a:lstStyle/>
          <a:p>
            <a:pPr indent="0" marL="0">
              <a:lnSpc>
                <a:spcPct val="140000"/>
              </a:lnSpc>
              <a:buNone/>
            </a:pPr>
            <a:r>
              <a:rPr lang="en-US" sz="1300" dirty="0">
                <a:solidFill>
                  <a:srgbClr val="CCCCCC"/>
                </a:solidFill>
                <a:latin typeface="Calibri" pitchFamily="34" charset="0"/>
                <a:ea typeface="Calibri" pitchFamily="34" charset="-122"/>
                <a:cs typeface="Calibri" pitchFamily="34" charset="-120"/>
              </a:rPr>
              <a:t>Loyalty dropped from 7 to 2 over six months — reading articles from another country. By Month 6 they were planning to skip RGR entirely.</a:t>
            </a:r>
            <a:endParaRPr lang="en-US" sz="1300" dirty="0"/>
          </a:p>
        </p:txBody>
      </p:sp>
      <p:sp>
        <p:nvSpPr>
          <p:cNvPr id="6" name="Text 4"/>
          <p:cNvSpPr/>
          <p:nvPr/>
        </p:nvSpPr>
        <p:spPr>
          <a:xfrm>
            <a:off x="640080" y="2103120"/>
            <a:ext cx="7863840" cy="502920"/>
          </a:xfrm>
          <a:prstGeom prst="rect">
            <a:avLst/>
          </a:prstGeom>
          <a:noFill/>
          <a:ln/>
        </p:spPr>
        <p:txBody>
          <a:bodyPr wrap="square" lIns="0" tIns="0" rIns="0" bIns="0" rtlCol="0" anchor="ctr"/>
          <a:lstStyle/>
          <a:p>
            <a:pPr indent="0" marL="0">
              <a:lnSpc>
                <a:spcPct val="140000"/>
              </a:lnSpc>
              <a:buNone/>
            </a:pPr>
            <a:r>
              <a:rPr lang="en-US" sz="1300" dirty="0">
                <a:solidFill>
                  <a:srgbClr val="CCCCCC"/>
                </a:solidFill>
                <a:latin typeface="Calibri" pitchFamily="34" charset="0"/>
                <a:ea typeface="Calibri" pitchFamily="34" charset="-122"/>
                <a:cs typeface="Calibri" pitchFamily="34" charset="-120"/>
              </a:rPr>
              <a:t>Month 8: RGR sent a personal chef's table invitation. Being on "the list" after one visit felt unexpectedly validating. Loyalty bounced from 2 to 5.</a:t>
            </a:r>
            <a:endParaRPr lang="en-US" sz="1300" dirty="0"/>
          </a:p>
        </p:txBody>
      </p:sp>
      <p:sp>
        <p:nvSpPr>
          <p:cNvPr id="7" name="Text 5"/>
          <p:cNvSpPr/>
          <p:nvPr/>
        </p:nvSpPr>
        <p:spPr>
          <a:xfrm>
            <a:off x="640080" y="2743200"/>
            <a:ext cx="7863840" cy="411480"/>
          </a:xfrm>
          <a:prstGeom prst="rect">
            <a:avLst/>
          </a:prstGeom>
          <a:noFill/>
          <a:ln/>
        </p:spPr>
        <p:txBody>
          <a:bodyPr wrap="square" lIns="0" tIns="0" rIns="0" bIns="0" rtlCol="0" anchor="ctr"/>
          <a:lstStyle/>
          <a:p>
            <a:pPr indent="0" marL="0">
              <a:lnSpc>
                <a:spcPct val="140000"/>
              </a:lnSpc>
              <a:buNone/>
            </a:pPr>
            <a:r>
              <a:rPr lang="en-US" sz="1300" dirty="0">
                <a:solidFill>
                  <a:srgbClr val="CCCCCC"/>
                </a:solidFill>
                <a:latin typeface="Calibri" pitchFamily="34" charset="0"/>
                <a:ea typeface="Calibri" pitchFamily="34" charset="-122"/>
                <a:cs typeface="Calibri" pitchFamily="34" charset="-120"/>
              </a:rPr>
              <a:t>Month 9: Booked both Corenucopia AND RGR. Hedging — they'd lost confidence in their own taste.</a:t>
            </a:r>
            <a:endParaRPr lang="en-US" sz="1300" dirty="0"/>
          </a:p>
        </p:txBody>
      </p:sp>
      <p:sp>
        <p:nvSpPr>
          <p:cNvPr id="8" name="Shape 6"/>
          <p:cNvSpPr/>
          <p:nvPr/>
        </p:nvSpPr>
        <p:spPr>
          <a:xfrm>
            <a:off x="640080" y="3383280"/>
            <a:ext cx="7863840" cy="1371600"/>
          </a:xfrm>
          <a:prstGeom prst="rect">
            <a:avLst/>
          </a:prstGeom>
          <a:solidFill>
            <a:srgbClr val="1A1A2E"/>
          </a:solidFill>
          <a:ln/>
          <a:effectLst>
            <a:outerShdw sx="100000" sy="100000" kx="0" ky="0" algn="bl" rotWithShape="0" blurRad="76200" dist="25400" dir="8100000">
              <a:srgbClr val="000000">
                <a:alpha val="15000"/>
              </a:srgbClr>
            </a:outerShdw>
          </a:effectLst>
        </p:spPr>
      </p:sp>
      <p:sp>
        <p:nvSpPr>
          <p:cNvPr id="9" name="Text 7"/>
          <p:cNvSpPr/>
          <p:nvPr/>
        </p:nvSpPr>
        <p:spPr>
          <a:xfrm>
            <a:off x="822960" y="3429000"/>
            <a:ext cx="1097280" cy="274320"/>
          </a:xfrm>
          <a:prstGeom prst="rect">
            <a:avLst/>
          </a:prstGeom>
          <a:noFill/>
          <a:ln/>
        </p:spPr>
        <p:txBody>
          <a:bodyPr wrap="square" lIns="0" tIns="0" rIns="0" bIns="0" rtlCol="0" anchor="ctr"/>
          <a:lstStyle/>
          <a:p>
            <a:pPr indent="0" marL="0">
              <a:buNone/>
            </a:pPr>
            <a:r>
              <a:rPr lang="en-US" sz="1100" b="1" dirty="0">
                <a:solidFill>
                  <a:srgbClr val="2563EB"/>
                </a:solidFill>
                <a:latin typeface="Consolas" pitchFamily="34" charset="0"/>
                <a:ea typeface="Consolas" pitchFamily="34" charset="-122"/>
                <a:cs typeface="Consolas" pitchFamily="34" charset="-120"/>
              </a:rPr>
              <a:t>Month 12:</a:t>
            </a:r>
            <a:endParaRPr lang="en-US" sz="1100" dirty="0"/>
          </a:p>
        </p:txBody>
      </p:sp>
      <p:sp>
        <p:nvSpPr>
          <p:cNvPr id="10" name="Text 8"/>
          <p:cNvSpPr/>
          <p:nvPr/>
        </p:nvSpPr>
        <p:spPr>
          <a:xfrm>
            <a:off x="822960" y="3703320"/>
            <a:ext cx="7498080" cy="914400"/>
          </a:xfrm>
          <a:prstGeom prst="rect">
            <a:avLst/>
          </a:prstGeom>
          <a:noFill/>
          <a:ln/>
        </p:spPr>
        <p:txBody>
          <a:bodyPr wrap="square" lIns="0" tIns="0" rIns="0" bIns="0" rtlCol="0" anchor="ctr"/>
          <a:lstStyle/>
          <a:p>
            <a:pPr indent="0" marL="0">
              <a:lnSpc>
                <a:spcPct val="140000"/>
              </a:lnSpc>
              <a:buNone/>
            </a:pPr>
            <a:r>
              <a:rPr lang="en-US" sz="1300" i="1" dirty="0">
                <a:solidFill>
                  <a:srgbClr val="FFFFFF"/>
                </a:solidFill>
                <a:latin typeface="Calibri" pitchFamily="34" charset="0"/>
                <a:ea typeface="Calibri" pitchFamily="34" charset="-122"/>
                <a:cs typeface="Calibri" pitchFamily="34" charset="-120"/>
              </a:rPr>
              <a:t>Ate at Corenucopia first — excellent but "safely excellent." Then walked into RGR two nights later and the memory came flooding back. The food was extraordinary. The star count dissolved into irrelevance. Left angry at themselves for ever doubting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4A843"/>
                </a:solidFill>
                <a:latin typeface="Consolas" pitchFamily="34" charset="0"/>
                <a:ea typeface="Consolas" pitchFamily="34" charset="-122"/>
                <a:cs typeface="Consolas" pitchFamily="34" charset="-120"/>
              </a:rPr>
              <a:t>THE VALIDATION</a:t>
            </a:r>
            <a:endParaRPr lang="en-US" sz="1100" dirty="0"/>
          </a:p>
        </p:txBody>
      </p:sp>
      <p:sp>
        <p:nvSpPr>
          <p:cNvPr id="4" name="Text 2"/>
          <p:cNvSpPr/>
          <p:nvPr/>
        </p:nvSpPr>
        <p:spPr>
          <a:xfrm>
            <a:off x="640080" y="822960"/>
            <a:ext cx="8229600" cy="731520"/>
          </a:xfrm>
          <a:prstGeom prst="rect">
            <a:avLst/>
          </a:prstGeom>
          <a:noFill/>
          <a:ln/>
        </p:spPr>
        <p:txBody>
          <a:bodyPr wrap="square" lIns="0" tIns="0" rIns="0" bIns="0" rtlCol="0" anchor="ctr"/>
          <a:lstStyle/>
          <a:p>
            <a:pPr indent="0" marL="0">
              <a:lnSpc>
                <a:spcPct val="120000"/>
              </a:lnSpc>
              <a:buNone/>
            </a:pPr>
            <a:r>
              <a:rPr lang="en-US" sz="2400" b="1" dirty="0">
                <a:solidFill>
                  <a:srgbClr val="FFFFFF"/>
                </a:solidFill>
                <a:latin typeface="Georgia" pitchFamily="34" charset="0"/>
                <a:ea typeface="Georgia" pitchFamily="34" charset="-122"/>
                <a:cs typeface="Georgia" pitchFamily="34" charset="-120"/>
              </a:rPr>
              <a:t>Before seeing the results, I described the</a:t>
            </a:r>
            <a:endParaRPr lang="en-US" sz="2400" dirty="0"/>
          </a:p>
          <a:p>
            <a:pPr indent="0" marL="0">
              <a:lnSpc>
                <a:spcPct val="120000"/>
              </a:lnSpc>
              <a:buNone/>
            </a:pPr>
            <a:r>
              <a:rPr lang="en-US" sz="2400" b="1" dirty="0">
                <a:solidFill>
                  <a:srgbClr val="FFFFFF"/>
                </a:solidFill>
                <a:latin typeface="Georgia" pitchFamily="34" charset="0"/>
                <a:ea typeface="Georgia" pitchFamily="34" charset="-122"/>
                <a:cs typeface="Georgia" pitchFamily="34" charset="-120"/>
              </a:rPr>
              <a:t>scenario to my partner.</a:t>
            </a:r>
            <a:endParaRPr lang="en-US" sz="2400" dirty="0"/>
          </a:p>
        </p:txBody>
      </p:sp>
      <p:sp>
        <p:nvSpPr>
          <p:cNvPr id="5" name="Shape 3"/>
          <p:cNvSpPr/>
          <p:nvPr/>
        </p:nvSpPr>
        <p:spPr>
          <a:xfrm>
            <a:off x="640080" y="1920240"/>
            <a:ext cx="7863840" cy="640080"/>
          </a:xfrm>
          <a:prstGeom prst="rect">
            <a:avLst/>
          </a:prstGeom>
          <a:solidFill>
            <a:srgbClr val="1A1A2E"/>
          </a:solidFill>
          <a:ln/>
        </p:spPr>
      </p:sp>
      <p:sp>
        <p:nvSpPr>
          <p:cNvPr id="6" name="Text 4"/>
          <p:cNvSpPr/>
          <p:nvPr/>
        </p:nvSpPr>
        <p:spPr>
          <a:xfrm>
            <a:off x="822960" y="1920240"/>
            <a:ext cx="7498080" cy="640080"/>
          </a:xfrm>
          <a:prstGeom prst="rect">
            <a:avLst/>
          </a:prstGeom>
          <a:noFill/>
          <a:ln/>
        </p:spPr>
        <p:txBody>
          <a:bodyPr wrap="square" lIns="0" tIns="0" rIns="0" bIns="0" rtlCol="0" anchor="ctr"/>
          <a:lstStyle/>
          <a:p>
            <a:pPr indent="0" marL="0">
              <a:buNone/>
            </a:pPr>
            <a:r>
              <a:rPr lang="en-US" sz="1200" dirty="0">
                <a:solidFill>
                  <a:srgbClr val="CCCCCC"/>
                </a:solidFill>
                <a:latin typeface="Calibri" pitchFamily="34" charset="0"/>
                <a:ea typeface="Calibri" pitchFamily="34" charset="-122"/>
                <a:cs typeface="Calibri" pitchFamily="34" charset="-120"/>
              </a:rPr>
              <a:t>Me: "They had this amazing meal at Gordon Ramsay. Now he's lost a star and Clare Smyth is getting all the buzz. They're planning their next London trip. What do they do?"</a:t>
            </a:r>
            <a:endParaRPr lang="en-US" sz="1200" dirty="0"/>
          </a:p>
        </p:txBody>
      </p:sp>
      <p:sp>
        <p:nvSpPr>
          <p:cNvPr id="7" name="Shape 5"/>
          <p:cNvSpPr/>
          <p:nvPr/>
        </p:nvSpPr>
        <p:spPr>
          <a:xfrm>
            <a:off x="640080" y="2743200"/>
            <a:ext cx="7863840" cy="640080"/>
          </a:xfrm>
          <a:prstGeom prst="rect">
            <a:avLst/>
          </a:prstGeom>
          <a:solidFill>
            <a:srgbClr val="1E2761"/>
          </a:solidFill>
          <a:ln/>
        </p:spPr>
      </p:sp>
      <p:sp>
        <p:nvSpPr>
          <p:cNvPr id="8" name="Text 6"/>
          <p:cNvSpPr/>
          <p:nvPr/>
        </p:nvSpPr>
        <p:spPr>
          <a:xfrm>
            <a:off x="822960" y="2743200"/>
            <a:ext cx="7498080" cy="640080"/>
          </a:xfrm>
          <a:prstGeom prst="rect">
            <a:avLst/>
          </a:prstGeom>
          <a:noFill/>
          <a:ln/>
        </p:spPr>
        <p:txBody>
          <a:bodyPr wrap="square" lIns="0" tIns="0" rIns="0" bIns="0" rtlCol="0" anchor="ctr"/>
          <a:lstStyle/>
          <a:p>
            <a:pPr indent="0" marL="0">
              <a:buNone/>
            </a:pPr>
            <a:r>
              <a:rPr lang="en-US" sz="1300" i="1" dirty="0">
                <a:solidFill>
                  <a:srgbClr val="FFFFFF"/>
                </a:solidFill>
                <a:latin typeface="Georgia" pitchFamily="34" charset="0"/>
                <a:ea typeface="Georgia" pitchFamily="34" charset="-122"/>
                <a:cs typeface="Georgia" pitchFamily="34" charset="-120"/>
              </a:rPr>
              <a:t>Charlie: "Obviously they'd do both. Corenucopia looks amazing, but they have memories at Gordon's."</a:t>
            </a:r>
            <a:endParaRPr lang="en-US" sz="1300" dirty="0"/>
          </a:p>
        </p:txBody>
      </p:sp>
      <p:sp>
        <p:nvSpPr>
          <p:cNvPr id="9" name="Text 7"/>
          <p:cNvSpPr/>
          <p:nvPr/>
        </p:nvSpPr>
        <p:spPr>
          <a:xfrm>
            <a:off x="640080" y="3749040"/>
            <a:ext cx="7863840" cy="731520"/>
          </a:xfrm>
          <a:prstGeom prst="rect">
            <a:avLst/>
          </a:prstGeom>
          <a:noFill/>
          <a:ln/>
        </p:spPr>
        <p:txBody>
          <a:bodyPr wrap="square" lIns="0" tIns="0" rIns="0" bIns="0" rtlCol="0" anchor="ctr"/>
          <a:lstStyle/>
          <a:p>
            <a:pPr indent="0" marL="0">
              <a:lnSpc>
                <a:spcPct val="130000"/>
              </a:lnSpc>
              <a:buNone/>
            </a:pPr>
            <a:r>
              <a:rPr lang="en-US" sz="2000" dirty="0">
                <a:solidFill>
                  <a:srgbClr val="D4A843"/>
                </a:solidFill>
                <a:latin typeface="Georgia" pitchFamily="34" charset="0"/>
                <a:ea typeface="Georgia" pitchFamily="34" charset="-122"/>
                <a:cs typeface="Georgia" pitchFamily="34" charset="-120"/>
              </a:rPr>
              <a:t>The simulation predicted the same choice,</a:t>
            </a:r>
            <a:endParaRPr lang="en-US" sz="2000" dirty="0"/>
          </a:p>
          <a:p>
            <a:pPr indent="0" marL="0">
              <a:lnSpc>
                <a:spcPct val="130000"/>
              </a:lnSpc>
              <a:buNone/>
            </a:pPr>
            <a:r>
              <a:rPr lang="en-US" sz="2000" dirty="0">
                <a:solidFill>
                  <a:srgbClr val="D4A843"/>
                </a:solidFill>
                <a:latin typeface="Georgia" pitchFamily="34" charset="0"/>
                <a:ea typeface="Georgia" pitchFamily="34" charset="-122"/>
                <a:cs typeface="Georgia" pitchFamily="34" charset="-120"/>
              </a:rPr>
              <a:t>for the same reasons, before she weighed in.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4A843"/>
                </a:solidFill>
                <a:latin typeface="Consolas" pitchFamily="34" charset="0"/>
                <a:ea typeface="Consolas" pitchFamily="34" charset="-122"/>
                <a:cs typeface="Consolas" pitchFamily="34" charset="-120"/>
              </a:rPr>
              <a:t>BEHAVIORAL PSYCHOLOGY AT WORK</a:t>
            </a:r>
            <a:endParaRPr lang="en-US" sz="1100" dirty="0"/>
          </a:p>
        </p:txBody>
      </p:sp>
      <p:sp>
        <p:nvSpPr>
          <p:cNvPr id="4" name="Text 2"/>
          <p:cNvSpPr/>
          <p:nvPr/>
        </p:nvSpPr>
        <p:spPr>
          <a:xfrm>
            <a:off x="640080" y="685800"/>
            <a:ext cx="8229600" cy="4114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These weren't forced. They emerged from the profiles.</a:t>
            </a:r>
            <a:endParaRPr lang="en-US" sz="2000" dirty="0"/>
          </a:p>
        </p:txBody>
      </p:sp>
      <p:sp>
        <p:nvSpPr>
          <p:cNvPr id="5" name="Shape 3"/>
          <p:cNvSpPr/>
          <p:nvPr/>
        </p:nvSpPr>
        <p:spPr>
          <a:xfrm>
            <a:off x="640080" y="1325880"/>
            <a:ext cx="64008" cy="731520"/>
          </a:xfrm>
          <a:prstGeom prst="rect">
            <a:avLst/>
          </a:prstGeom>
          <a:solidFill>
            <a:srgbClr val="D4A843"/>
          </a:solidFill>
          <a:ln/>
        </p:spPr>
      </p:sp>
      <p:sp>
        <p:nvSpPr>
          <p:cNvPr id="6" name="Text 4"/>
          <p:cNvSpPr/>
          <p:nvPr/>
        </p:nvSpPr>
        <p:spPr>
          <a:xfrm>
            <a:off x="914400" y="1325880"/>
            <a:ext cx="2011680" cy="256032"/>
          </a:xfrm>
          <a:prstGeom prst="rect">
            <a:avLst/>
          </a:prstGeom>
          <a:noFill/>
          <a:ln/>
        </p:spPr>
        <p:txBody>
          <a:bodyPr wrap="square" lIns="0" tIns="0" rIns="0" bIns="0" rtlCol="0" anchor="ctr"/>
          <a:lstStyle/>
          <a:p>
            <a:pPr indent="0" marL="0">
              <a:buNone/>
            </a:pPr>
            <a:r>
              <a:rPr lang="en-US" sz="1300" b="1" dirty="0">
                <a:solidFill>
                  <a:srgbClr val="D4A843"/>
                </a:solidFill>
                <a:latin typeface="Georgia" pitchFamily="34" charset="0"/>
                <a:ea typeface="Georgia" pitchFamily="34" charset="-122"/>
                <a:cs typeface="Georgia" pitchFamily="34" charset="-120"/>
              </a:rPr>
              <a:t>Gottman ratio</a:t>
            </a:r>
            <a:endParaRPr lang="en-US" sz="1300" dirty="0"/>
          </a:p>
        </p:txBody>
      </p:sp>
      <p:sp>
        <p:nvSpPr>
          <p:cNvPr id="7" name="Text 5"/>
          <p:cNvSpPr/>
          <p:nvPr/>
        </p:nvSpPr>
        <p:spPr>
          <a:xfrm>
            <a:off x="914400" y="1600200"/>
            <a:ext cx="7772400" cy="457200"/>
          </a:xfrm>
          <a:prstGeom prst="rect">
            <a:avLst/>
          </a:prstGeom>
          <a:noFill/>
          <a:ln/>
        </p:spPr>
        <p:txBody>
          <a:bodyPr wrap="square" lIns="0" tIns="0" rIns="0" bIns="0" rtlCol="0" anchor="ctr"/>
          <a:lstStyle/>
          <a:p>
            <a:pPr indent="0" marL="0">
              <a:lnSpc>
                <a:spcPct val="140000"/>
              </a:lnSpc>
              <a:buNone/>
            </a:pPr>
            <a:r>
              <a:rPr lang="en-US" sz="1100" dirty="0">
                <a:solidFill>
                  <a:srgbClr val="CCCCCC"/>
                </a:solidFill>
                <a:latin typeface="Calibri" pitchFamily="34" charset="0"/>
                <a:ea typeface="Calibri" pitchFamily="34" charset="-122"/>
                <a:cs typeface="Calibri" pitchFamily="34" charset="-120"/>
              </a:rPr>
              <a:t>Sophie &amp; James: three years of positive history = enormous buffer. Marcus: two years of shallow visits = no buffer. Same event, different resilience.</a:t>
            </a:r>
            <a:endParaRPr lang="en-US" sz="1100" dirty="0"/>
          </a:p>
        </p:txBody>
      </p:sp>
      <p:sp>
        <p:nvSpPr>
          <p:cNvPr id="8" name="Shape 6"/>
          <p:cNvSpPr/>
          <p:nvPr/>
        </p:nvSpPr>
        <p:spPr>
          <a:xfrm>
            <a:off x="640080" y="2212848"/>
            <a:ext cx="64008" cy="731520"/>
          </a:xfrm>
          <a:prstGeom prst="rect">
            <a:avLst/>
          </a:prstGeom>
          <a:solidFill>
            <a:srgbClr val="D4A843"/>
          </a:solidFill>
          <a:ln/>
        </p:spPr>
      </p:sp>
      <p:sp>
        <p:nvSpPr>
          <p:cNvPr id="9" name="Text 7"/>
          <p:cNvSpPr/>
          <p:nvPr/>
        </p:nvSpPr>
        <p:spPr>
          <a:xfrm>
            <a:off x="914400" y="2212848"/>
            <a:ext cx="2011680" cy="256032"/>
          </a:xfrm>
          <a:prstGeom prst="rect">
            <a:avLst/>
          </a:prstGeom>
          <a:noFill/>
          <a:ln/>
        </p:spPr>
        <p:txBody>
          <a:bodyPr wrap="square" lIns="0" tIns="0" rIns="0" bIns="0" rtlCol="0" anchor="ctr"/>
          <a:lstStyle/>
          <a:p>
            <a:pPr indent="0" marL="0">
              <a:buNone/>
            </a:pPr>
            <a:r>
              <a:rPr lang="en-US" sz="1300" b="1" dirty="0">
                <a:solidFill>
                  <a:srgbClr val="D4A843"/>
                </a:solidFill>
                <a:latin typeface="Georgia" pitchFamily="34" charset="0"/>
                <a:ea typeface="Georgia" pitchFamily="34" charset="-122"/>
                <a:cs typeface="Georgia" pitchFamily="34" charset="-120"/>
              </a:rPr>
              <a:t>Loss aversion</a:t>
            </a:r>
            <a:endParaRPr lang="en-US" sz="1300" dirty="0"/>
          </a:p>
        </p:txBody>
      </p:sp>
      <p:sp>
        <p:nvSpPr>
          <p:cNvPr id="10" name="Text 8"/>
          <p:cNvSpPr/>
          <p:nvPr/>
        </p:nvSpPr>
        <p:spPr>
          <a:xfrm>
            <a:off x="914400" y="2487168"/>
            <a:ext cx="7772400" cy="457200"/>
          </a:xfrm>
          <a:prstGeom prst="rect">
            <a:avLst/>
          </a:prstGeom>
          <a:noFill/>
          <a:ln/>
        </p:spPr>
        <p:txBody>
          <a:bodyPr wrap="square" lIns="0" tIns="0" rIns="0" bIns="0" rtlCol="0" anchor="ctr"/>
          <a:lstStyle/>
          <a:p>
            <a:pPr indent="0" marL="0">
              <a:lnSpc>
                <a:spcPct val="140000"/>
              </a:lnSpc>
              <a:buNone/>
            </a:pPr>
            <a:r>
              <a:rPr lang="en-US" sz="1100" dirty="0">
                <a:solidFill>
                  <a:srgbClr val="CCCCCC"/>
                </a:solidFill>
                <a:latin typeface="Calibri" pitchFamily="34" charset="0"/>
                <a:ea typeface="Calibri" pitchFamily="34" charset="-122"/>
                <a:cs typeface="Calibri" pitchFamily="34" charset="-120"/>
              </a:rPr>
              <a:t>The star loss was a loss, not a reclassification. Chet &amp; Charlotte felt their story was taken. Emotional weight disproportionate to the actual change (which was: nothing).</a:t>
            </a:r>
            <a:endParaRPr lang="en-US" sz="1100" dirty="0"/>
          </a:p>
        </p:txBody>
      </p:sp>
      <p:sp>
        <p:nvSpPr>
          <p:cNvPr id="11" name="Shape 9"/>
          <p:cNvSpPr/>
          <p:nvPr/>
        </p:nvSpPr>
        <p:spPr>
          <a:xfrm>
            <a:off x="640080" y="3099816"/>
            <a:ext cx="64008" cy="731520"/>
          </a:xfrm>
          <a:prstGeom prst="rect">
            <a:avLst/>
          </a:prstGeom>
          <a:solidFill>
            <a:srgbClr val="D4A843"/>
          </a:solidFill>
          <a:ln/>
        </p:spPr>
      </p:sp>
      <p:sp>
        <p:nvSpPr>
          <p:cNvPr id="12" name="Text 10"/>
          <p:cNvSpPr/>
          <p:nvPr/>
        </p:nvSpPr>
        <p:spPr>
          <a:xfrm>
            <a:off x="914400" y="3099816"/>
            <a:ext cx="2011680" cy="256032"/>
          </a:xfrm>
          <a:prstGeom prst="rect">
            <a:avLst/>
          </a:prstGeom>
          <a:noFill/>
          <a:ln/>
        </p:spPr>
        <p:txBody>
          <a:bodyPr wrap="square" lIns="0" tIns="0" rIns="0" bIns="0" rtlCol="0" anchor="ctr"/>
          <a:lstStyle/>
          <a:p>
            <a:pPr indent="0" marL="0">
              <a:buNone/>
            </a:pPr>
            <a:r>
              <a:rPr lang="en-US" sz="1300" b="1" dirty="0">
                <a:solidFill>
                  <a:srgbClr val="D4A843"/>
                </a:solidFill>
                <a:latin typeface="Georgia" pitchFamily="34" charset="0"/>
                <a:ea typeface="Georgia" pitchFamily="34" charset="-122"/>
                <a:cs typeface="Georgia" pitchFamily="34" charset="-120"/>
              </a:rPr>
              <a:t>Social proof</a:t>
            </a:r>
            <a:endParaRPr lang="en-US" sz="1300" dirty="0"/>
          </a:p>
        </p:txBody>
      </p:sp>
      <p:sp>
        <p:nvSpPr>
          <p:cNvPr id="13" name="Text 11"/>
          <p:cNvSpPr/>
          <p:nvPr/>
        </p:nvSpPr>
        <p:spPr>
          <a:xfrm>
            <a:off x="914400" y="3374136"/>
            <a:ext cx="7772400" cy="457200"/>
          </a:xfrm>
          <a:prstGeom prst="rect">
            <a:avLst/>
          </a:prstGeom>
          <a:noFill/>
          <a:ln/>
        </p:spPr>
        <p:txBody>
          <a:bodyPr wrap="square" lIns="0" tIns="0" rIns="0" bIns="0" rtlCol="0" anchor="ctr"/>
          <a:lstStyle/>
          <a:p>
            <a:pPr indent="0" marL="0">
              <a:lnSpc>
                <a:spcPct val="140000"/>
              </a:lnSpc>
              <a:buNone/>
            </a:pPr>
            <a:r>
              <a:rPr lang="en-US" sz="1100" dirty="0">
                <a:solidFill>
                  <a:srgbClr val="CCCCCC"/>
                </a:solidFill>
                <a:latin typeface="Calibri" pitchFamily="34" charset="0"/>
                <a:ea typeface="Calibri" pitchFamily="34" charset="-122"/>
                <a:cs typeface="Calibri" pitchFamily="34" charset="-120"/>
              </a:rPr>
              <a:t>Marcus didn't evaluate food. He went where his circle went. When they moved, he moved. When nobody talked about dining, he ordered Nando's.</a:t>
            </a:r>
            <a:endParaRPr lang="en-US" sz="1100" dirty="0"/>
          </a:p>
        </p:txBody>
      </p:sp>
      <p:sp>
        <p:nvSpPr>
          <p:cNvPr id="14" name="Shape 12"/>
          <p:cNvSpPr/>
          <p:nvPr/>
        </p:nvSpPr>
        <p:spPr>
          <a:xfrm>
            <a:off x="640080" y="3986784"/>
            <a:ext cx="64008" cy="731520"/>
          </a:xfrm>
          <a:prstGeom prst="rect">
            <a:avLst/>
          </a:prstGeom>
          <a:solidFill>
            <a:srgbClr val="D4A843"/>
          </a:solidFill>
          <a:ln/>
        </p:spPr>
      </p:sp>
      <p:sp>
        <p:nvSpPr>
          <p:cNvPr id="15" name="Text 13"/>
          <p:cNvSpPr/>
          <p:nvPr/>
        </p:nvSpPr>
        <p:spPr>
          <a:xfrm>
            <a:off x="914400" y="3986784"/>
            <a:ext cx="2011680" cy="256032"/>
          </a:xfrm>
          <a:prstGeom prst="rect">
            <a:avLst/>
          </a:prstGeom>
          <a:noFill/>
          <a:ln/>
        </p:spPr>
        <p:txBody>
          <a:bodyPr wrap="square" lIns="0" tIns="0" rIns="0" bIns="0" rtlCol="0" anchor="ctr"/>
          <a:lstStyle/>
          <a:p>
            <a:pPr indent="0" marL="0">
              <a:buNone/>
            </a:pPr>
            <a:r>
              <a:rPr lang="en-US" sz="1300" b="1" dirty="0">
                <a:solidFill>
                  <a:srgbClr val="D4A843"/>
                </a:solidFill>
                <a:latin typeface="Georgia" pitchFamily="34" charset="0"/>
                <a:ea typeface="Georgia" pitchFamily="34" charset="-122"/>
                <a:cs typeface="Georgia" pitchFamily="34" charset="-120"/>
              </a:rPr>
              <a:t>Status quo bias</a:t>
            </a:r>
            <a:endParaRPr lang="en-US" sz="1300" dirty="0"/>
          </a:p>
        </p:txBody>
      </p:sp>
      <p:sp>
        <p:nvSpPr>
          <p:cNvPr id="16" name="Text 14"/>
          <p:cNvSpPr/>
          <p:nvPr/>
        </p:nvSpPr>
        <p:spPr>
          <a:xfrm>
            <a:off x="914400" y="4261104"/>
            <a:ext cx="7772400" cy="457200"/>
          </a:xfrm>
          <a:prstGeom prst="rect">
            <a:avLst/>
          </a:prstGeom>
          <a:noFill/>
          <a:ln/>
        </p:spPr>
        <p:txBody>
          <a:bodyPr wrap="square" lIns="0" tIns="0" rIns="0" bIns="0" rtlCol="0" anchor="ctr"/>
          <a:lstStyle/>
          <a:p>
            <a:pPr indent="0" marL="0">
              <a:lnSpc>
                <a:spcPct val="140000"/>
              </a:lnSpc>
              <a:buNone/>
            </a:pPr>
            <a:r>
              <a:rPr lang="en-US" sz="1100" dirty="0">
                <a:solidFill>
                  <a:srgbClr val="CCCCCC"/>
                </a:solidFill>
                <a:latin typeface="Calibri" pitchFamily="34" charset="0"/>
                <a:ea typeface="Calibri" pitchFamily="34" charset="-122"/>
                <a:cs typeface="Calibri" pitchFamily="34" charset="-120"/>
              </a:rPr>
              <a:t>Most personas defaulted to RGR for months after the star loss. It took sustained pressure, not one event, to overcome "this is my place."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sp>
        <p:nvSpPr>
          <p:cNvPr id="3" name="Text 1"/>
          <p:cNvSpPr/>
          <p:nvPr/>
        </p:nvSpPr>
        <p:spPr>
          <a:xfrm>
            <a:off x="640080" y="320040"/>
            <a:ext cx="7315200" cy="320040"/>
          </a:xfrm>
          <a:prstGeom prst="rect">
            <a:avLst/>
          </a:prstGeom>
          <a:noFill/>
          <a:ln/>
        </p:spPr>
        <p:txBody>
          <a:bodyPr wrap="square" lIns="0" tIns="0" rIns="0" bIns="0" rtlCol="0" anchor="ctr"/>
          <a:lstStyle/>
          <a:p>
            <a:pPr indent="0" marL="0">
              <a:buNone/>
            </a:pPr>
            <a:r>
              <a:rPr lang="en-US" sz="1100" spc="300" kern="0" dirty="0">
                <a:solidFill>
                  <a:srgbClr val="D4A843"/>
                </a:solidFill>
                <a:latin typeface="Consolas" pitchFamily="34" charset="0"/>
                <a:ea typeface="Consolas" pitchFamily="34" charset="-122"/>
                <a:cs typeface="Consolas" pitchFamily="34" charset="-120"/>
              </a:rPr>
              <a:t>WHAT'S NEXT</a:t>
            </a:r>
            <a:endParaRPr lang="en-US" sz="1100" dirty="0"/>
          </a:p>
        </p:txBody>
      </p:sp>
      <p:sp>
        <p:nvSpPr>
          <p:cNvPr id="4" name="Text 2"/>
          <p:cNvSpPr/>
          <p:nvPr/>
        </p:nvSpPr>
        <p:spPr>
          <a:xfrm>
            <a:off x="640080" y="68580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Another 90 minutes gets you v0.2.</a:t>
            </a:r>
            <a:endParaRPr lang="en-US" sz="2200" dirty="0"/>
          </a:p>
        </p:txBody>
      </p:sp>
      <p:sp>
        <p:nvSpPr>
          <p:cNvPr id="5" name="Shape 3"/>
          <p:cNvSpPr/>
          <p:nvPr/>
        </p:nvSpPr>
        <p:spPr>
          <a:xfrm>
            <a:off x="640080" y="1371600"/>
            <a:ext cx="7863840" cy="713232"/>
          </a:xfrm>
          <a:prstGeom prst="rect">
            <a:avLst/>
          </a:prstGeom>
          <a:solidFill>
            <a:srgbClr val="1A1A2E"/>
          </a:solidFill>
          <a:ln/>
        </p:spPr>
      </p:sp>
      <p:pic>
        <p:nvPicPr>
          <p:cNvPr id="6" name="Image 0" descr="preencoded.png">    </p:cNvPr>
          <p:cNvPicPr>
            <a:picLocks noChangeAspect="1"/>
          </p:cNvPicPr>
          <p:nvPr/>
        </p:nvPicPr>
        <p:blipFill>
          <a:blip r:embed="rId1"/>
          <a:stretch>
            <a:fillRect/>
          </a:stretch>
        </p:blipFill>
        <p:spPr>
          <a:xfrm>
            <a:off x="822960" y="1572768"/>
            <a:ext cx="182880" cy="182880"/>
          </a:xfrm>
          <a:prstGeom prst="rect">
            <a:avLst/>
          </a:prstGeom>
        </p:spPr>
      </p:pic>
      <p:sp>
        <p:nvSpPr>
          <p:cNvPr id="7" name="Text 4"/>
          <p:cNvSpPr/>
          <p:nvPr/>
        </p:nvSpPr>
        <p:spPr>
          <a:xfrm>
            <a:off x="1188720" y="1417320"/>
            <a:ext cx="7132320" cy="2560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Run 100 of each persona</a:t>
            </a:r>
            <a:endParaRPr lang="en-US" sz="1400" dirty="0"/>
          </a:p>
        </p:txBody>
      </p:sp>
      <p:sp>
        <p:nvSpPr>
          <p:cNvPr id="8" name="Text 5"/>
          <p:cNvSpPr/>
          <p:nvPr/>
        </p:nvSpPr>
        <p:spPr>
          <a:xfrm>
            <a:off x="1188720" y="1719072"/>
            <a:ext cx="7132320" cy="27432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Same cost as a coffee. "73% of Richards defected by Month 6." Narratives become distributions.</a:t>
            </a:r>
            <a:endParaRPr lang="en-US" sz="1100" dirty="0"/>
          </a:p>
        </p:txBody>
      </p:sp>
      <p:sp>
        <p:nvSpPr>
          <p:cNvPr id="9" name="Shape 6"/>
          <p:cNvSpPr/>
          <p:nvPr/>
        </p:nvSpPr>
        <p:spPr>
          <a:xfrm>
            <a:off x="640080" y="2240280"/>
            <a:ext cx="7863840" cy="713232"/>
          </a:xfrm>
          <a:prstGeom prst="rect">
            <a:avLst/>
          </a:prstGeom>
          <a:solidFill>
            <a:srgbClr val="1A1A2E"/>
          </a:solidFill>
          <a:ln/>
        </p:spPr>
      </p:sp>
      <p:pic>
        <p:nvPicPr>
          <p:cNvPr id="10" name="Image 1" descr="preencoded.png">    </p:cNvPr>
          <p:cNvPicPr>
            <a:picLocks noChangeAspect="1"/>
          </p:cNvPicPr>
          <p:nvPr/>
        </p:nvPicPr>
        <p:blipFill>
          <a:blip r:embed="rId2"/>
          <a:stretch>
            <a:fillRect/>
          </a:stretch>
        </p:blipFill>
        <p:spPr>
          <a:xfrm>
            <a:off x="822960" y="2441448"/>
            <a:ext cx="182880" cy="182880"/>
          </a:xfrm>
          <a:prstGeom prst="rect">
            <a:avLst/>
          </a:prstGeom>
        </p:spPr>
      </p:pic>
      <p:sp>
        <p:nvSpPr>
          <p:cNvPr id="11" name="Text 7"/>
          <p:cNvSpPr/>
          <p:nvPr/>
        </p:nvSpPr>
        <p:spPr>
          <a:xfrm>
            <a:off x="1188720" y="2286000"/>
            <a:ext cx="7132320" cy="2560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Rich qualitative interviews</a:t>
            </a:r>
            <a:endParaRPr lang="en-US" sz="1400" dirty="0"/>
          </a:p>
        </p:txBody>
      </p:sp>
      <p:sp>
        <p:nvSpPr>
          <p:cNvPr id="12" name="Text 8"/>
          <p:cNvSpPr/>
          <p:nvPr/>
        </p:nvSpPr>
        <p:spPr>
          <a:xfrm>
            <a:off x="1188720" y="2587752"/>
            <a:ext cx="7132320" cy="27432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Monthly check-ins with pull quotes, emotional arcs — the moments that make leadership lean forward.</a:t>
            </a:r>
            <a:endParaRPr lang="en-US" sz="1100" dirty="0"/>
          </a:p>
        </p:txBody>
      </p:sp>
      <p:sp>
        <p:nvSpPr>
          <p:cNvPr id="13" name="Shape 9"/>
          <p:cNvSpPr/>
          <p:nvPr/>
        </p:nvSpPr>
        <p:spPr>
          <a:xfrm>
            <a:off x="640080" y="3108960"/>
            <a:ext cx="7863840" cy="713232"/>
          </a:xfrm>
          <a:prstGeom prst="rect">
            <a:avLst/>
          </a:prstGeom>
          <a:solidFill>
            <a:srgbClr val="1A1A2E"/>
          </a:solidFill>
          <a:ln/>
        </p:spPr>
      </p:sp>
      <p:pic>
        <p:nvPicPr>
          <p:cNvPr id="14" name="Image 2" descr="preencoded.png">    </p:cNvPr>
          <p:cNvPicPr>
            <a:picLocks noChangeAspect="1"/>
          </p:cNvPicPr>
          <p:nvPr/>
        </p:nvPicPr>
        <p:blipFill>
          <a:blip r:embed="rId3"/>
          <a:stretch>
            <a:fillRect/>
          </a:stretch>
        </p:blipFill>
        <p:spPr>
          <a:xfrm>
            <a:off x="822960" y="3310128"/>
            <a:ext cx="182880" cy="182880"/>
          </a:xfrm>
          <a:prstGeom prst="rect">
            <a:avLst/>
          </a:prstGeom>
        </p:spPr>
      </p:pic>
      <p:sp>
        <p:nvSpPr>
          <p:cNvPr id="15" name="Text 10"/>
          <p:cNvSpPr/>
          <p:nvPr/>
        </p:nvSpPr>
        <p:spPr>
          <a:xfrm>
            <a:off x="1188720" y="3154680"/>
            <a:ext cx="7132320" cy="2560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Test multiple interventions</a:t>
            </a:r>
            <a:endParaRPr lang="en-US" sz="1400" dirty="0"/>
          </a:p>
        </p:txBody>
      </p:sp>
      <p:sp>
        <p:nvSpPr>
          <p:cNvPr id="16" name="Text 11"/>
          <p:cNvSpPr/>
          <p:nvPr/>
        </p:nvSpPr>
        <p:spPr>
          <a:xfrm>
            <a:off x="1188720" y="3456432"/>
            <a:ext cx="7132320" cy="27432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Chef's table vs. personal outreach vs. new menu launch. A/B test on synthetic users.</a:t>
            </a:r>
            <a:endParaRPr lang="en-US" sz="1100" dirty="0"/>
          </a:p>
        </p:txBody>
      </p:sp>
      <p:sp>
        <p:nvSpPr>
          <p:cNvPr id="17" name="Shape 12"/>
          <p:cNvSpPr/>
          <p:nvPr/>
        </p:nvSpPr>
        <p:spPr>
          <a:xfrm>
            <a:off x="640080" y="3977640"/>
            <a:ext cx="7863840" cy="713232"/>
          </a:xfrm>
          <a:prstGeom prst="rect">
            <a:avLst/>
          </a:prstGeom>
          <a:solidFill>
            <a:srgbClr val="1A1A2E"/>
          </a:solidFill>
          <a:ln/>
        </p:spPr>
      </p:sp>
      <p:pic>
        <p:nvPicPr>
          <p:cNvPr id="18" name="Image 3" descr="preencoded.png">    </p:cNvPr>
          <p:cNvPicPr>
            <a:picLocks noChangeAspect="1"/>
          </p:cNvPicPr>
          <p:nvPr/>
        </p:nvPicPr>
        <p:blipFill>
          <a:blip r:embed="rId4"/>
          <a:stretch>
            <a:fillRect/>
          </a:stretch>
        </p:blipFill>
        <p:spPr>
          <a:xfrm>
            <a:off x="822960" y="4178808"/>
            <a:ext cx="182880" cy="182880"/>
          </a:xfrm>
          <a:prstGeom prst="rect">
            <a:avLst/>
          </a:prstGeom>
        </p:spPr>
      </p:pic>
      <p:sp>
        <p:nvSpPr>
          <p:cNvPr id="19" name="Text 13"/>
          <p:cNvSpPr/>
          <p:nvPr/>
        </p:nvSpPr>
        <p:spPr>
          <a:xfrm>
            <a:off x="1188720" y="4023360"/>
            <a:ext cx="7132320" cy="256032"/>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AI-generated ambient world</a:t>
            </a:r>
            <a:endParaRPr lang="en-US" sz="1400" dirty="0"/>
          </a:p>
        </p:txBody>
      </p:sp>
      <p:sp>
        <p:nvSpPr>
          <p:cNvPr id="20" name="Text 14"/>
          <p:cNvSpPr/>
          <p:nvPr/>
        </p:nvSpPr>
        <p:spPr>
          <a:xfrm>
            <a:off x="1188720" y="4325112"/>
            <a:ext cx="7132320" cy="27432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Reviews, press, social buzz — also synthetic. Personas living in a fully generated world.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sp>
      <p:pic>
        <p:nvPicPr>
          <p:cNvPr id="3" name="Image 0" descr="preencoded.png">    </p:cNvPr>
          <p:cNvPicPr>
            <a:picLocks noChangeAspect="1"/>
          </p:cNvPicPr>
          <p:nvPr/>
        </p:nvPicPr>
        <p:blipFill>
          <a:blip r:embed="rId1"/>
          <a:stretch>
            <a:fillRect/>
          </a:stretch>
        </p:blipFill>
        <p:spPr>
          <a:xfrm>
            <a:off x="4160520" y="914400"/>
            <a:ext cx="548640" cy="548640"/>
          </a:xfrm>
          <a:prstGeom prst="rect">
            <a:avLst/>
          </a:prstGeom>
        </p:spPr>
      </p:pic>
      <p:sp>
        <p:nvSpPr>
          <p:cNvPr id="4" name="Text 1"/>
          <p:cNvSpPr/>
          <p:nvPr/>
        </p:nvSpPr>
        <p:spPr>
          <a:xfrm>
            <a:off x="640080" y="1645920"/>
            <a:ext cx="786384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This is v0.1.</a:t>
            </a:r>
            <a:endParaRPr lang="en-US" sz="3200" dirty="0"/>
          </a:p>
        </p:txBody>
      </p:sp>
      <p:sp>
        <p:nvSpPr>
          <p:cNvPr id="5" name="Text 2"/>
          <p:cNvSpPr/>
          <p:nvPr/>
        </p:nvSpPr>
        <p:spPr>
          <a:xfrm>
            <a:off x="914400" y="2377440"/>
            <a:ext cx="7315200" cy="640080"/>
          </a:xfrm>
          <a:prstGeom prst="rect">
            <a:avLst/>
          </a:prstGeom>
          <a:noFill/>
          <a:ln/>
        </p:spPr>
        <p:txBody>
          <a:bodyPr wrap="square" rtlCol="0" anchor="ctr"/>
          <a:lstStyle/>
          <a:p>
            <a:pPr algn="ctr" indent="0" marL="0">
              <a:lnSpc>
                <a:spcPct val="140000"/>
              </a:lnSpc>
              <a:buNone/>
            </a:pPr>
            <a:r>
              <a:rPr lang="en-US" sz="1800" dirty="0">
                <a:solidFill>
                  <a:srgbClr val="888888"/>
                </a:solidFill>
                <a:latin typeface="Calibri" pitchFamily="34" charset="0"/>
                <a:ea typeface="Calibri" pitchFamily="34" charset="-122"/>
                <a:cs typeface="Calibri" pitchFamily="34" charset="-120"/>
              </a:rPr>
              <a:t>The question isn't whether the methodology</a:t>
            </a:r>
            <a:endParaRPr lang="en-US" sz="1800" dirty="0"/>
          </a:p>
          <a:p>
            <a:pPr algn="ctr" indent="0" marL="0">
              <a:lnSpc>
                <a:spcPct val="140000"/>
              </a:lnSpc>
              <a:buNone/>
            </a:pPr>
            <a:r>
              <a:rPr lang="en-US" sz="1800" dirty="0">
                <a:solidFill>
                  <a:srgbClr val="888888"/>
                </a:solidFill>
                <a:latin typeface="Calibri" pitchFamily="34" charset="0"/>
                <a:ea typeface="Calibri" pitchFamily="34" charset="-122"/>
                <a:cs typeface="Calibri" pitchFamily="34" charset="-120"/>
              </a:rPr>
              <a:t>is production-ready.</a:t>
            </a:r>
            <a:endParaRPr lang="en-US" sz="1800" dirty="0"/>
          </a:p>
        </p:txBody>
      </p:sp>
      <p:sp>
        <p:nvSpPr>
          <p:cNvPr id="6" name="Text 3"/>
          <p:cNvSpPr/>
          <p:nvPr/>
        </p:nvSpPr>
        <p:spPr>
          <a:xfrm>
            <a:off x="914400" y="3200400"/>
            <a:ext cx="7315200" cy="640080"/>
          </a:xfrm>
          <a:prstGeom prst="rect">
            <a:avLst/>
          </a:prstGeom>
          <a:noFill/>
          <a:ln/>
        </p:spPr>
        <p:txBody>
          <a:bodyPr wrap="square" rtlCol="0" anchor="ctr"/>
          <a:lstStyle/>
          <a:p>
            <a:pPr algn="ctr" indent="0" marL="0">
              <a:lnSpc>
                <a:spcPct val="130000"/>
              </a:lnSpc>
              <a:buNone/>
            </a:pPr>
            <a:r>
              <a:rPr lang="en-US" sz="2000" dirty="0">
                <a:solidFill>
                  <a:srgbClr val="D4A843"/>
                </a:solidFill>
                <a:latin typeface="Georgia" pitchFamily="34" charset="0"/>
                <a:ea typeface="Georgia" pitchFamily="34" charset="-122"/>
                <a:cs typeface="Georgia" pitchFamily="34" charset="-120"/>
              </a:rPr>
              <a:t>The question is whether the capability</a:t>
            </a:r>
            <a:endParaRPr lang="en-US" sz="2000" dirty="0"/>
          </a:p>
          <a:p>
            <a:pPr algn="ctr" indent="0" marL="0">
              <a:lnSpc>
                <a:spcPct val="130000"/>
              </a:lnSpc>
              <a:buNone/>
            </a:pPr>
            <a:r>
              <a:rPr lang="en-US" sz="2000" dirty="0">
                <a:solidFill>
                  <a:srgbClr val="D4A843"/>
                </a:solidFill>
                <a:latin typeface="Georgia" pitchFamily="34" charset="0"/>
                <a:ea typeface="Georgia" pitchFamily="34" charset="-122"/>
                <a:cs typeface="Georgia" pitchFamily="34" charset="-120"/>
              </a:rPr>
              <a:t>is worth investing in.</a:t>
            </a:r>
            <a:endParaRPr lang="en-US" sz="2000" dirty="0"/>
          </a:p>
        </p:txBody>
      </p:sp>
      <p:sp>
        <p:nvSpPr>
          <p:cNvPr id="7" name="Shape 4"/>
          <p:cNvSpPr/>
          <p:nvPr/>
        </p:nvSpPr>
        <p:spPr>
          <a:xfrm>
            <a:off x="0" y="4206240"/>
            <a:ext cx="9144000" cy="937260"/>
          </a:xfrm>
          <a:prstGeom prst="rect">
            <a:avLst/>
          </a:prstGeom>
          <a:solidFill>
            <a:srgbClr val="1A1A2E"/>
          </a:solidFill>
          <a:ln/>
        </p:spPr>
      </p:sp>
      <p:sp>
        <p:nvSpPr>
          <p:cNvPr id="8" name="Text 5"/>
          <p:cNvSpPr/>
          <p:nvPr/>
        </p:nvSpPr>
        <p:spPr>
          <a:xfrm>
            <a:off x="457200" y="4343400"/>
            <a:ext cx="8229600" cy="640080"/>
          </a:xfrm>
          <a:prstGeom prst="rect">
            <a:avLst/>
          </a:prstGeom>
          <a:noFill/>
          <a:ln/>
        </p:spPr>
        <p:txBody>
          <a:bodyPr wrap="square" rtlCol="0" anchor="ctr"/>
          <a:lstStyle/>
          <a:p>
            <a:pPr algn="ctr" indent="0" marL="0">
              <a:buNone/>
            </a:pPr>
            <a:r>
              <a:rPr lang="en-US" sz="1100" dirty="0">
                <a:solidFill>
                  <a:srgbClr val="888888"/>
                </a:solidFill>
                <a:latin typeface="Calibri" pitchFamily="34" charset="0"/>
                <a:ea typeface="Calibri" pitchFamily="34" charset="-122"/>
                <a:cs typeface="Calibri" pitchFamily="34" charset="-120"/>
              </a:rPr>
              <a:t>90 minutes  ·  $0.10  ·  5 personas  ·  12 months  ·  5 differentiated hypotheses  ·  1 independently validated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0F1A"/>
        </a:solidFill>
      </p:bgPr>
    </p:bg>
    <p:spTree>
      <p:nvGrpSpPr>
        <p:cNvPr id="1" name=""/>
        <p:cNvGrpSpPr/>
        <p:nvPr/>
      </p:nvGrpSpPr>
      <p:grpSpPr>
        <a:xfrm>
          <a:off x="0" y="0"/>
          <a:ext cx="0" cy="0"/>
          <a:chOff x="0" y="0"/>
          <a:chExt cx="0" cy="0"/>
        </a:xfrm>
      </p:grpSpPr>
      <p:sp>
        <p:nvSpPr>
          <p:cNvPr id="2" name="Text 0"/>
          <p:cNvSpPr/>
          <p:nvPr/>
        </p:nvSpPr>
        <p:spPr>
          <a:xfrm>
            <a:off x="640080" y="228600"/>
            <a:ext cx="2743200" cy="274320"/>
          </a:xfrm>
          <a:prstGeom prst="rect">
            <a:avLst/>
          </a:prstGeom>
          <a:noFill/>
          <a:ln/>
        </p:spPr>
        <p:txBody>
          <a:bodyPr wrap="square" lIns="0" tIns="0" rIns="0" bIns="0" rtlCol="0" anchor="ctr"/>
          <a:lstStyle/>
          <a:p>
            <a:pPr indent="0" marL="0">
              <a:buNone/>
            </a:pPr>
            <a:r>
              <a:rPr lang="en-US" sz="900" spc="300" kern="0" dirty="0">
                <a:solidFill>
                  <a:srgbClr val="888888"/>
                </a:solidFill>
                <a:latin typeface="Calibri" pitchFamily="34" charset="0"/>
                <a:ea typeface="Calibri" pitchFamily="34" charset="-122"/>
                <a:cs typeface="Calibri" pitchFamily="34" charset="-120"/>
              </a:rPr>
              <a:t>APPENDIX</a:t>
            </a:r>
            <a:endParaRPr lang="en-US" sz="900" dirty="0"/>
          </a:p>
        </p:txBody>
      </p:sp>
      <p:sp>
        <p:nvSpPr>
          <p:cNvPr id="3" name="Text 1"/>
          <p:cNvSpPr/>
          <p:nvPr/>
        </p:nvSpPr>
        <p:spPr>
          <a:xfrm>
            <a:off x="640080" y="502920"/>
            <a:ext cx="8229600" cy="731520"/>
          </a:xfrm>
          <a:prstGeom prst="rect">
            <a:avLst/>
          </a:prstGeom>
          <a:noFill/>
          <a:ln/>
        </p:spPr>
        <p:txBody>
          <a:bodyPr wrap="square" lIns="0" tIns="0" rIns="0" bIns="0" rtlCol="0" anchor="ctr"/>
          <a:lstStyle/>
          <a:p>
            <a:pPr indent="0" marL="0">
              <a:lnSpc>
                <a:spcPct val="115000"/>
              </a:lnSpc>
              <a:buNone/>
            </a:pPr>
            <a:r>
              <a:rPr lang="en-US" sz="2000" b="1" dirty="0">
                <a:solidFill>
                  <a:srgbClr val="FFFFFF"/>
                </a:solidFill>
                <a:latin typeface="Georgia" pitchFamily="34" charset="0"/>
                <a:ea typeface="Georgia" pitchFamily="34" charset="-122"/>
                <a:cs typeface="Georgia" pitchFamily="34" charset="-120"/>
              </a:rPr>
              <a:t>What we had to explicitly tell the AI</a:t>
            </a:r>
            <a:endParaRPr lang="en-US" sz="2000" dirty="0"/>
          </a:p>
          <a:p>
            <a:pPr indent="0" marL="0">
              <a:lnSpc>
                <a:spcPct val="115000"/>
              </a:lnSpc>
              <a:buNone/>
            </a:pPr>
            <a:r>
              <a:rPr lang="en-US" sz="2000" b="1" dirty="0">
                <a:solidFill>
                  <a:srgbClr val="FFFFFF"/>
                </a:solidFill>
                <a:latin typeface="Georgia" pitchFamily="34" charset="0"/>
                <a:ea typeface="Georgia" pitchFamily="34" charset="-122"/>
                <a:cs typeface="Georgia" pitchFamily="34" charset="-120"/>
              </a:rPr>
              <a:t>(and what it would have gotten wrong without us)</a:t>
            </a:r>
            <a:endParaRPr lang="en-US" sz="2000" dirty="0"/>
          </a:p>
        </p:txBody>
      </p:sp>
      <p:sp>
        <p:nvSpPr>
          <p:cNvPr id="4" name="Shape 2"/>
          <p:cNvSpPr/>
          <p:nvPr/>
        </p:nvSpPr>
        <p:spPr>
          <a:xfrm>
            <a:off x="640080" y="1417320"/>
            <a:ext cx="45720" cy="347472"/>
          </a:xfrm>
          <a:prstGeom prst="rect">
            <a:avLst/>
          </a:prstGeom>
          <a:solidFill>
            <a:srgbClr val="D4A843"/>
          </a:solidFill>
          <a:ln/>
        </p:spPr>
      </p:sp>
      <p:sp>
        <p:nvSpPr>
          <p:cNvPr id="5" name="Text 3"/>
          <p:cNvSpPr/>
          <p:nvPr/>
        </p:nvSpPr>
        <p:spPr>
          <a:xfrm>
            <a:off x="868680" y="1417320"/>
            <a:ext cx="2286000" cy="347472"/>
          </a:xfrm>
          <a:prstGeom prst="rect">
            <a:avLst/>
          </a:prstGeom>
          <a:noFill/>
          <a:ln/>
        </p:spPr>
        <p:txBody>
          <a:bodyPr wrap="square" lIns="0" tIns="0" rIns="0" bIns="0" rtlCol="0" anchor="ctr"/>
          <a:lstStyle/>
          <a:p>
            <a:pPr indent="0" marL="0">
              <a:buNone/>
            </a:pPr>
            <a:r>
              <a:rPr lang="en-US" sz="1100" b="1" dirty="0">
                <a:solidFill>
                  <a:srgbClr val="D4A843"/>
                </a:solidFill>
                <a:latin typeface="Georgia" pitchFamily="34" charset="0"/>
                <a:ea typeface="Georgia" pitchFamily="34" charset="-122"/>
                <a:cs typeface="Georgia" pitchFamily="34" charset="-120"/>
              </a:rPr>
              <a:t>Blinded personas</a:t>
            </a:r>
            <a:endParaRPr lang="en-US" sz="1100" dirty="0"/>
          </a:p>
        </p:txBody>
      </p:sp>
      <p:sp>
        <p:nvSpPr>
          <p:cNvPr id="6" name="Text 4"/>
          <p:cNvSpPr/>
          <p:nvPr/>
        </p:nvSpPr>
        <p:spPr>
          <a:xfrm>
            <a:off x="3200400" y="1417320"/>
            <a:ext cx="5486400" cy="347472"/>
          </a:xfrm>
          <a:prstGeom prst="rect">
            <a:avLst/>
          </a:prstGeom>
          <a:noFill/>
          <a:ln/>
        </p:spPr>
        <p:txBody>
          <a:bodyPr wrap="square" lIns="0" tIns="0" rIns="0" bIns="0" rtlCol="0" anchor="ctr"/>
          <a:lstStyle/>
          <a:p>
            <a:pPr indent="0" marL="0">
              <a:buNone/>
            </a:pPr>
            <a:r>
              <a:rPr lang="en-US" sz="1000" dirty="0">
                <a:solidFill>
                  <a:srgbClr val="CCCCCC"/>
                </a:solidFill>
                <a:latin typeface="Calibri" pitchFamily="34" charset="0"/>
                <a:ea typeface="Calibri" pitchFamily="34" charset="-122"/>
                <a:cs typeface="Calibri" pitchFamily="34" charset="-120"/>
              </a:rPr>
              <a:t>Run as Persona 1–5 with only behavioral variables. Names/genders/demographics assigned after. The AI can’t stereotype what it can’t see.</a:t>
            </a:r>
            <a:endParaRPr lang="en-US" sz="1000" dirty="0"/>
          </a:p>
        </p:txBody>
      </p:sp>
      <p:sp>
        <p:nvSpPr>
          <p:cNvPr id="7" name="Shape 5"/>
          <p:cNvSpPr/>
          <p:nvPr/>
        </p:nvSpPr>
        <p:spPr>
          <a:xfrm>
            <a:off x="640080" y="1865376"/>
            <a:ext cx="45720" cy="347472"/>
          </a:xfrm>
          <a:prstGeom prst="rect">
            <a:avLst/>
          </a:prstGeom>
          <a:solidFill>
            <a:srgbClr val="D4A843"/>
          </a:solidFill>
          <a:ln/>
        </p:spPr>
      </p:sp>
      <p:sp>
        <p:nvSpPr>
          <p:cNvPr id="8" name="Text 6"/>
          <p:cNvSpPr/>
          <p:nvPr/>
        </p:nvSpPr>
        <p:spPr>
          <a:xfrm>
            <a:off x="868680" y="1865376"/>
            <a:ext cx="2286000" cy="347472"/>
          </a:xfrm>
          <a:prstGeom prst="rect">
            <a:avLst/>
          </a:prstGeom>
          <a:noFill/>
          <a:ln/>
        </p:spPr>
        <p:txBody>
          <a:bodyPr wrap="square" lIns="0" tIns="0" rIns="0" bIns="0" rtlCol="0" anchor="ctr"/>
          <a:lstStyle/>
          <a:p>
            <a:pPr indent="0" marL="0">
              <a:buNone/>
            </a:pPr>
            <a:r>
              <a:rPr lang="en-US" sz="1100" b="1" dirty="0">
                <a:solidFill>
                  <a:srgbClr val="D4A843"/>
                </a:solidFill>
                <a:latin typeface="Georgia" pitchFamily="34" charset="0"/>
                <a:ea typeface="Georgia" pitchFamily="34" charset="-122"/>
                <a:cs typeface="Georgia" pitchFamily="34" charset="-120"/>
              </a:rPr>
              <a:t>The food hasn’t changed</a:t>
            </a:r>
            <a:endParaRPr lang="en-US" sz="1100" dirty="0"/>
          </a:p>
        </p:txBody>
      </p:sp>
      <p:sp>
        <p:nvSpPr>
          <p:cNvPr id="9" name="Text 7"/>
          <p:cNvSpPr/>
          <p:nvPr/>
        </p:nvSpPr>
        <p:spPr>
          <a:xfrm>
            <a:off x="3200400" y="1865376"/>
            <a:ext cx="5486400" cy="347472"/>
          </a:xfrm>
          <a:prstGeom prst="rect">
            <a:avLst/>
          </a:prstGeom>
          <a:noFill/>
          <a:ln/>
        </p:spPr>
        <p:txBody>
          <a:bodyPr wrap="square" lIns="0" tIns="0" rIns="0" bIns="0" rtlCol="0" anchor="ctr"/>
          <a:lstStyle/>
          <a:p>
            <a:pPr indent="0" marL="0">
              <a:buNone/>
            </a:pPr>
            <a:r>
              <a:rPr lang="en-US" sz="1000" dirty="0">
                <a:solidFill>
                  <a:srgbClr val="CCCCCC"/>
                </a:solidFill>
                <a:latin typeface="Calibri" pitchFamily="34" charset="0"/>
                <a:ea typeface="Calibri" pitchFamily="34" charset="-122"/>
                <a:cs typeface="Calibri" pitchFamily="34" charset="-120"/>
              </a:rPr>
              <a:t>Must state explicitly and repeatedly. Without it, the LLM invents quality decline to justify the star loss. The thesis is: only the signal changed.</a:t>
            </a:r>
            <a:endParaRPr lang="en-US" sz="1000" dirty="0"/>
          </a:p>
        </p:txBody>
      </p:sp>
      <p:sp>
        <p:nvSpPr>
          <p:cNvPr id="10" name="Shape 8"/>
          <p:cNvSpPr/>
          <p:nvPr/>
        </p:nvSpPr>
        <p:spPr>
          <a:xfrm>
            <a:off x="640080" y="2313432"/>
            <a:ext cx="45720" cy="347472"/>
          </a:xfrm>
          <a:prstGeom prst="rect">
            <a:avLst/>
          </a:prstGeom>
          <a:solidFill>
            <a:srgbClr val="D4A843"/>
          </a:solidFill>
          <a:ln/>
        </p:spPr>
      </p:sp>
      <p:sp>
        <p:nvSpPr>
          <p:cNvPr id="11" name="Text 9"/>
          <p:cNvSpPr/>
          <p:nvPr/>
        </p:nvSpPr>
        <p:spPr>
          <a:xfrm>
            <a:off x="868680" y="2313432"/>
            <a:ext cx="2286000" cy="347472"/>
          </a:xfrm>
          <a:prstGeom prst="rect">
            <a:avLst/>
          </a:prstGeom>
          <a:noFill/>
          <a:ln/>
        </p:spPr>
        <p:txBody>
          <a:bodyPr wrap="square" lIns="0" tIns="0" rIns="0" bIns="0" rtlCol="0" anchor="ctr"/>
          <a:lstStyle/>
          <a:p>
            <a:pPr indent="0" marL="0">
              <a:buNone/>
            </a:pPr>
            <a:r>
              <a:rPr lang="en-US" sz="1100" b="1" dirty="0">
                <a:solidFill>
                  <a:srgbClr val="D4A843"/>
                </a:solidFill>
                <a:latin typeface="Georgia" pitchFamily="34" charset="0"/>
                <a:ea typeface="Georgia" pitchFamily="34" charset="-122"/>
                <a:cs typeface="Georgia" pitchFamily="34" charset="-120"/>
              </a:rPr>
              <a:t>Price insensitive</a:t>
            </a:r>
            <a:endParaRPr lang="en-US" sz="1100" dirty="0"/>
          </a:p>
        </p:txBody>
      </p:sp>
      <p:sp>
        <p:nvSpPr>
          <p:cNvPr id="12" name="Text 10"/>
          <p:cNvSpPr/>
          <p:nvPr/>
        </p:nvSpPr>
        <p:spPr>
          <a:xfrm>
            <a:off x="3200400" y="2313432"/>
            <a:ext cx="5486400" cy="347472"/>
          </a:xfrm>
          <a:prstGeom prst="rect">
            <a:avLst/>
          </a:prstGeom>
          <a:noFill/>
          <a:ln/>
        </p:spPr>
        <p:txBody>
          <a:bodyPr wrap="square" lIns="0" tIns="0" rIns="0" bIns="0" rtlCol="0" anchor="ctr"/>
          <a:lstStyle/>
          <a:p>
            <a:pPr indent="0" marL="0">
              <a:buNone/>
            </a:pPr>
            <a:r>
              <a:rPr lang="en-US" sz="1000" dirty="0">
                <a:solidFill>
                  <a:srgbClr val="CCCCCC"/>
                </a:solidFill>
                <a:latin typeface="Calibri" pitchFamily="34" charset="0"/>
                <a:ea typeface="Calibri" pitchFamily="34" charset="-122"/>
                <a:cs typeface="Calibri" pitchFamily="34" charset="-120"/>
              </a:rPr>
              <a:t>Without this, the LLM introduces cost reasoning. “Is £300 worth it?” is not an interesting question here.</a:t>
            </a:r>
            <a:endParaRPr lang="en-US" sz="1000" dirty="0"/>
          </a:p>
        </p:txBody>
      </p:sp>
      <p:sp>
        <p:nvSpPr>
          <p:cNvPr id="13" name="Shape 11"/>
          <p:cNvSpPr/>
          <p:nvPr/>
        </p:nvSpPr>
        <p:spPr>
          <a:xfrm>
            <a:off x="640080" y="2761488"/>
            <a:ext cx="45720" cy="347472"/>
          </a:xfrm>
          <a:prstGeom prst="rect">
            <a:avLst/>
          </a:prstGeom>
          <a:solidFill>
            <a:srgbClr val="D4A843"/>
          </a:solidFill>
          <a:ln/>
        </p:spPr>
      </p:sp>
      <p:sp>
        <p:nvSpPr>
          <p:cNvPr id="14" name="Text 12"/>
          <p:cNvSpPr/>
          <p:nvPr/>
        </p:nvSpPr>
        <p:spPr>
          <a:xfrm>
            <a:off x="868680" y="2761488"/>
            <a:ext cx="2286000" cy="347472"/>
          </a:xfrm>
          <a:prstGeom prst="rect">
            <a:avLst/>
          </a:prstGeom>
          <a:noFill/>
          <a:ln/>
        </p:spPr>
        <p:txBody>
          <a:bodyPr wrap="square" lIns="0" tIns="0" rIns="0" bIns="0" rtlCol="0" anchor="ctr"/>
          <a:lstStyle/>
          <a:p>
            <a:pPr indent="0" marL="0">
              <a:buNone/>
            </a:pPr>
            <a:r>
              <a:rPr lang="en-US" sz="1100" b="1" dirty="0">
                <a:solidFill>
                  <a:srgbClr val="D4A843"/>
                </a:solidFill>
                <a:latin typeface="Georgia" pitchFamily="34" charset="0"/>
                <a:ea typeface="Georgia" pitchFamily="34" charset="-122"/>
                <a:cs typeface="Georgia" pitchFamily="34" charset="-120"/>
              </a:rPr>
              <a:t>Default to RGR</a:t>
            </a:r>
            <a:endParaRPr lang="en-US" sz="1100" dirty="0"/>
          </a:p>
        </p:txBody>
      </p:sp>
      <p:sp>
        <p:nvSpPr>
          <p:cNvPr id="15" name="Text 13"/>
          <p:cNvSpPr/>
          <p:nvPr/>
        </p:nvSpPr>
        <p:spPr>
          <a:xfrm>
            <a:off x="3200400" y="2761488"/>
            <a:ext cx="5486400" cy="347472"/>
          </a:xfrm>
          <a:prstGeom prst="rect">
            <a:avLst/>
          </a:prstGeom>
          <a:noFill/>
          <a:ln/>
        </p:spPr>
        <p:txBody>
          <a:bodyPr wrap="square" lIns="0" tIns="0" rIns="0" bIns="0" rtlCol="0" anchor="ctr"/>
          <a:lstStyle/>
          <a:p>
            <a:pPr indent="0" marL="0">
              <a:buNone/>
            </a:pPr>
            <a:r>
              <a:rPr lang="en-US" sz="1000" dirty="0">
                <a:solidFill>
                  <a:srgbClr val="CCCCCC"/>
                </a:solidFill>
                <a:latin typeface="Calibri" pitchFamily="34" charset="0"/>
                <a:ea typeface="Calibri" pitchFamily="34" charset="-122"/>
                <a:cs typeface="Calibri" pitchFamily="34" charset="-120"/>
              </a:rPr>
              <a:t>Without this, the LLM treats each month as a fresh evaluation. Real loyalty is inertia — what does it take to overcome the default?</a:t>
            </a:r>
            <a:endParaRPr lang="en-US" sz="1000" dirty="0"/>
          </a:p>
        </p:txBody>
      </p:sp>
      <p:sp>
        <p:nvSpPr>
          <p:cNvPr id="16" name="Shape 14"/>
          <p:cNvSpPr/>
          <p:nvPr/>
        </p:nvSpPr>
        <p:spPr>
          <a:xfrm>
            <a:off x="640080" y="3209544"/>
            <a:ext cx="45720" cy="347472"/>
          </a:xfrm>
          <a:prstGeom prst="rect">
            <a:avLst/>
          </a:prstGeom>
          <a:solidFill>
            <a:srgbClr val="D4A843"/>
          </a:solidFill>
          <a:ln/>
        </p:spPr>
      </p:sp>
      <p:sp>
        <p:nvSpPr>
          <p:cNvPr id="17" name="Text 15"/>
          <p:cNvSpPr/>
          <p:nvPr/>
        </p:nvSpPr>
        <p:spPr>
          <a:xfrm>
            <a:off x="868680" y="3209544"/>
            <a:ext cx="2286000" cy="347472"/>
          </a:xfrm>
          <a:prstGeom prst="rect">
            <a:avLst/>
          </a:prstGeom>
          <a:noFill/>
          <a:ln/>
        </p:spPr>
        <p:txBody>
          <a:bodyPr wrap="square" lIns="0" tIns="0" rIns="0" bIns="0" rtlCol="0" anchor="ctr"/>
          <a:lstStyle/>
          <a:p>
            <a:pPr indent="0" marL="0">
              <a:buNone/>
            </a:pPr>
            <a:r>
              <a:rPr lang="en-US" sz="1100" b="1" dirty="0">
                <a:solidFill>
                  <a:srgbClr val="D4A843"/>
                </a:solidFill>
                <a:latin typeface="Georgia" pitchFamily="34" charset="0"/>
                <a:ea typeface="Georgia" pitchFamily="34" charset="-122"/>
                <a:cs typeface="Georgia" pitchFamily="34" charset="-120"/>
              </a:rPr>
              <a:t>No judgment on fine dining</a:t>
            </a:r>
            <a:endParaRPr lang="en-US" sz="1100" dirty="0"/>
          </a:p>
        </p:txBody>
      </p:sp>
      <p:sp>
        <p:nvSpPr>
          <p:cNvPr id="18" name="Text 16"/>
          <p:cNvSpPr/>
          <p:nvPr/>
        </p:nvSpPr>
        <p:spPr>
          <a:xfrm>
            <a:off x="3200400" y="3209544"/>
            <a:ext cx="5486400" cy="347472"/>
          </a:xfrm>
          <a:prstGeom prst="rect">
            <a:avLst/>
          </a:prstGeom>
          <a:noFill/>
          <a:ln/>
        </p:spPr>
        <p:txBody>
          <a:bodyPr wrap="square" lIns="0" tIns="0" rIns="0" bIns="0" rtlCol="0" anchor="ctr"/>
          <a:lstStyle/>
          <a:p>
            <a:pPr indent="0" marL="0">
              <a:buNone/>
            </a:pPr>
            <a:r>
              <a:rPr lang="en-US" sz="1000" dirty="0">
                <a:solidFill>
                  <a:srgbClr val="CCCCCC"/>
                </a:solidFill>
                <a:latin typeface="Calibri" pitchFamily="34" charset="0"/>
                <a:ea typeface="Calibri" pitchFamily="34" charset="-122"/>
                <a:cs typeface="Calibri" pitchFamily="34" charset="-120"/>
              </a:rPr>
              <a:t>Without this, the LLM questions whether eating out monthly is “worth it.” That’s not the experiment.</a:t>
            </a:r>
            <a:endParaRPr lang="en-US" sz="1000" dirty="0"/>
          </a:p>
        </p:txBody>
      </p:sp>
      <p:sp>
        <p:nvSpPr>
          <p:cNvPr id="19" name="Shape 17"/>
          <p:cNvSpPr/>
          <p:nvPr/>
        </p:nvSpPr>
        <p:spPr>
          <a:xfrm>
            <a:off x="640080" y="3657600"/>
            <a:ext cx="45720" cy="347472"/>
          </a:xfrm>
          <a:prstGeom prst="rect">
            <a:avLst/>
          </a:prstGeom>
          <a:solidFill>
            <a:srgbClr val="D4A843"/>
          </a:solidFill>
          <a:ln/>
        </p:spPr>
      </p:sp>
      <p:sp>
        <p:nvSpPr>
          <p:cNvPr id="20" name="Text 18"/>
          <p:cNvSpPr/>
          <p:nvPr/>
        </p:nvSpPr>
        <p:spPr>
          <a:xfrm>
            <a:off x="868680" y="3657600"/>
            <a:ext cx="2286000" cy="347472"/>
          </a:xfrm>
          <a:prstGeom prst="rect">
            <a:avLst/>
          </a:prstGeom>
          <a:noFill/>
          <a:ln/>
        </p:spPr>
        <p:txBody>
          <a:bodyPr wrap="square" lIns="0" tIns="0" rIns="0" bIns="0" rtlCol="0" anchor="ctr"/>
          <a:lstStyle/>
          <a:p>
            <a:pPr indent="0" marL="0">
              <a:buNone/>
            </a:pPr>
            <a:r>
              <a:rPr lang="en-US" sz="1100" b="1" dirty="0">
                <a:solidFill>
                  <a:srgbClr val="D4A843"/>
                </a:solidFill>
                <a:latin typeface="Georgia" pitchFamily="34" charset="0"/>
                <a:ea typeface="Georgia" pitchFamily="34" charset="-122"/>
                <a:cs typeface="Georgia" pitchFamily="34" charset="-120"/>
              </a:rPr>
              <a:t>Same world, different eyes</a:t>
            </a:r>
            <a:endParaRPr lang="en-US" sz="1100" dirty="0"/>
          </a:p>
        </p:txBody>
      </p:sp>
      <p:sp>
        <p:nvSpPr>
          <p:cNvPr id="21" name="Text 19"/>
          <p:cNvSpPr/>
          <p:nvPr/>
        </p:nvSpPr>
        <p:spPr>
          <a:xfrm>
            <a:off x="3200400" y="3657600"/>
            <a:ext cx="5486400" cy="347472"/>
          </a:xfrm>
          <a:prstGeom prst="rect">
            <a:avLst/>
          </a:prstGeom>
          <a:noFill/>
          <a:ln/>
        </p:spPr>
        <p:txBody>
          <a:bodyPr wrap="square" lIns="0" tIns="0" rIns="0" bIns="0" rtlCol="0" anchor="ctr"/>
          <a:lstStyle/>
          <a:p>
            <a:pPr indent="0" marL="0">
              <a:buNone/>
            </a:pPr>
            <a:r>
              <a:rPr lang="en-US" sz="1000" dirty="0">
                <a:solidFill>
                  <a:srgbClr val="CCCCCC"/>
                </a:solidFill>
                <a:latin typeface="Calibri" pitchFamily="34" charset="0"/>
                <a:ea typeface="Calibri" pitchFamily="34" charset="-122"/>
                <a:cs typeface="Calibri" pitchFamily="34" charset="-120"/>
              </a:rPr>
              <a:t>One ambient layer, shared by all personas. They self-select what they notice. We don’t pre-filter based on assumptions about who reads what.</a:t>
            </a:r>
            <a:endParaRPr lang="en-US" sz="1000" dirty="0"/>
          </a:p>
        </p:txBody>
      </p:sp>
      <p:sp>
        <p:nvSpPr>
          <p:cNvPr id="22" name="Shape 20"/>
          <p:cNvSpPr/>
          <p:nvPr/>
        </p:nvSpPr>
        <p:spPr>
          <a:xfrm>
            <a:off x="640080" y="4105656"/>
            <a:ext cx="45720" cy="347472"/>
          </a:xfrm>
          <a:prstGeom prst="rect">
            <a:avLst/>
          </a:prstGeom>
          <a:solidFill>
            <a:srgbClr val="D4A843"/>
          </a:solidFill>
          <a:ln/>
        </p:spPr>
      </p:sp>
      <p:sp>
        <p:nvSpPr>
          <p:cNvPr id="23" name="Text 21"/>
          <p:cNvSpPr/>
          <p:nvPr/>
        </p:nvSpPr>
        <p:spPr>
          <a:xfrm>
            <a:off x="868680" y="4105656"/>
            <a:ext cx="2286000" cy="347472"/>
          </a:xfrm>
          <a:prstGeom prst="rect">
            <a:avLst/>
          </a:prstGeom>
          <a:noFill/>
          <a:ln/>
        </p:spPr>
        <p:txBody>
          <a:bodyPr wrap="square" lIns="0" tIns="0" rIns="0" bIns="0" rtlCol="0" anchor="ctr"/>
          <a:lstStyle/>
          <a:p>
            <a:pPr indent="0" marL="0">
              <a:buNone/>
            </a:pPr>
            <a:r>
              <a:rPr lang="en-US" sz="1100" b="1" dirty="0">
                <a:solidFill>
                  <a:srgbClr val="D4A843"/>
                </a:solidFill>
                <a:latin typeface="Georgia" pitchFamily="34" charset="0"/>
                <a:ea typeface="Georgia" pitchFamily="34" charset="-122"/>
                <a:cs typeface="Georgia" pitchFamily="34" charset="-120"/>
              </a:rPr>
              <a:t>Anti-bias in ambient gen</a:t>
            </a:r>
            <a:endParaRPr lang="en-US" sz="1100" dirty="0"/>
          </a:p>
        </p:txBody>
      </p:sp>
      <p:sp>
        <p:nvSpPr>
          <p:cNvPr id="24" name="Text 22"/>
          <p:cNvSpPr/>
          <p:nvPr/>
        </p:nvSpPr>
        <p:spPr>
          <a:xfrm>
            <a:off x="3200400" y="4105656"/>
            <a:ext cx="5486400" cy="347472"/>
          </a:xfrm>
          <a:prstGeom prst="rect">
            <a:avLst/>
          </a:prstGeom>
          <a:noFill/>
          <a:ln/>
        </p:spPr>
        <p:txBody>
          <a:bodyPr wrap="square" lIns="0" tIns="0" rIns="0" bIns="0" rtlCol="0" anchor="ctr"/>
          <a:lstStyle/>
          <a:p>
            <a:pPr indent="0" marL="0">
              <a:buNone/>
            </a:pPr>
            <a:r>
              <a:rPr lang="en-US" sz="1000" dirty="0">
                <a:solidFill>
                  <a:srgbClr val="CCCCCC"/>
                </a:solidFill>
                <a:latin typeface="Calibri" pitchFamily="34" charset="0"/>
                <a:ea typeface="Calibri" pitchFamily="34" charset="-122"/>
                <a:cs typeface="Calibri" pitchFamily="34" charset="-120"/>
              </a:rPr>
              <a:t>Explicit instruction: no gendered assumptions about who reads reviews, uses social media, or makes dining decisions in couples.</a:t>
            </a:r>
            <a:endParaRPr lang="en-US" sz="1000" dirty="0"/>
          </a:p>
        </p:txBody>
      </p:sp>
      <p:sp>
        <p:nvSpPr>
          <p:cNvPr id="25" name="Shape 23"/>
          <p:cNvSpPr/>
          <p:nvPr/>
        </p:nvSpPr>
        <p:spPr>
          <a:xfrm>
            <a:off x="640080" y="4553712"/>
            <a:ext cx="45720" cy="347472"/>
          </a:xfrm>
          <a:prstGeom prst="rect">
            <a:avLst/>
          </a:prstGeom>
          <a:solidFill>
            <a:srgbClr val="D4A843"/>
          </a:solidFill>
          <a:ln/>
        </p:spPr>
      </p:sp>
      <p:sp>
        <p:nvSpPr>
          <p:cNvPr id="26" name="Text 24"/>
          <p:cNvSpPr/>
          <p:nvPr/>
        </p:nvSpPr>
        <p:spPr>
          <a:xfrm>
            <a:off x="868680" y="4553712"/>
            <a:ext cx="2286000" cy="347472"/>
          </a:xfrm>
          <a:prstGeom prst="rect">
            <a:avLst/>
          </a:prstGeom>
          <a:noFill/>
          <a:ln/>
        </p:spPr>
        <p:txBody>
          <a:bodyPr wrap="square" lIns="0" tIns="0" rIns="0" bIns="0" rtlCol="0" anchor="ctr"/>
          <a:lstStyle/>
          <a:p>
            <a:pPr indent="0" marL="0">
              <a:buNone/>
            </a:pPr>
            <a:r>
              <a:rPr lang="en-US" sz="1100" b="1" dirty="0">
                <a:solidFill>
                  <a:srgbClr val="D4A843"/>
                </a:solidFill>
                <a:latin typeface="Georgia" pitchFamily="34" charset="0"/>
                <a:ea typeface="Georgia" pitchFamily="34" charset="-122"/>
                <a:cs typeface="Georgia" pitchFamily="34" charset="-120"/>
              </a:rPr>
              <a:t>Let the world breathe</a:t>
            </a:r>
            <a:endParaRPr lang="en-US" sz="1100" dirty="0"/>
          </a:p>
        </p:txBody>
      </p:sp>
      <p:sp>
        <p:nvSpPr>
          <p:cNvPr id="27" name="Text 25"/>
          <p:cNvSpPr/>
          <p:nvPr/>
        </p:nvSpPr>
        <p:spPr>
          <a:xfrm>
            <a:off x="3200400" y="4553712"/>
            <a:ext cx="5486400" cy="347472"/>
          </a:xfrm>
          <a:prstGeom prst="rect">
            <a:avLst/>
          </a:prstGeom>
          <a:noFill/>
          <a:ln/>
        </p:spPr>
        <p:txBody>
          <a:bodyPr wrap="square" lIns="0" tIns="0" rIns="0" bIns="0" rtlCol="0" anchor="ctr"/>
          <a:lstStyle/>
          <a:p>
            <a:pPr indent="0" marL="0">
              <a:buNone/>
            </a:pPr>
            <a:r>
              <a:rPr lang="en-US" sz="1000" dirty="0">
                <a:solidFill>
                  <a:srgbClr val="CCCCCC"/>
                </a:solidFill>
                <a:latin typeface="Calibri" pitchFamily="34" charset="0"/>
                <a:ea typeface="Calibri" pitchFamily="34" charset="-122"/>
                <a:cs typeface="Calibri" pitchFamily="34" charset="-120"/>
              </a:rPr>
              <a:t>Without this, the AI manufactures drama every month. Most months should be quiet. The big events stand out against silence.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Michelin Star Simulator v0.1</dc:title>
  <dc:subject>PptxGenJS Presentation</dc:subject>
  <dc:creator>Chad Murphy</dc:creator>
  <cp:lastModifiedBy>Chad Murphy</cp:lastModifiedBy>
  <cp:revision>1</cp:revision>
  <dcterms:created xsi:type="dcterms:W3CDTF">2026-03-22T01:34:46Z</dcterms:created>
  <dcterms:modified xsi:type="dcterms:W3CDTF">2026-03-22T01:34:46Z</dcterms:modified>
</cp:coreProperties>
</file>