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4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2286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defRPr sz="3200" b="1" i="0">
                <a:solidFill>
                  <a:srgbClr val="FFFFFF"/>
                </a:solidFill>
                <a:latin typeface="Fidelity Slab"/>
              </a:defRPr>
              <a:lnSpc>
                <a:spcPts val="4000"/>
              </a:lnSpc>
            </a:pPr>
            <a:r>
              <a:t>Everything I Learned About</a:t>
            </a:r>
            <a:br/>
            <a:r>
              <a:t>Storytelling I Learned</a:t>
            </a:r>
            <a:br/>
            <a:r>
              <a:t>from Gilmore Girls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017520"/>
            <a:ext cx="18288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400" b="0" i="0">
                <a:solidFill>
                  <a:srgbClr val="E8E0CC"/>
                </a:solidFill>
                <a:latin typeface="Fidelity Sans"/>
              </a:defRPr>
              <a:lnSpc>
                <a:spcPts val="2000"/>
              </a:lnSpc>
            </a:pPr>
            <a:r>
              <a:t>A framework for narrative craft, disguised as a show about coffee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000" b="0" i="0">
                <a:solidFill>
                  <a:srgbClr val="A8C4A0"/>
                </a:solidFill>
                <a:latin typeface="Fidelity Sans"/>
              </a:defRPr>
            </a:pPr>
            <a:r>
              <a:t>Stars Hollow School of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09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000" b="0" i="0">
                <a:solidFill>
                  <a:srgbClr val="A8C4A0"/>
                </a:solidFill>
                <a:latin typeface="Fidelity Sans"/>
              </a:defRPr>
            </a:pPr>
            <a: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defRPr sz="900" b="1" i="0">
                <a:solidFill>
                  <a:srgbClr val="999999"/>
                </a:solidFill>
                <a:latin typeface="Fidelity Sans"/>
              </a:defRPr>
            </a:pPr>
            <a:r>
              <a:t>A STORYTELLING WORKSHOP IN 7 SEASONS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02920"/>
            <a:ext cx="8595360" cy="254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548640"/>
            <a:ext cx="8595360" cy="127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3600" b="1" i="0">
                <a:solidFill>
                  <a:srgbClr val="1A1A1A"/>
                </a:solidFill>
                <a:latin typeface="Fidelity Slab"/>
              </a:defRPr>
            </a:pPr>
            <a: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859536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6576" cy="868680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600" b="1" i="0">
                <a:solidFill>
                  <a:srgbClr val="044014"/>
                </a:solidFill>
                <a:latin typeface="Fidelity Slab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84248"/>
            <a:ext cx="243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300" b="1" i="0">
                <a:solidFill>
                  <a:srgbClr val="2D2D2D"/>
                </a:solidFill>
                <a:latin typeface="Fidelity Slab"/>
              </a:defRPr>
              <a:lnSpc>
                <a:spcPts val="1600"/>
              </a:lnSpc>
            </a:pPr>
            <a:r>
              <a:t>S1: Establishing 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13432"/>
            <a:ext cx="2438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999999"/>
                </a:solidFill>
                <a:latin typeface="Fidelity Sans"/>
              </a:defRPr>
              <a:lnSpc>
                <a:spcPts val="1200"/>
              </a:lnSpc>
            </a:pPr>
            <a:r>
              <a:t>Build a world in 10 minutes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69920" y="1691640"/>
            <a:ext cx="9144" cy="8686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61360" y="1691640"/>
            <a:ext cx="36576" cy="868680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1088" y="16916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600" b="1" i="0">
                <a:solidFill>
                  <a:srgbClr val="04547C"/>
                </a:solidFill>
                <a:latin typeface="Fidelity Slab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1088" y="1984248"/>
            <a:ext cx="243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300" b="1" i="0">
                <a:solidFill>
                  <a:srgbClr val="2D2D2D"/>
                </a:solidFill>
                <a:latin typeface="Fidelity Slab"/>
              </a:defRPr>
              <a:lnSpc>
                <a:spcPts val="1600"/>
              </a:lnSpc>
            </a:pPr>
            <a:r>
              <a:t>S2: Deepening Conflict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1088" y="2313432"/>
            <a:ext cx="2438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999999"/>
                </a:solidFill>
                <a:latin typeface="Fidelity Sans"/>
              </a:defRPr>
              <a:lnSpc>
                <a:spcPts val="1200"/>
              </a:lnSpc>
            </a:pPr>
            <a:r>
              <a:t>The Jess arc as controlled disruption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74080" y="1691640"/>
            <a:ext cx="9144" cy="8686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65520" y="1691640"/>
            <a:ext cx="36576" cy="868680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5248" y="16916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600" b="1" i="0">
                <a:solidFill>
                  <a:srgbClr val="5B2C8F"/>
                </a:solidFill>
                <a:latin typeface="Fidelity Slab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5248" y="1984248"/>
            <a:ext cx="243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300" b="1" i="0">
                <a:solidFill>
                  <a:srgbClr val="2D2D2D"/>
                </a:solidFill>
                <a:latin typeface="Fidelity Slab"/>
              </a:defRPr>
              <a:lnSpc>
                <a:spcPts val="1600"/>
              </a:lnSpc>
            </a:pPr>
            <a:r>
              <a:t>S3: Peak Ensemble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5248" y="2313432"/>
            <a:ext cx="2438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999999"/>
                </a:solidFill>
                <a:latin typeface="Fidelity Sans"/>
              </a:defRPr>
              <a:lnSpc>
                <a:spcPts val="1200"/>
              </a:lnSpc>
            </a:pPr>
            <a:r>
              <a:t>Every subplot connects to the spine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34640"/>
            <a:ext cx="36576" cy="8686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8346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600" b="1" i="0">
                <a:solidFill>
                  <a:srgbClr val="D4A843"/>
                </a:solidFill>
                <a:latin typeface="Fidelity Slab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127248"/>
            <a:ext cx="243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300" b="1" i="0">
                <a:solidFill>
                  <a:srgbClr val="2D2D2D"/>
                </a:solidFill>
                <a:latin typeface="Fidelity Slab"/>
              </a:defRPr>
              <a:lnSpc>
                <a:spcPts val="1600"/>
              </a:lnSpc>
            </a:pPr>
            <a:r>
              <a:t>S4: The College Problem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456432"/>
            <a:ext cx="2438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999999"/>
                </a:solidFill>
                <a:latin typeface="Fidelity Sans"/>
              </a:defRPr>
              <a:lnSpc>
                <a:spcPts val="1200"/>
              </a:lnSpc>
            </a:pPr>
            <a:r>
              <a:t>Evolve without losing the 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69920" y="2834640"/>
            <a:ext cx="9144" cy="8686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61360" y="2834640"/>
            <a:ext cx="36576" cy="868680"/>
          </a:xfrm>
          <a:prstGeom prst="rect">
            <a:avLst/>
          </a:prstGeom>
          <a:solidFill>
            <a:srgbClr val="1B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71088" y="28346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600" b="1" i="0">
                <a:solidFill>
                  <a:srgbClr val="1B7A6E"/>
                </a:solidFill>
                <a:latin typeface="Fidelity Slab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1088" y="3127248"/>
            <a:ext cx="243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300" b="1" i="0">
                <a:solidFill>
                  <a:srgbClr val="2D2D2D"/>
                </a:solidFill>
                <a:latin typeface="Fidelity Slab"/>
              </a:defRPr>
              <a:lnSpc>
                <a:spcPts val="1600"/>
              </a:lnSpc>
            </a:pPr>
            <a:r>
              <a:t>S5: Raising the Floor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71088" y="3456432"/>
            <a:ext cx="2438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999999"/>
                </a:solidFill>
                <a:latin typeface="Fidelity Sans"/>
              </a:defRPr>
              <a:lnSpc>
                <a:spcPts val="1200"/>
              </a:lnSpc>
            </a:pPr>
            <a:r>
              <a:t>Worst episodes still good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74080" y="2834640"/>
            <a:ext cx="9144" cy="8686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65520" y="2834640"/>
            <a:ext cx="36576" cy="868680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5248" y="28346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600" b="1" i="0">
                <a:solidFill>
                  <a:srgbClr val="C23B22"/>
                </a:solidFill>
                <a:latin typeface="Fidelity Slab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5248" y="3127248"/>
            <a:ext cx="243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300" b="1" i="0">
                <a:solidFill>
                  <a:srgbClr val="2D2D2D"/>
                </a:solidFill>
                <a:latin typeface="Fidelity Slab"/>
              </a:defRPr>
              <a:lnSpc>
                <a:spcPts val="1600"/>
              </a:lnSpc>
            </a:pPr>
            <a:r>
              <a:t>S6: Losing the Thread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5248" y="3456432"/>
            <a:ext cx="2438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999999"/>
                </a:solidFill>
                <a:latin typeface="Fidelity Sans"/>
              </a:defRPr>
              <a:lnSpc>
                <a:spcPts val="1200"/>
              </a:lnSpc>
            </a:pPr>
            <a:r>
              <a:t>Vision vs. network divergence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977640"/>
            <a:ext cx="36576" cy="868680"/>
          </a:xfrm>
          <a:prstGeom prst="rect">
            <a:avLst/>
          </a:prstGeom>
          <a:solidFill>
            <a:srgbClr val="CC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39776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600" b="1" i="0">
                <a:solidFill>
                  <a:srgbClr val="CC7A2E"/>
                </a:solidFill>
                <a:latin typeface="Fidelity Slab"/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270248"/>
            <a:ext cx="243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300" b="1" i="0">
                <a:solidFill>
                  <a:srgbClr val="2D2D2D"/>
                </a:solidFill>
                <a:latin typeface="Fidelity Slab"/>
              </a:defRPr>
              <a:lnSpc>
                <a:spcPts val="1600"/>
              </a:lnSpc>
            </a:pPr>
            <a:r>
              <a:t>S7: The Handoff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4599432"/>
            <a:ext cx="2438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999999"/>
                </a:solidFill>
                <a:latin typeface="Fidelity Sans"/>
              </a:defRPr>
              <a:lnSpc>
                <a:spcPts val="1200"/>
              </a:lnSpc>
            </a:pPr>
            <a:r>
              <a:t>Can a story survive without its voice?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1" i="0">
                <a:solidFill>
                  <a:srgbClr val="999999"/>
                </a:solidFill>
                <a:latin typeface="Fidelity Sans"/>
              </a:defRPr>
            </a:pPr>
            <a:r>
              <a:t>WHY GILMORE GIRLS IS A STORYTELLING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28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defRPr sz="900" b="1" i="0">
                <a:solidFill>
                  <a:srgbClr val="D4A843"/>
                </a:solidFill>
                <a:latin typeface="Fidelity Sans"/>
              </a:defRPr>
            </a:pPr>
            <a:r>
              <a:t>1 of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548640"/>
            <a:ext cx="79552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548640"/>
            <a:ext cx="1591056" cy="27432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822960"/>
            <a:ext cx="795528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800" b="1" i="0">
                <a:solidFill>
                  <a:srgbClr val="1A1A1A"/>
                </a:solidFill>
                <a:latin typeface="Fidelity Slab"/>
              </a:defRPr>
              <a:lnSpc>
                <a:spcPts val="3600"/>
              </a:lnSpc>
            </a:pPr>
            <a:r>
              <a:t>153 episodes averaging 8,000+ words of dialogue each — more than most films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60320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1" i="0">
                <a:solidFill>
                  <a:srgbClr val="999999"/>
                </a:solidFill>
                <a:latin typeface="Fidelity Sans"/>
              </a:defRPr>
            </a:pPr>
            <a:r>
              <a:t>WHY GILMORE GIRLS IS A STORYTELLING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28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defRPr sz="900" b="1" i="0">
                <a:solidFill>
                  <a:srgbClr val="D4A843"/>
                </a:solidFill>
                <a:latin typeface="Fidelity Sans"/>
              </a:defRPr>
            </a:pPr>
            <a:r>
              <a:t>2 of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548640"/>
            <a:ext cx="79552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548640"/>
            <a:ext cx="3182112" cy="27432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822960"/>
            <a:ext cx="795528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800" b="1" i="0">
                <a:solidFill>
                  <a:srgbClr val="1A1A1A"/>
                </a:solidFill>
                <a:latin typeface="Fidelity Slab"/>
              </a:defRPr>
              <a:lnSpc>
                <a:spcPts val="3600"/>
              </a:lnSpc>
            </a:pPr>
            <a:r>
              <a:t>Pioneered the 'walk and talk' as a pacing device for television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60320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800" b="1" i="0">
                <a:solidFill>
                  <a:srgbClr val="999999"/>
                </a:solidFill>
                <a:latin typeface="Fidelity Sans"/>
              </a:defRPr>
            </a:pPr>
            <a:r>
              <a:t>PREVIOUSLY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1" i="0">
                <a:solidFill>
                  <a:srgbClr val="CCCCCC"/>
                </a:solidFill>
                <a:latin typeface="Fidelity Slab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000" b="0" i="0">
                <a:solidFill>
                  <a:srgbClr val="999999"/>
                </a:solidFill>
                <a:latin typeface="Fidelity Sans"/>
              </a:defRPr>
            </a:pPr>
            <a:r>
              <a:t>153 episodes averaging 8,000+ words of dialogue each — more than most films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1" i="0">
                <a:solidFill>
                  <a:srgbClr val="999999"/>
                </a:solidFill>
                <a:latin typeface="Fidelity Sans"/>
              </a:defRPr>
            </a:pPr>
            <a:r>
              <a:t>WHY GILMORE GIRLS IS A STORYTELLING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28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defRPr sz="900" b="1" i="0">
                <a:solidFill>
                  <a:srgbClr val="D4A843"/>
                </a:solidFill>
                <a:latin typeface="Fidelity Sans"/>
              </a:defRPr>
            </a:pPr>
            <a:r>
              <a:t>3 of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548640"/>
            <a:ext cx="79552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548640"/>
            <a:ext cx="4773168" cy="27432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822960"/>
            <a:ext cx="795528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800" b="1" i="0">
                <a:solidFill>
                  <a:srgbClr val="1A1A1A"/>
                </a:solidFill>
                <a:latin typeface="Fidelity Slab"/>
              </a:defRPr>
              <a:lnSpc>
                <a:spcPts val="3600"/>
              </a:lnSpc>
            </a:pPr>
            <a:r>
              <a:t>Built an entire fictional economy of recurring characters across 7 seasons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60320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800" b="1" i="0">
                <a:solidFill>
                  <a:srgbClr val="999999"/>
                </a:solidFill>
                <a:latin typeface="Fidelity Sans"/>
              </a:defRPr>
            </a:pPr>
            <a:r>
              <a:t>PREVIOUSLY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1" i="0">
                <a:solidFill>
                  <a:srgbClr val="CCCCCC"/>
                </a:solidFill>
                <a:latin typeface="Fidelity Slab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000" b="0" i="0">
                <a:solidFill>
                  <a:srgbClr val="999999"/>
                </a:solidFill>
                <a:latin typeface="Fidelity Sans"/>
              </a:defRPr>
            </a:pPr>
            <a:r>
              <a:t>153 episodes averaging 8,000+ words of dialogue each — more than most films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9300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1" i="0">
                <a:solidFill>
                  <a:srgbClr val="CCCCCC"/>
                </a:solidFill>
                <a:latin typeface="Fidelity Slab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930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000" b="0" i="0">
                <a:solidFill>
                  <a:srgbClr val="999999"/>
                </a:solidFill>
                <a:latin typeface="Fidelity Sans"/>
              </a:defRPr>
            </a:pPr>
            <a:r>
              <a:t>Pioneered the 'walk and talk' as a pacing device for television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1" i="0">
                <a:solidFill>
                  <a:srgbClr val="999999"/>
                </a:solidFill>
                <a:latin typeface="Fidelity Sans"/>
              </a:defRPr>
            </a:pPr>
            <a:r>
              <a:t>WHY GILMORE GIRLS IS A STORYTELLING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28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defRPr sz="900" b="1" i="0">
                <a:solidFill>
                  <a:srgbClr val="D4A843"/>
                </a:solidFill>
                <a:latin typeface="Fidelity Sans"/>
              </a:defRPr>
            </a:pPr>
            <a:r>
              <a:t>4 of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548640"/>
            <a:ext cx="79552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548640"/>
            <a:ext cx="6364224" cy="27432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822960"/>
            <a:ext cx="795528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800" b="1" i="0">
                <a:solidFill>
                  <a:srgbClr val="1A1A1A"/>
                </a:solidFill>
                <a:latin typeface="Fidelity Slab"/>
              </a:defRPr>
              <a:lnSpc>
                <a:spcPts val="3600"/>
              </a:lnSpc>
            </a:pPr>
            <a:r>
              <a:t>Proved that verbal density and emotional depth aren't trade-offs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60320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800" b="1" i="0">
                <a:solidFill>
                  <a:srgbClr val="999999"/>
                </a:solidFill>
                <a:latin typeface="Fidelity Sans"/>
              </a:defRPr>
            </a:pPr>
            <a:r>
              <a:t>PREVIOUSLY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1" i="0">
                <a:solidFill>
                  <a:srgbClr val="CCCCCC"/>
                </a:solidFill>
                <a:latin typeface="Fidelity Slab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000" b="0" i="0">
                <a:solidFill>
                  <a:srgbClr val="999999"/>
                </a:solidFill>
                <a:latin typeface="Fidelity Sans"/>
              </a:defRPr>
            </a:pPr>
            <a:r>
              <a:t>153 episodes averaging 8,000+ words of dialogue each — more than most films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9300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1" i="0">
                <a:solidFill>
                  <a:srgbClr val="CCCCCC"/>
                </a:solidFill>
                <a:latin typeface="Fidelity Slab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930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000" b="0" i="0">
                <a:solidFill>
                  <a:srgbClr val="999999"/>
                </a:solidFill>
                <a:latin typeface="Fidelity Sans"/>
              </a:defRPr>
            </a:pPr>
            <a:r>
              <a:t>Pioneered the 'walk and talk' as a pacing device for television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7705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1" i="0">
                <a:solidFill>
                  <a:srgbClr val="CCCCCC"/>
                </a:solidFill>
                <a:latin typeface="Fidelity Slab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77056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000" b="0" i="0">
                <a:solidFill>
                  <a:srgbClr val="999999"/>
                </a:solidFill>
                <a:latin typeface="Fidelity Sans"/>
              </a:defRPr>
            </a:pPr>
            <a:r>
              <a:t>Built an entire fictional economy of recurring characters across 7 seasons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1" i="0">
                <a:solidFill>
                  <a:srgbClr val="999999"/>
                </a:solidFill>
                <a:latin typeface="Fidelity Sans"/>
              </a:defRPr>
            </a:pPr>
            <a:r>
              <a:t>WHY GILMORE GIRLS IS A STORYTELLING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28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defRPr sz="900" b="1" i="0">
                <a:solidFill>
                  <a:srgbClr val="D4A843"/>
                </a:solidFill>
                <a:latin typeface="Fidelity Sans"/>
              </a:defRPr>
            </a:pPr>
            <a:r>
              <a:t>5 of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548640"/>
            <a:ext cx="79552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548640"/>
            <a:ext cx="7955280" cy="27432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822960"/>
            <a:ext cx="795528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800" b="1" i="0">
                <a:solidFill>
                  <a:srgbClr val="1A1A1A"/>
                </a:solidFill>
                <a:latin typeface="Fidelity Slab"/>
              </a:defRPr>
              <a:lnSpc>
                <a:spcPts val="3600"/>
              </a:lnSpc>
            </a:pPr>
            <a:r>
              <a:t>Created one of TV's most debated narrative choices with the final four words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60320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800" b="1" i="0">
                <a:solidFill>
                  <a:srgbClr val="999999"/>
                </a:solidFill>
                <a:latin typeface="Fidelity Sans"/>
              </a:defRPr>
            </a:pPr>
            <a:r>
              <a:t>PREVIOUSLY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1" i="0">
                <a:solidFill>
                  <a:srgbClr val="CCCCCC"/>
                </a:solidFill>
                <a:latin typeface="Fidelity Slab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000" b="0" i="0">
                <a:solidFill>
                  <a:srgbClr val="999999"/>
                </a:solidFill>
                <a:latin typeface="Fidelity Sans"/>
              </a:defRPr>
            </a:pPr>
            <a:r>
              <a:t>153 episodes averaging 8,000+ words of dialogue each — more than most films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9300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1" i="0">
                <a:solidFill>
                  <a:srgbClr val="CCCCCC"/>
                </a:solidFill>
                <a:latin typeface="Fidelity Slab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930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000" b="0" i="0">
                <a:solidFill>
                  <a:srgbClr val="999999"/>
                </a:solidFill>
                <a:latin typeface="Fidelity Sans"/>
              </a:defRPr>
            </a:pPr>
            <a:r>
              <a:t>Pioneered the 'walk and talk' as a pacing device for television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7705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1" i="0">
                <a:solidFill>
                  <a:srgbClr val="CCCCCC"/>
                </a:solidFill>
                <a:latin typeface="Fidelity Slab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77056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000" b="0" i="0">
                <a:solidFill>
                  <a:srgbClr val="999999"/>
                </a:solidFill>
                <a:latin typeface="Fidelity Sans"/>
              </a:defRPr>
            </a:pPr>
            <a:r>
              <a:t>Built an entire fictional economy of recurring characters across 7 seasons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6110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1" i="0">
                <a:solidFill>
                  <a:srgbClr val="CCCCCC"/>
                </a:solidFill>
                <a:latin typeface="Fidelity Slab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61104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000" b="0" i="0">
                <a:solidFill>
                  <a:srgbClr val="999999"/>
                </a:solidFill>
                <a:latin typeface="Fidelity Sans"/>
              </a:defRPr>
            </a:pPr>
            <a:r>
              <a:t>Proved that verbal density and emotional depth aren't trade-offs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1" i="0">
                <a:solidFill>
                  <a:srgbClr val="999999"/>
                </a:solidFill>
                <a:latin typeface="Fidelity Sans"/>
              </a:defRPr>
            </a:pPr>
            <a:r>
              <a:t>THE GILMORE SPEED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48640"/>
            <a:ext cx="4754880" cy="3657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0" b="1" i="0">
                <a:solidFill>
                  <a:srgbClr val="044014"/>
                </a:solidFill>
                <a:latin typeface="Fidelity Slab"/>
              </a:defRPr>
            </a:pPr>
            <a:r>
              <a:t>160%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09728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200" b="1" i="0">
                <a:solidFill>
                  <a:srgbClr val="2D2D2D"/>
                </a:solidFill>
                <a:latin typeface="Fidelity Slab"/>
              </a:defRPr>
              <a:lnSpc>
                <a:spcPts val="2800"/>
              </a:lnSpc>
            </a:pPr>
            <a:r>
              <a:t>Faster than average TV dialogue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2103120"/>
            <a:ext cx="1097280" cy="254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233172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100" b="0" i="0">
                <a:solidFill>
                  <a:srgbClr val="666666"/>
                </a:solidFill>
                <a:latin typeface="Fidelity Sans"/>
              </a:defRPr>
              <a:lnSpc>
                <a:spcPts val="1600"/>
              </a:lnSpc>
            </a:pPr>
            <a:r>
              <a:t>Gilmore Girls scripts ran roughly 75-80 pages per episode vs. the standard 45-50. Amy Sherman-Palladino wrote dialogue at ~300 words/minute compared to the TV average of ~120. This forced actors to rehearse like stage performers — the pacing itself became a storytelling tool.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45720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800" b="0" i="1">
                <a:solidFill>
                  <a:srgbClr val="999999"/>
                </a:solidFill>
                <a:latin typeface="Fidelity Sans"/>
              </a:defRPr>
            </a:pPr>
            <a:r>
              <a:t>Vanity Fair, 2016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4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4400" b="1" i="0">
                <a:solidFill>
                  <a:srgbClr val="D4A843"/>
                </a:solidFill>
                <a:latin typeface="Fidelity Slab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6949440" cy="2560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2400" b="0" i="1">
                <a:solidFill>
                  <a:srgbClr val="FFFFFF"/>
                </a:solidFill>
                <a:latin typeface="Fidelity Slab"/>
              </a:defRPr>
              <a:lnSpc>
                <a:spcPts val="3200"/>
              </a:lnSpc>
            </a:pPr>
            <a:r>
              <a:t>I live in two worlds. One is a world of books. I've been a resident of Faulkner's Yoknapatawpha County, hunted whales with Ahab, fought alongside Napoleon. The other is Stars Hollow.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977639"/>
            <a:ext cx="731520" cy="254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7947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1" i="0">
                <a:solidFill>
                  <a:srgbClr val="D4A843"/>
                </a:solidFill>
                <a:latin typeface="Fidelity Sans"/>
              </a:defRPr>
            </a:pPr>
            <a:r>
              <a:t>Rory Gilmore, Chilton Valedictorian Speech, S3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4340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000" b="0" i="1">
                <a:solidFill>
                  <a:srgbClr val="A8C4A0"/>
                </a:solidFill>
                <a:latin typeface="Fidelity Sans"/>
              </a:defRPr>
              <a:lnSpc>
                <a:spcPts val="1400"/>
              </a:lnSpc>
            </a:pPr>
            <a:r>
              <a:t>This speech works because it collapses the distance between fiction and life — the same move Gilmore Girls makes in every episode.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1" i="0">
                <a:solidFill>
                  <a:srgbClr val="999999"/>
                </a:solidFill>
                <a:latin typeface="Fidelity Sans"/>
              </a:defRPr>
            </a:pPr>
            <a:r>
              <a:t>TWO SCHOOLS OF TV DIALOGUE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500" b="1" i="0">
                <a:solidFill>
                  <a:srgbClr val="044014"/>
                </a:solidFill>
                <a:latin typeface="Fidelity Slab"/>
              </a:defRPr>
            </a:pPr>
            <a:r>
              <a:t>Gilmore Girls (Density)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640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500" b="1" i="0">
                <a:solidFill>
                  <a:srgbClr val="04547C"/>
                </a:solidFill>
                <a:latin typeface="Fidelity Slab"/>
              </a:defRPr>
            </a:pPr>
            <a:r>
              <a:t>Standard TV (Clarity)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371600" cy="25400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7760" y="1024128"/>
            <a:ext cx="1371600" cy="25400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4297680" cy="74980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4864" cy="749808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1188720"/>
            <a:ext cx="4160520" cy="749808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188720"/>
            <a:ext cx="54864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3886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Dialogue carries plot, character, and setting simultaneously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188720"/>
            <a:ext cx="37490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Dialogue serves one function per exchange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29968"/>
            <a:ext cx="4297680" cy="74980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029968"/>
            <a:ext cx="54864" cy="749808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2029968"/>
            <a:ext cx="4160520" cy="749808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160" y="2029968"/>
            <a:ext cx="54864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029968"/>
            <a:ext cx="3886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References function as shorthand for emotional states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029968"/>
            <a:ext cx="37490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Exposition is delivered explicitly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871216"/>
            <a:ext cx="4297680" cy="74980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871216"/>
            <a:ext cx="54864" cy="749808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9160" y="2871216"/>
            <a:ext cx="4160520" cy="749808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09160" y="2871216"/>
            <a:ext cx="54864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871216"/>
            <a:ext cx="3886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Silence is rare and therefore devastating when 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871216"/>
            <a:ext cx="37490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Silence is common and used for pacing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712464"/>
            <a:ext cx="4297680" cy="74980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712464"/>
            <a:ext cx="54864" cy="749808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9160" y="3712464"/>
            <a:ext cx="4160520" cy="749808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9160" y="3712464"/>
            <a:ext cx="54864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712464"/>
            <a:ext cx="3886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The audience must keep up — no hand-holding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712464"/>
            <a:ext cx="37490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The audience is guided through each beat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1" i="0">
                <a:solidFill>
                  <a:srgbClr val="999999"/>
                </a:solidFill>
                <a:latin typeface="Fidelity Sans"/>
              </a:defRPr>
            </a:pPr>
            <a:r>
              <a:t>TWO SCHOOLS OF TV DIALOGUE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000" b="1" i="0">
                <a:solidFill>
                  <a:srgbClr val="044014"/>
                </a:solidFill>
                <a:latin typeface="Fidelity Slab"/>
              </a:defRPr>
            </a:pPr>
            <a:r>
              <a:t>Gilmore Girls (Density)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645920" cy="25400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6858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100" b="1" i="0">
                <a:solidFill>
                  <a:srgbClr val="999999"/>
                </a:solidFill>
                <a:latin typeface="Fidelity Sans"/>
              </a:defRPr>
            </a:pPr>
            <a:r>
              <a:t>Standard TV (Clarity)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24128"/>
            <a:ext cx="9144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188720"/>
            <a:ext cx="13716" cy="336499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5212080" cy="74980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71600"/>
            <a:ext cx="54864" cy="74980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371600"/>
            <a:ext cx="475488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300" b="0" i="0">
                <a:solidFill>
                  <a:srgbClr val="2D2D2D"/>
                </a:solidFill>
                <a:latin typeface="Fidelity Sans"/>
              </a:defRPr>
              <a:lnSpc>
                <a:spcPts val="1700"/>
              </a:lnSpc>
            </a:pPr>
            <a:r>
              <a:t>Dialogue carries plot, character, and setting simultaneously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2377440" cy="749808"/>
          </a:xfrm>
          <a:prstGeom prst="rect">
            <a:avLst/>
          </a:prstGeom>
          <a:solidFill>
            <a:srgbClr val="F7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32004" cy="7498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71600"/>
            <a:ext cx="21488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900" b="0" i="0">
                <a:solidFill>
                  <a:srgbClr val="999999"/>
                </a:solidFill>
                <a:latin typeface="Fidelity Sans"/>
              </a:defRPr>
              <a:lnSpc>
                <a:spcPts val="1200"/>
              </a:lnSpc>
            </a:pPr>
            <a:r>
              <a:t>Dialogue serves one function per exchange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212848"/>
            <a:ext cx="5212080" cy="74980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2212848"/>
            <a:ext cx="54864" cy="74980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212848"/>
            <a:ext cx="475488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300" b="0" i="0">
                <a:solidFill>
                  <a:srgbClr val="2D2D2D"/>
                </a:solidFill>
                <a:latin typeface="Fidelity Sans"/>
              </a:defRPr>
              <a:lnSpc>
                <a:spcPts val="1700"/>
              </a:lnSpc>
            </a:pPr>
            <a:r>
              <a:t>References function as shorthand for emotional states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212848"/>
            <a:ext cx="2377440" cy="749808"/>
          </a:xfrm>
          <a:prstGeom prst="rect">
            <a:avLst/>
          </a:prstGeom>
          <a:solidFill>
            <a:srgbClr val="F7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212848"/>
            <a:ext cx="32004" cy="7498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212848"/>
            <a:ext cx="21488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900" b="0" i="0">
                <a:solidFill>
                  <a:srgbClr val="999999"/>
                </a:solidFill>
                <a:latin typeface="Fidelity Sans"/>
              </a:defRPr>
              <a:lnSpc>
                <a:spcPts val="1200"/>
              </a:lnSpc>
            </a:pPr>
            <a:r>
              <a:t>Exposition is delivered explicitly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054096"/>
            <a:ext cx="5212080" cy="74980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054096"/>
            <a:ext cx="54864" cy="74980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054096"/>
            <a:ext cx="475488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300" b="0" i="0">
                <a:solidFill>
                  <a:srgbClr val="2D2D2D"/>
                </a:solidFill>
                <a:latin typeface="Fidelity Sans"/>
              </a:defRPr>
              <a:lnSpc>
                <a:spcPts val="1700"/>
              </a:lnSpc>
            </a:pPr>
            <a:r>
              <a:t>Silence is rare and therefore devastating when used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054096"/>
            <a:ext cx="2377440" cy="749808"/>
          </a:xfrm>
          <a:prstGeom prst="rect">
            <a:avLst/>
          </a:prstGeom>
          <a:solidFill>
            <a:srgbClr val="F7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054096"/>
            <a:ext cx="32004" cy="7498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054096"/>
            <a:ext cx="21488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900" b="0" i="0">
                <a:solidFill>
                  <a:srgbClr val="999999"/>
                </a:solidFill>
                <a:latin typeface="Fidelity Sans"/>
              </a:defRPr>
              <a:lnSpc>
                <a:spcPts val="1200"/>
              </a:lnSpc>
            </a:pPr>
            <a:r>
              <a:t>Silence is common and used for pacing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895344"/>
            <a:ext cx="5212080" cy="74980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3895344"/>
            <a:ext cx="54864" cy="74980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895344"/>
            <a:ext cx="475488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300" b="0" i="0">
                <a:solidFill>
                  <a:srgbClr val="2D2D2D"/>
                </a:solidFill>
                <a:latin typeface="Fidelity Sans"/>
              </a:defRPr>
              <a:lnSpc>
                <a:spcPts val="1700"/>
              </a:lnSpc>
            </a:pPr>
            <a:r>
              <a:t>The audience must keep up — no hand-holding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895344"/>
            <a:ext cx="2377440" cy="749808"/>
          </a:xfrm>
          <a:prstGeom prst="rect">
            <a:avLst/>
          </a:prstGeom>
          <a:solidFill>
            <a:srgbClr val="F7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3895344"/>
            <a:ext cx="32004" cy="7498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895344"/>
            <a:ext cx="21488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900" b="0" i="0">
                <a:solidFill>
                  <a:srgbClr val="999999"/>
                </a:solidFill>
                <a:latin typeface="Fidelity Sans"/>
              </a:defRPr>
              <a:lnSpc>
                <a:spcPts val="1200"/>
              </a:lnSpc>
            </a:pPr>
            <a:r>
              <a:t>The audience is guided through each beat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1" i="0">
                <a:solidFill>
                  <a:srgbClr val="999999"/>
                </a:solidFill>
                <a:latin typeface="Fidelity Sans"/>
              </a:defRPr>
            </a:pPr>
            <a:r>
              <a:t>TWO SCHOOLS OF TV DIALOGUE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100" b="1" i="0">
                <a:solidFill>
                  <a:srgbClr val="999999"/>
                </a:solidFill>
                <a:latin typeface="Fidelity Sans"/>
              </a:defRPr>
            </a:pPr>
            <a:r>
              <a:t>Gilmore Girls (Density)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24128"/>
            <a:ext cx="9144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37560" y="640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000" b="1" i="0">
                <a:solidFill>
                  <a:srgbClr val="04547C"/>
                </a:solidFill>
                <a:latin typeface="Fidelity Slab"/>
              </a:defRPr>
            </a:pPr>
            <a:r>
              <a:t>Standard TV (Clarity)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143000"/>
            <a:ext cx="1645920" cy="25400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63240" y="1188720"/>
            <a:ext cx="13716" cy="336499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2377440" cy="749808"/>
          </a:xfrm>
          <a:prstGeom prst="rect">
            <a:avLst/>
          </a:prstGeom>
          <a:solidFill>
            <a:srgbClr val="F7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71600"/>
            <a:ext cx="32004" cy="7498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371600"/>
            <a:ext cx="21488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900" b="0" i="0">
                <a:solidFill>
                  <a:srgbClr val="999999"/>
                </a:solidFill>
                <a:latin typeface="Fidelity Sans"/>
              </a:defRPr>
              <a:lnSpc>
                <a:spcPts val="1200"/>
              </a:lnSpc>
            </a:pPr>
            <a:r>
              <a:t>Dialogue carries plot, character, and setting simultaneously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5212080" cy="749808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54864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371600"/>
            <a:ext cx="475488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300" b="0" i="0">
                <a:solidFill>
                  <a:srgbClr val="2D2D2D"/>
                </a:solidFill>
                <a:latin typeface="Fidelity Sans"/>
              </a:defRPr>
              <a:lnSpc>
                <a:spcPts val="1700"/>
              </a:lnSpc>
            </a:pPr>
            <a:r>
              <a:t>Dialogue serves one function per exchange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212848"/>
            <a:ext cx="2377440" cy="749808"/>
          </a:xfrm>
          <a:prstGeom prst="rect">
            <a:avLst/>
          </a:prstGeom>
          <a:solidFill>
            <a:srgbClr val="F7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2212848"/>
            <a:ext cx="32004" cy="7498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212848"/>
            <a:ext cx="21488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900" b="0" i="0">
                <a:solidFill>
                  <a:srgbClr val="999999"/>
                </a:solidFill>
                <a:latin typeface="Fidelity Sans"/>
              </a:defRPr>
              <a:lnSpc>
                <a:spcPts val="1200"/>
              </a:lnSpc>
            </a:pPr>
            <a:r>
              <a:t>References function as shorthand for emotional states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2212848"/>
            <a:ext cx="5212080" cy="749808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7560" y="2212848"/>
            <a:ext cx="54864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212848"/>
            <a:ext cx="475488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300" b="0" i="0">
                <a:solidFill>
                  <a:srgbClr val="2D2D2D"/>
                </a:solidFill>
                <a:latin typeface="Fidelity Sans"/>
              </a:defRPr>
              <a:lnSpc>
                <a:spcPts val="1700"/>
              </a:lnSpc>
            </a:pPr>
            <a:r>
              <a:t>Exposition is delivered explicitly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054096"/>
            <a:ext cx="2377440" cy="749808"/>
          </a:xfrm>
          <a:prstGeom prst="rect">
            <a:avLst/>
          </a:prstGeom>
          <a:solidFill>
            <a:srgbClr val="F7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054096"/>
            <a:ext cx="32004" cy="7498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054096"/>
            <a:ext cx="21488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900" b="0" i="0">
                <a:solidFill>
                  <a:srgbClr val="999999"/>
                </a:solidFill>
                <a:latin typeface="Fidelity Sans"/>
              </a:defRPr>
              <a:lnSpc>
                <a:spcPts val="1200"/>
              </a:lnSpc>
            </a:pPr>
            <a:r>
              <a:t>Silence is rare and therefore devastating when used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054096"/>
            <a:ext cx="5212080" cy="749808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37560" y="3054096"/>
            <a:ext cx="54864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3054096"/>
            <a:ext cx="475488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300" b="0" i="0">
                <a:solidFill>
                  <a:srgbClr val="2D2D2D"/>
                </a:solidFill>
                <a:latin typeface="Fidelity Sans"/>
              </a:defRPr>
              <a:lnSpc>
                <a:spcPts val="1700"/>
              </a:lnSpc>
            </a:pPr>
            <a:r>
              <a:t>Silence is common and used for pacing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895344"/>
            <a:ext cx="2377440" cy="749808"/>
          </a:xfrm>
          <a:prstGeom prst="rect">
            <a:avLst/>
          </a:prstGeom>
          <a:solidFill>
            <a:srgbClr val="F7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3895344"/>
            <a:ext cx="32004" cy="7498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895344"/>
            <a:ext cx="21488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900" b="0" i="0">
                <a:solidFill>
                  <a:srgbClr val="999999"/>
                </a:solidFill>
                <a:latin typeface="Fidelity Sans"/>
              </a:defRPr>
              <a:lnSpc>
                <a:spcPts val="1200"/>
              </a:lnSpc>
            </a:pPr>
            <a:r>
              <a:t>The audience must keep up — no hand-holding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3895344"/>
            <a:ext cx="5212080" cy="749808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37560" y="3895344"/>
            <a:ext cx="54864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3895344"/>
            <a:ext cx="475488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300" b="0" i="0">
                <a:solidFill>
                  <a:srgbClr val="2D2D2D"/>
                </a:solidFill>
                <a:latin typeface="Fidelity Sans"/>
              </a:defRPr>
              <a:lnSpc>
                <a:spcPts val="1700"/>
              </a:lnSpc>
            </a:pPr>
            <a:r>
              <a:t>The audience is guided through each beat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200" b="1" i="0">
                <a:solidFill>
                  <a:srgbClr val="2D2D2D"/>
                </a:solidFill>
                <a:latin typeface="Fidelity Slab"/>
              </a:defRPr>
            </a:pPr>
            <a:r>
              <a:t>How a Gilmore Rant Builds to a Punchline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817370" cy="54864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143000"/>
            <a:ext cx="384048" cy="384048"/>
          </a:xfrm>
          <a:prstGeom prst="ellipse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400" b="1" i="0">
                <a:solidFill>
                  <a:srgbClr val="FFFFFF"/>
                </a:solidFill>
                <a:latin typeface="Fidelity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45161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600" b="1" i="0">
                <a:solidFill>
                  <a:srgbClr val="2D2D2D"/>
                </a:solidFill>
                <a:latin typeface="Fidelity Slab"/>
              </a:defRPr>
              <a:lnSpc>
                <a:spcPts val="2100"/>
              </a:lnSpc>
            </a:pPr>
            <a:r>
              <a:t>Hook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726948" cy="25400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45161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0" i="0">
                <a:solidFill>
                  <a:srgbClr val="666666"/>
                </a:solidFill>
                <a:latin typeface="Fidelity Sans"/>
              </a:defRPr>
              <a:lnSpc>
                <a:spcPts val="1700"/>
              </a:lnSpc>
            </a:pPr>
            <a:r>
              <a:t>Start with an absurd premise or observation that seems throwaway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7430" y="12070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600" b="1" i="0">
                <a:solidFill>
                  <a:srgbClr val="D4A843"/>
                </a:solidFill>
                <a:latin typeface="Fidelity Slab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94610" y="914400"/>
            <a:ext cx="1817370" cy="54864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77490" y="1143000"/>
            <a:ext cx="384048" cy="384048"/>
          </a:xfrm>
          <a:prstGeom prst="ellipse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7490" y="11430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400" b="1" i="0">
                <a:solidFill>
                  <a:srgbClr val="FFFFFF"/>
                </a:solidFill>
                <a:latin typeface="Fidelity San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7490" y="1691640"/>
            <a:ext cx="145161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600" b="1" i="0">
                <a:solidFill>
                  <a:srgbClr val="2D2D2D"/>
                </a:solidFill>
                <a:latin typeface="Fidelity Slab"/>
              </a:defRPr>
              <a:lnSpc>
                <a:spcPts val="2100"/>
              </a:lnSpc>
            </a:pPr>
            <a:r>
              <a:t>Escalate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77490" y="2286000"/>
            <a:ext cx="726948" cy="25400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77490" y="2514600"/>
            <a:ext cx="145161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0" i="0">
                <a:solidFill>
                  <a:srgbClr val="666666"/>
                </a:solidFill>
                <a:latin typeface="Fidelity Sans"/>
              </a:defRPr>
              <a:lnSpc>
                <a:spcPts val="1700"/>
              </a:lnSpc>
            </a:pPr>
            <a:r>
              <a:t>Layer references and tangents that appear to wander off-topic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2070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600" b="1" i="0">
                <a:solidFill>
                  <a:srgbClr val="D4A843"/>
                </a:solidFill>
                <a:latin typeface="Fidelity Slab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32020" y="914400"/>
            <a:ext cx="1817370" cy="54864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14900" y="1143000"/>
            <a:ext cx="384048" cy="384048"/>
          </a:xfrm>
          <a:prstGeom prst="ellipse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4900" y="11430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400" b="1" i="0">
                <a:solidFill>
                  <a:srgbClr val="FFFFFF"/>
                </a:solidFill>
                <a:latin typeface="Fidelity San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4900" y="1691640"/>
            <a:ext cx="145161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600" b="1" i="0">
                <a:solidFill>
                  <a:srgbClr val="2D2D2D"/>
                </a:solidFill>
                <a:latin typeface="Fidelity Slab"/>
              </a:defRPr>
              <a:lnSpc>
                <a:spcPts val="2100"/>
              </a:lnSpc>
            </a:pPr>
            <a:r>
              <a:t>Callback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14900" y="2286000"/>
            <a:ext cx="726948" cy="25400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4900" y="2514600"/>
            <a:ext cx="145161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0" i="0">
                <a:solidFill>
                  <a:srgbClr val="666666"/>
                </a:solidFill>
                <a:latin typeface="Fidelity Sans"/>
              </a:defRPr>
              <a:lnSpc>
                <a:spcPts val="1700"/>
              </a:lnSpc>
            </a:pPr>
            <a:r>
              <a:t>Circle back to the original premise with a twist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250" y="12070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600" b="1" i="0">
                <a:solidFill>
                  <a:srgbClr val="D4A843"/>
                </a:solidFill>
                <a:latin typeface="Fidelity Slab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69430" y="914400"/>
            <a:ext cx="181737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52310" y="1143000"/>
            <a:ext cx="384048" cy="384048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52310" y="11430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400" b="1" i="0">
                <a:solidFill>
                  <a:srgbClr val="FFFFFF"/>
                </a:solidFill>
                <a:latin typeface="Fidelity San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2310" y="1691640"/>
            <a:ext cx="145161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600" b="1" i="0">
                <a:solidFill>
                  <a:srgbClr val="2D2D2D"/>
                </a:solidFill>
                <a:latin typeface="Fidelity Slab"/>
              </a:defRPr>
              <a:lnSpc>
                <a:spcPts val="2100"/>
              </a:lnSpc>
            </a:pPr>
            <a:r>
              <a:t>Land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52310" y="2286000"/>
            <a:ext cx="726948" cy="254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52310" y="2514600"/>
            <a:ext cx="145161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0" i="0">
                <a:solidFill>
                  <a:srgbClr val="666666"/>
                </a:solidFill>
                <a:latin typeface="Fidelity Sans"/>
              </a:defRPr>
              <a:lnSpc>
                <a:spcPts val="1700"/>
              </a:lnSpc>
            </a:pPr>
            <a:r>
              <a:t>Deliver the emotional truth underneath the comedy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200" b="1" i="0">
                <a:solidFill>
                  <a:srgbClr val="2D2D2D"/>
                </a:solidFill>
                <a:latin typeface="Fidelity Slab"/>
              </a:defRPr>
            </a:pPr>
            <a:r>
              <a:t>Building a Scene the Gilmore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8595360" cy="751636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64008" cy="75163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" cy="7516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4800" b="1" i="0">
                <a:solidFill>
                  <a:srgbClr val="CCCCCC"/>
                </a:solidFill>
                <a:latin typeface="Fidelity Slab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68680"/>
            <a:ext cx="2560320" cy="7516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400" b="1" i="0">
                <a:solidFill>
                  <a:srgbClr val="2D2D2D"/>
                </a:solidFill>
                <a:latin typeface="Fidelity Slab"/>
              </a:defRPr>
            </a:pPr>
            <a:r>
              <a:t>Set the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868680"/>
            <a:ext cx="4572000" cy="7516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100" b="0" i="0">
                <a:solidFill>
                  <a:srgbClr val="666666"/>
                </a:solidFill>
                <a:latin typeface="Fidelity Sans"/>
              </a:defRPr>
              <a:lnSpc>
                <a:spcPts val="1500"/>
              </a:lnSpc>
            </a:pPr>
            <a:r>
              <a:t>Establish the physical space and who's in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75180"/>
            <a:ext cx="8595360" cy="751636"/>
          </a:xfrm>
          <a:prstGeom prst="rect">
            <a:avLst/>
          </a:prstGeom>
          <a:solidFill>
            <a:srgbClr val="F7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675180"/>
            <a:ext cx="64008" cy="751636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75180"/>
            <a:ext cx="1097280" cy="7516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4800" b="1" i="0">
                <a:solidFill>
                  <a:srgbClr val="CCCCCC"/>
                </a:solidFill>
                <a:latin typeface="Fidelity Slab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675180"/>
            <a:ext cx="2560320" cy="7516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400" b="1" i="0">
                <a:solidFill>
                  <a:srgbClr val="2D2D2D"/>
                </a:solidFill>
                <a:latin typeface="Fidelity Slab"/>
              </a:defRPr>
            </a:pPr>
            <a:r>
              <a:t>Start Mid-Conversation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675180"/>
            <a:ext cx="4572000" cy="7516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100" b="0" i="0">
                <a:solidFill>
                  <a:srgbClr val="666666"/>
                </a:solidFill>
                <a:latin typeface="Fidelity Sans"/>
              </a:defRPr>
              <a:lnSpc>
                <a:spcPts val="1500"/>
              </a:lnSpc>
            </a:pPr>
            <a:r>
              <a:t>Never begin at the beginning. Drop in where it's interesting.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81680"/>
            <a:ext cx="8595360" cy="751636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481680"/>
            <a:ext cx="64008" cy="751636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481680"/>
            <a:ext cx="1097280" cy="7516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4800" b="1" i="0">
                <a:solidFill>
                  <a:srgbClr val="CCCCCC"/>
                </a:solidFill>
                <a:latin typeface="Fidelity Slab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81680"/>
            <a:ext cx="2560320" cy="7516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400" b="1" i="0">
                <a:solidFill>
                  <a:srgbClr val="2D2D2D"/>
                </a:solidFill>
                <a:latin typeface="Fidelity Slab"/>
              </a:defRPr>
            </a:pPr>
            <a:r>
              <a:t>Layer the Subtext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481680"/>
            <a:ext cx="4572000" cy="7516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100" b="0" i="0">
                <a:solidFill>
                  <a:srgbClr val="666666"/>
                </a:solidFill>
                <a:latin typeface="Fidelity Sans"/>
              </a:defRPr>
              <a:lnSpc>
                <a:spcPts val="1500"/>
              </a:lnSpc>
            </a:pPr>
            <a:r>
              <a:t>What they're talking about is never what they're talking about.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88180"/>
            <a:ext cx="8595360" cy="751636"/>
          </a:xfrm>
          <a:prstGeom prst="rect">
            <a:avLst/>
          </a:prstGeom>
          <a:solidFill>
            <a:srgbClr val="F7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288180"/>
            <a:ext cx="64008" cy="75163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88180"/>
            <a:ext cx="1097280" cy="7516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4800" b="1" i="0">
                <a:solidFill>
                  <a:srgbClr val="CCCCCC"/>
                </a:solidFill>
                <a:latin typeface="Fidelity Slab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288180"/>
            <a:ext cx="2560320" cy="7516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400" b="1" i="0">
                <a:solidFill>
                  <a:srgbClr val="2D2D2D"/>
                </a:solidFill>
                <a:latin typeface="Fidelity Slab"/>
              </a:defRPr>
            </a:pPr>
            <a:r>
              <a:t>Interrupt the Pattern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288180"/>
            <a:ext cx="4572000" cy="7516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100" b="0" i="0">
                <a:solidFill>
                  <a:srgbClr val="666666"/>
                </a:solidFill>
                <a:latin typeface="Fidelity Sans"/>
              </a:defRPr>
              <a:lnSpc>
                <a:spcPts val="1500"/>
              </a:lnSpc>
            </a:pPr>
            <a:r>
              <a:t>Introduce a disruption that forces the subtext to the surface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094680"/>
            <a:ext cx="8595360" cy="751636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094680"/>
            <a:ext cx="64008" cy="751636"/>
          </a:xfrm>
          <a:prstGeom prst="rect">
            <a:avLst/>
          </a:prstGeom>
          <a:solidFill>
            <a:srgbClr val="1B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094680"/>
            <a:ext cx="1097280" cy="7516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4800" b="1" i="0">
                <a:solidFill>
                  <a:srgbClr val="CCCCCC"/>
                </a:solidFill>
                <a:latin typeface="Fidelity Slab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094680"/>
            <a:ext cx="2560320" cy="7516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400" b="1" i="0">
                <a:solidFill>
                  <a:srgbClr val="2D2D2D"/>
                </a:solidFill>
                <a:latin typeface="Fidelity Slab"/>
              </a:defRPr>
            </a:pPr>
            <a:r>
              <a:t>Land the Emotion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094680"/>
            <a:ext cx="4572000" cy="7516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100" b="0" i="0">
                <a:solidFill>
                  <a:srgbClr val="666666"/>
                </a:solidFill>
                <a:latin typeface="Fidelity Sans"/>
              </a:defRPr>
              <a:lnSpc>
                <a:spcPts val="1500"/>
              </a:lnSpc>
            </a:pPr>
            <a:r>
              <a:t>End on the feeling, not the information.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1" i="0">
                <a:solidFill>
                  <a:srgbClr val="999999"/>
                </a:solidFill>
                <a:latin typeface="Fidelity Sans"/>
              </a:defRPr>
            </a:pPr>
            <a:r>
              <a:t>LUKE'S DINER: SETTING AS CHARACTER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28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defRPr sz="900" b="1" i="0">
                <a:solidFill>
                  <a:srgbClr val="D4A843"/>
                </a:solidFill>
                <a:latin typeface="Fidelity Sans"/>
              </a:defRPr>
            </a:pPr>
            <a:r>
              <a:t>Step 1 of 3</a:t>
            </a:r>
          </a:p>
        </p:txBody>
      </p:sp>
      <p:sp>
        <p:nvSpPr>
          <p:cNvPr id="5" name="Oval 4"/>
          <p:cNvSpPr/>
          <p:nvPr/>
        </p:nvSpPr>
        <p:spPr>
          <a:xfrm>
            <a:off x="7498079" y="502920"/>
            <a:ext cx="109728" cy="109728"/>
          </a:xfrm>
          <a:prstGeom prst="ellipse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26679" y="502920"/>
            <a:ext cx="109728" cy="109728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79" y="502920"/>
            <a:ext cx="109728" cy="109728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77240"/>
            <a:ext cx="7955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000" b="1" i="0">
                <a:solidFill>
                  <a:srgbClr val="044014"/>
                </a:solidFill>
                <a:latin typeface="Fidelity Sans"/>
              </a:defRPr>
            </a:pPr>
            <a:r>
              <a:t>WHAT WE FOUND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115568"/>
            <a:ext cx="1371600" cy="38100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795528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1" i="0">
                <a:solidFill>
                  <a:srgbClr val="1A1A1A"/>
                </a:solidFill>
                <a:latin typeface="Fidelity Slab"/>
              </a:defRPr>
              <a:lnSpc>
                <a:spcPts val="3400"/>
              </a:lnSpc>
            </a:pPr>
            <a:r>
              <a:t>A Space with Its Own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514600"/>
            <a:ext cx="1828800" cy="254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795528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0" i="0">
                <a:solidFill>
                  <a:srgbClr val="666666"/>
                </a:solidFill>
                <a:latin typeface="Fidelity Sans"/>
              </a:defRPr>
              <a:lnSpc>
                <a:spcPts val="1700"/>
              </a:lnSpc>
            </a:pPr>
            <a:r>
              <a:t>Luke's Diner appears in 93% of all episodes. It's where Lorelai gets coffee, where town gossip circulates, and where most casual conversations happen. Unwritten rules (no cell phones, counter seats for regulars) function like character traits.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1" i="0">
                <a:solidFill>
                  <a:srgbClr val="999999"/>
                </a:solidFill>
                <a:latin typeface="Fidelity Sans"/>
              </a:defRPr>
            </a:pPr>
            <a:r>
              <a:t>LUKE'S DINER: SETTING AS CHARACTER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28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defRPr sz="900" b="1" i="0">
                <a:solidFill>
                  <a:srgbClr val="D4A843"/>
                </a:solidFill>
                <a:latin typeface="Fidelity Sans"/>
              </a:defRPr>
            </a:pPr>
            <a:r>
              <a:t>Step 2 of 3</a:t>
            </a:r>
          </a:p>
        </p:txBody>
      </p:sp>
      <p:sp>
        <p:nvSpPr>
          <p:cNvPr id="5" name="Oval 4"/>
          <p:cNvSpPr/>
          <p:nvPr/>
        </p:nvSpPr>
        <p:spPr>
          <a:xfrm>
            <a:off x="7498079" y="502920"/>
            <a:ext cx="109728" cy="109728"/>
          </a:xfrm>
          <a:prstGeom prst="ellipse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26679" y="502920"/>
            <a:ext cx="109728" cy="109728"/>
          </a:xfrm>
          <a:prstGeom prst="ellipse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79" y="502920"/>
            <a:ext cx="109728" cy="109728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822960"/>
            <a:ext cx="36576" cy="1097280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82296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800" b="1" i="0">
                <a:solidFill>
                  <a:srgbClr val="044014"/>
                </a:solidFill>
                <a:latin typeface="Fidelity Sans"/>
              </a:defRPr>
            </a:pPr>
            <a:r>
              <a:t>WHAT WE 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7899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000" b="1" i="0">
                <a:solidFill>
                  <a:srgbClr val="666666"/>
                </a:solidFill>
                <a:latin typeface="Fidelity Sans"/>
              </a:defRPr>
              <a:lnSpc>
                <a:spcPts val="1300"/>
              </a:lnSpc>
            </a:pPr>
            <a:r>
              <a:t>A Space with Its Own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17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800" b="0" i="0">
                <a:solidFill>
                  <a:srgbClr val="999999"/>
                </a:solidFill>
                <a:latin typeface="Fidelity Sans"/>
              </a:defRPr>
              <a:lnSpc>
                <a:spcPts val="1100"/>
              </a:lnSpc>
            </a:pPr>
            <a:r>
              <a:t>Luke's Diner appears in 93% of all episodes. It's where Lorelai gets coffee, where town gossip ci...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822960"/>
            <a:ext cx="13716" cy="3657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77724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000" b="1" i="0">
                <a:solidFill>
                  <a:srgbClr val="04547C"/>
                </a:solidFill>
                <a:latin typeface="Fidelity Sans"/>
              </a:defRPr>
            </a:pPr>
            <a:r>
              <a:t>SO WHAT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1115568"/>
            <a:ext cx="1371600" cy="38100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132588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1" i="0">
                <a:solidFill>
                  <a:srgbClr val="1A1A1A"/>
                </a:solidFill>
                <a:latin typeface="Fidelity Slab"/>
              </a:defRPr>
              <a:lnSpc>
                <a:spcPts val="3400"/>
              </a:lnSpc>
            </a:pPr>
            <a:r>
              <a:t>Repetition Earns Emotional Weight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2514600"/>
            <a:ext cx="1828800" cy="254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274320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0" i="0">
                <a:solidFill>
                  <a:srgbClr val="666666"/>
                </a:solidFill>
                <a:latin typeface="Fidelity Sans"/>
              </a:defRPr>
              <a:lnSpc>
                <a:spcPts val="1700"/>
              </a:lnSpc>
            </a:pPr>
            <a:r>
              <a:t>The diner isn't a backdrop. Scenes set at Luke's establish normalcy, so when something disrupts the routine (a fight, a closure, a renovation), the audience feels it viscerally.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1" i="0">
                <a:solidFill>
                  <a:srgbClr val="999999"/>
                </a:solidFill>
                <a:latin typeface="Fidelity Sans"/>
              </a:defRPr>
            </a:pPr>
            <a:r>
              <a:t>LUKE'S DINER: SETTING AS CHARACTER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28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defRPr sz="900" b="1" i="0">
                <a:solidFill>
                  <a:srgbClr val="D4A843"/>
                </a:solidFill>
                <a:latin typeface="Fidelity Sans"/>
              </a:defRPr>
            </a:pPr>
            <a:r>
              <a:t>Step 3 of 3</a:t>
            </a:r>
          </a:p>
        </p:txBody>
      </p:sp>
      <p:sp>
        <p:nvSpPr>
          <p:cNvPr id="5" name="Oval 4"/>
          <p:cNvSpPr/>
          <p:nvPr/>
        </p:nvSpPr>
        <p:spPr>
          <a:xfrm>
            <a:off x="7498079" y="502920"/>
            <a:ext cx="109728" cy="109728"/>
          </a:xfrm>
          <a:prstGeom prst="ellipse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26679" y="502920"/>
            <a:ext cx="109728" cy="109728"/>
          </a:xfrm>
          <a:prstGeom prst="ellipse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79" y="502920"/>
            <a:ext cx="109728" cy="109728"/>
          </a:xfrm>
          <a:prstGeom prst="ellipse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822960"/>
            <a:ext cx="36576" cy="1097280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82296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800" b="1" i="0">
                <a:solidFill>
                  <a:srgbClr val="044014"/>
                </a:solidFill>
                <a:latin typeface="Fidelity Sans"/>
              </a:defRPr>
            </a:pPr>
            <a:r>
              <a:t>WHAT WE 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7899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000" b="1" i="0">
                <a:solidFill>
                  <a:srgbClr val="666666"/>
                </a:solidFill>
                <a:latin typeface="Fidelity Sans"/>
              </a:defRPr>
              <a:lnSpc>
                <a:spcPts val="1300"/>
              </a:lnSpc>
            </a:pPr>
            <a:r>
              <a:t>A Space with Its Own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17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800" b="0" i="0">
                <a:solidFill>
                  <a:srgbClr val="999999"/>
                </a:solidFill>
                <a:latin typeface="Fidelity Sans"/>
              </a:defRPr>
              <a:lnSpc>
                <a:spcPts val="1100"/>
              </a:lnSpc>
            </a:pPr>
            <a:r>
              <a:t>Luke's Diner appears in 93% of all episodes. It's where Lorelai gets coffee, where town gossip ci...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194560"/>
            <a:ext cx="36576" cy="1097280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9456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800" b="1" i="0">
                <a:solidFill>
                  <a:srgbClr val="04547C"/>
                </a:solidFill>
                <a:latin typeface="Fidelity Sans"/>
              </a:defRPr>
            </a:pPr>
            <a:r>
              <a:t>SO WHAT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5059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000" b="1" i="0">
                <a:solidFill>
                  <a:srgbClr val="666666"/>
                </a:solidFill>
                <a:latin typeface="Fidelity Sans"/>
              </a:defRPr>
              <a:lnSpc>
                <a:spcPts val="1300"/>
              </a:lnSpc>
            </a:pPr>
            <a:r>
              <a:t>Repetition Earns Emotional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800" b="0" i="0">
                <a:solidFill>
                  <a:srgbClr val="999999"/>
                </a:solidFill>
                <a:latin typeface="Fidelity Sans"/>
              </a:defRPr>
              <a:lnSpc>
                <a:spcPts val="1100"/>
              </a:lnSpc>
            </a:pPr>
            <a:r>
              <a:t>The diner isn't a backdrop. Scenes set at Luke's establish normalcy, so when something disrupts t...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822960"/>
            <a:ext cx="13716" cy="3657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77724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000" b="1" i="0">
                <a:solidFill>
                  <a:srgbClr val="5B2C8F"/>
                </a:solidFill>
                <a:latin typeface="Fidelity Sans"/>
              </a:defRPr>
            </a:pPr>
            <a:r>
              <a:t>NOW WHAT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80" y="1115568"/>
            <a:ext cx="1371600" cy="38100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80" y="132588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1" i="0">
                <a:solidFill>
                  <a:srgbClr val="1A1A1A"/>
                </a:solidFill>
                <a:latin typeface="Fidelity Slab"/>
              </a:defRPr>
              <a:lnSpc>
                <a:spcPts val="3400"/>
              </a:lnSpc>
            </a:pPr>
            <a:r>
              <a:t>Build a Home Base, Then Disrupt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2514600"/>
            <a:ext cx="1828800" cy="254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274320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0" i="0">
                <a:solidFill>
                  <a:srgbClr val="666666"/>
                </a:solidFill>
                <a:latin typeface="Fidelity Sans"/>
              </a:defRPr>
              <a:lnSpc>
                <a:spcPts val="1700"/>
              </a:lnSpc>
            </a:pPr>
            <a:r>
              <a:t>Give your narrative anchor rules, regulars, and rituals. When you need dramatic impact, disrupt those rituals rather than introducing something new.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1" i="0">
                <a:solidFill>
                  <a:srgbClr val="999999"/>
                </a:solidFill>
                <a:latin typeface="Fidelity Sans"/>
              </a:defRPr>
            </a:pPr>
            <a:r>
              <a:t>WHAT THE REVIVAL GOT RIGHT AND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1" i="0">
                <a:solidFill>
                  <a:srgbClr val="044014"/>
                </a:solidFill>
                <a:latin typeface="Fidelity Sans"/>
              </a:defRPr>
            </a:pPr>
            <a:r>
              <a:t>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5943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1" i="0">
                <a:solidFill>
                  <a:srgbClr val="04547C"/>
                </a:solidFill>
                <a:latin typeface="Fidelity Sans"/>
              </a:defRPr>
            </a:pPr>
            <a:r>
              <a:t>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127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3931920" cy="777240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45720" cy="777240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100" b="0" i="0">
                <a:solidFill>
                  <a:srgbClr val="2D2D2D"/>
                </a:solidFill>
                <a:latin typeface="Fidelity Sans"/>
              </a:defRPr>
              <a:lnSpc>
                <a:spcPts val="1500"/>
              </a:lnSpc>
            </a:pPr>
            <a:r>
              <a:t>The musical episode ran 12 minutes — audiences checked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051560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800" b="1" i="0">
                <a:solidFill>
                  <a:srgbClr val="D4A843"/>
                </a:solidFill>
                <a:latin typeface="Fidelity Slab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051560"/>
            <a:ext cx="3931920" cy="777240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60" y="1051560"/>
            <a:ext cx="45720" cy="777240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051560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100" b="0" i="0">
                <a:solidFill>
                  <a:srgbClr val="2D2D2D"/>
                </a:solidFill>
                <a:latin typeface="Fidelity Sans"/>
              </a:defRPr>
              <a:lnSpc>
                <a:spcPts val="1500"/>
              </a:lnSpc>
            </a:pPr>
            <a:r>
              <a:t>Self-indulgence has a cost. Cut the bits you love most if they don't serve the story.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20240"/>
            <a:ext cx="3931920" cy="777240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920240"/>
            <a:ext cx="45720" cy="777240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100" b="0" i="0">
                <a:solidFill>
                  <a:srgbClr val="2D2D2D"/>
                </a:solidFill>
                <a:latin typeface="Fidelity Sans"/>
              </a:defRPr>
              <a:lnSpc>
                <a:spcPts val="1500"/>
              </a:lnSpc>
            </a:pPr>
            <a:r>
              <a:t>Emily's grief arc was the revival's strongest storyline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920240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800" b="1" i="0">
                <a:solidFill>
                  <a:srgbClr val="D4A843"/>
                </a:solidFill>
                <a:latin typeface="Fidelity Slab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1920240"/>
            <a:ext cx="3931920" cy="777240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1920240"/>
            <a:ext cx="45720" cy="777240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920240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100" b="0" i="0">
                <a:solidFill>
                  <a:srgbClr val="2D2D2D"/>
                </a:solidFill>
                <a:latin typeface="Fidelity Sans"/>
              </a:defRPr>
              <a:lnSpc>
                <a:spcPts val="1500"/>
              </a:lnSpc>
            </a:pPr>
            <a:r>
              <a:t>Characters with the most to lose create the most compelling arcs.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788920"/>
            <a:ext cx="3931920" cy="777240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788920"/>
            <a:ext cx="45720" cy="777240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100" b="0" i="0">
                <a:solidFill>
                  <a:srgbClr val="2D2D2D"/>
                </a:solidFill>
                <a:latin typeface="Fidelity Sans"/>
              </a:defRPr>
              <a:lnSpc>
                <a:spcPts val="1500"/>
              </a:lnSpc>
            </a:pPr>
            <a:r>
              <a:t>Rory's career stagnation felt unearned after 7 seasons of promise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788920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800" b="1" i="0">
                <a:solidFill>
                  <a:srgbClr val="D4A843"/>
                </a:solidFill>
                <a:latin typeface="Fidelity Slab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2788920"/>
            <a:ext cx="3931920" cy="777240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37760" y="2788920"/>
            <a:ext cx="45720" cy="777240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2788920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100" b="0" i="0">
                <a:solidFill>
                  <a:srgbClr val="2D2D2D"/>
                </a:solidFill>
                <a:latin typeface="Fidelity Sans"/>
              </a:defRPr>
              <a:lnSpc>
                <a:spcPts val="1500"/>
              </a:lnSpc>
            </a:pPr>
            <a:r>
              <a:t>Subverting expectations only works if the new direction is as interesting as the old one.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657600"/>
            <a:ext cx="8595360" cy="127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1" i="0">
                <a:solidFill>
                  <a:srgbClr val="999999"/>
                </a:solidFill>
                <a:latin typeface="Fidelity Sans"/>
              </a:defRPr>
            </a:pPr>
            <a:r>
              <a:t>GILMORE GIRLS: A NARRATIVE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560320"/>
            <a:ext cx="8046720" cy="32004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48056" y="2475280"/>
            <a:ext cx="201168" cy="201168"/>
          </a:xfrm>
          <a:prstGeom prst="ellipse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" y="5029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defRPr sz="900" b="1" i="0">
                <a:solidFill>
                  <a:srgbClr val="044014"/>
                </a:solidFill>
                <a:latin typeface="Fidelity Sans"/>
              </a:defRPr>
            </a:pPr>
            <a:r>
              <a:t>Oct 2000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" y="77724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>
              <a:defRPr sz="1100" b="1" i="0">
                <a:solidFill>
                  <a:srgbClr val="2D2D2D"/>
                </a:solidFill>
                <a:latin typeface="Fidelity Slab"/>
              </a:defRPr>
              <a:lnSpc>
                <a:spcPts val="1400"/>
              </a:lnSpc>
            </a:pPr>
            <a:r>
              <a:t>Pilot Airs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" y="1463040"/>
            <a:ext cx="18288" cy="1078992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14630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defRPr sz="700" b="0" i="0">
                <a:solidFill>
                  <a:srgbClr val="999999"/>
                </a:solidFill>
                <a:latin typeface="Fidelity Sans"/>
              </a:defRPr>
              <a:lnSpc>
                <a:spcPts val="900"/>
              </a:lnSpc>
            </a:pPr>
            <a:r>
              <a:t>WB debut; establishes the Friday dinner structure in 44 minutes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475280"/>
            <a:ext cx="201168" cy="201168"/>
          </a:xfrm>
          <a:prstGeom prst="ellipse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48840" y="2615184"/>
            <a:ext cx="18288" cy="256032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55064" y="288036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defRPr sz="1100" b="1" i="0">
                <a:solidFill>
                  <a:srgbClr val="2D2D2D"/>
                </a:solidFill>
                <a:latin typeface="Fidelity Slab"/>
              </a:defRPr>
              <a:lnSpc>
                <a:spcPts val="1400"/>
              </a:lnSpc>
            </a:pPr>
            <a:r>
              <a:t>Jess Arrives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5064" y="35204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defRPr sz="900" b="1" i="0">
                <a:solidFill>
                  <a:srgbClr val="044014"/>
                </a:solidFill>
                <a:latin typeface="Fidelity Sans"/>
              </a:defRPr>
            </a:pPr>
            <a:r>
              <a:t>2001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4" y="379476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defRPr sz="700" b="0" i="0">
                <a:solidFill>
                  <a:srgbClr val="999999"/>
                </a:solidFill>
                <a:latin typeface="Fidelity Sans"/>
              </a:defRPr>
              <a:lnSpc>
                <a:spcPts val="900"/>
              </a:lnSpc>
            </a:pPr>
            <a:r>
              <a:t>The first true narrative disruptor</a:t>
            </a:r>
          </a:p>
        </p:txBody>
      </p:sp>
      <p:sp>
        <p:nvSpPr>
          <p:cNvPr id="15" name="Oval 14"/>
          <p:cNvSpPr/>
          <p:nvPr/>
        </p:nvSpPr>
        <p:spPr>
          <a:xfrm>
            <a:off x="3666744" y="2475280"/>
            <a:ext cx="201168" cy="201168"/>
          </a:xfrm>
          <a:prstGeom prst="ellipse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5029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defRPr sz="900" b="1" i="0">
                <a:solidFill>
                  <a:srgbClr val="044014"/>
                </a:solidFill>
                <a:latin typeface="Fidelity Sans"/>
              </a:defRPr>
            </a:pPr>
            <a:r>
              <a:t>2003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77724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>
              <a:defRPr sz="1100" b="1" i="0">
                <a:solidFill>
                  <a:srgbClr val="2D2D2D"/>
                </a:solidFill>
                <a:latin typeface="Fidelity Slab"/>
              </a:defRPr>
              <a:lnSpc>
                <a:spcPts val="1400"/>
              </a:lnSpc>
            </a:pPr>
            <a:r>
              <a:t>Rory Enters Yale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58184" y="1463040"/>
            <a:ext cx="18288" cy="1078992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64408" y="14630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defRPr sz="700" b="0" i="0">
                <a:solidFill>
                  <a:srgbClr val="999999"/>
                </a:solidFill>
                <a:latin typeface="Fidelity Sans"/>
              </a:defRPr>
              <a:lnSpc>
                <a:spcPts val="900"/>
              </a:lnSpc>
            </a:pPr>
            <a:r>
              <a:t>Setting shift tests the show's voice</a:t>
            </a:r>
          </a:p>
        </p:txBody>
      </p:sp>
      <p:sp>
        <p:nvSpPr>
          <p:cNvPr id="20" name="Oval 19"/>
          <p:cNvSpPr/>
          <p:nvPr/>
        </p:nvSpPr>
        <p:spPr>
          <a:xfrm>
            <a:off x="5276088" y="2475280"/>
            <a:ext cx="201168" cy="201168"/>
          </a:xfrm>
          <a:prstGeom prst="ellipse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7528" y="2615184"/>
            <a:ext cx="18288" cy="256032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3752" y="288036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defRPr sz="1100" b="1" i="0">
                <a:solidFill>
                  <a:srgbClr val="2D2D2D"/>
                </a:solidFill>
                <a:latin typeface="Fidelity Slab"/>
              </a:defRPr>
              <a:lnSpc>
                <a:spcPts val="1400"/>
              </a:lnSpc>
            </a:pPr>
            <a:r>
              <a:t>Rory Drops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3752" y="35204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defRPr sz="900" b="1" i="0">
                <a:solidFill>
                  <a:srgbClr val="044014"/>
                </a:solidFill>
                <a:latin typeface="Fidelity Sans"/>
              </a:defRPr>
            </a:pPr>
            <a:r>
              <a:t>2005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3752" y="379476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defRPr sz="700" b="0" i="0">
                <a:solidFill>
                  <a:srgbClr val="999999"/>
                </a:solidFill>
                <a:latin typeface="Fidelity Sans"/>
              </a:defRPr>
              <a:lnSpc>
                <a:spcPts val="900"/>
              </a:lnSpc>
            </a:pPr>
            <a:r>
              <a:t>The most divisive arc</a:t>
            </a:r>
          </a:p>
        </p:txBody>
      </p:sp>
      <p:sp>
        <p:nvSpPr>
          <p:cNvPr id="25" name="Oval 24"/>
          <p:cNvSpPr/>
          <p:nvPr/>
        </p:nvSpPr>
        <p:spPr>
          <a:xfrm>
            <a:off x="6885432" y="2475280"/>
            <a:ext cx="201168" cy="201168"/>
          </a:xfrm>
          <a:prstGeom prst="ellipse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3096" y="5029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defRPr sz="900" b="1" i="0">
                <a:solidFill>
                  <a:srgbClr val="044014"/>
                </a:solidFill>
                <a:latin typeface="Fidelity Sans"/>
              </a:defRPr>
            </a:pPr>
            <a:r>
              <a:t>2006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6" y="77724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>
              <a:defRPr sz="1100" b="1" i="0">
                <a:solidFill>
                  <a:srgbClr val="2D2D2D"/>
                </a:solidFill>
                <a:latin typeface="Fidelity Slab"/>
              </a:defRPr>
              <a:lnSpc>
                <a:spcPts val="1400"/>
              </a:lnSpc>
            </a:pPr>
            <a:r>
              <a:t>ASP Departs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76872" y="1463040"/>
            <a:ext cx="18288" cy="1078992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14630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defRPr sz="700" b="0" i="0">
                <a:solidFill>
                  <a:srgbClr val="999999"/>
                </a:solidFill>
                <a:latin typeface="Fidelity Sans"/>
              </a:defRPr>
              <a:lnSpc>
                <a:spcPts val="900"/>
              </a:lnSpc>
            </a:pPr>
            <a:r>
              <a:t>Sherman-Palladino leaves after S6</a:t>
            </a:r>
          </a:p>
        </p:txBody>
      </p:sp>
      <p:sp>
        <p:nvSpPr>
          <p:cNvPr id="30" name="Oval 29"/>
          <p:cNvSpPr/>
          <p:nvPr/>
        </p:nvSpPr>
        <p:spPr>
          <a:xfrm>
            <a:off x="8494776" y="2475280"/>
            <a:ext cx="201168" cy="201168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86216" y="2615184"/>
            <a:ext cx="18288" cy="2560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288036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defRPr sz="1100" b="1" i="0">
                <a:solidFill>
                  <a:srgbClr val="2D2D2D"/>
                </a:solidFill>
                <a:latin typeface="Fidelity Slab"/>
              </a:defRPr>
              <a:lnSpc>
                <a:spcPts val="1400"/>
              </a:lnSpc>
            </a:pPr>
            <a:r>
              <a:t>Revival Airs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5204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defRPr sz="900" b="1" i="0">
                <a:solidFill>
                  <a:srgbClr val="D4A843"/>
                </a:solidFill>
                <a:latin typeface="Fidelity Sans"/>
              </a:defRPr>
            </a:pPr>
            <a:r>
              <a:t>2016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79476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defRPr sz="700" b="0" i="0">
                <a:solidFill>
                  <a:srgbClr val="999999"/>
                </a:solidFill>
                <a:latin typeface="Fidelity Sans"/>
              </a:defRPr>
              <a:lnSpc>
                <a:spcPts val="900"/>
              </a:lnSpc>
            </a:pPr>
            <a:r>
              <a:t>The final four words delivered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4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defRPr sz="3600" b="1" i="0">
                <a:solidFill>
                  <a:srgbClr val="FFFFFF"/>
                </a:solidFill>
                <a:latin typeface="Fidelity Slab"/>
              </a:defRPr>
              <a:lnSpc>
                <a:spcPts val="4400"/>
              </a:lnSpc>
            </a:pPr>
            <a:r>
              <a:t>Where You Lead, I Will Follow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65960"/>
            <a:ext cx="18288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3152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800" b="0" i="1">
                <a:solidFill>
                  <a:srgbClr val="E8E0CC"/>
                </a:solidFill>
                <a:latin typeface="Fidelity Slab"/>
              </a:defRPr>
              <a:lnSpc>
                <a:spcPts val="2600"/>
              </a:lnSpc>
            </a:pPr>
            <a:r>
              <a:t>The best stories don't tell you what to think. They walk fast enough that you have to run to keep up — and then you realize you've been somewhere important the whole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000" b="0" i="0">
                <a:solidFill>
                  <a:srgbClr val="A8C4A0"/>
                </a:solidFill>
                <a:latin typeface="Fidelity Sans"/>
              </a:defRPr>
            </a:pPr>
            <a:r>
              <a:t>Stars Hollow Gazette | Friday Dinners by Appointment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