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4014"/>
        </a:solidFill>
        <a:effectLst/>
      </p:bgPr>
    </p:bg>
    <p:spTree>
      <p:nvGrpSpPr>
        <p:cNvPr id="1" name=""/>
        <p:cNvGrpSpPr/>
        <p:nvPr/>
      </p:nvGrpSpPr>
      <p:grpSpPr/>
      <p:sp>
        <p:nvSpPr>
          <p:cNvPr id="2" name="Rectangle 1"/>
          <p:cNvSpPr/>
          <p:nvPr/>
        </p:nvSpPr>
        <p:spPr>
          <a:xfrm>
            <a:off x="0" y="0"/>
            <a:ext cx="9144000" cy="36576"/>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2286000"/>
          </a:xfrm>
          <a:prstGeom prst="rect">
            <a:avLst/>
          </a:prstGeom>
          <a:noFill/>
        </p:spPr>
        <p:txBody>
          <a:bodyPr wrap="square" lIns="0" rIns="0" tIns="0" bIns="0" anchor="b"/>
          <a:lstStyle/>
          <a:p>
            <a:pPr algn="l">
              <a:defRPr sz="3200" b="1" i="0">
                <a:solidFill>
                  <a:srgbClr val="FFFFFF"/>
                </a:solidFill>
                <a:latin typeface="Fidelity Slab"/>
              </a:defRPr>
              <a:lnSpc>
                <a:spcPts val="4000"/>
              </a:lnSpc>
            </a:pPr>
            <a:r>
              <a:t>Everything I Learned About</a:t>
            </a:r>
            <a:br/>
            <a:r>
              <a:t>Storytelling I Learned</a:t>
            </a:r>
            <a:br/>
            <a:r>
              <a:t>from Gilmore Girls</a:t>
            </a:r>
          </a:p>
        </p:txBody>
      </p:sp>
      <p:sp>
        <p:nvSpPr>
          <p:cNvPr id="4" name="Rectangle 3"/>
          <p:cNvSpPr/>
          <p:nvPr/>
        </p:nvSpPr>
        <p:spPr>
          <a:xfrm>
            <a:off x="731520" y="3017520"/>
            <a:ext cx="18288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246120"/>
            <a:ext cx="7315200" cy="914400"/>
          </a:xfrm>
          <a:prstGeom prst="rect">
            <a:avLst/>
          </a:prstGeom>
          <a:noFill/>
        </p:spPr>
        <p:txBody>
          <a:bodyPr wrap="square" lIns="0" rIns="0" tIns="0" bIns="0" anchor="t"/>
          <a:lstStyle/>
          <a:p>
            <a:pPr algn="l">
              <a:defRPr sz="1400" b="0" i="0">
                <a:solidFill>
                  <a:srgbClr val="E8E0CC"/>
                </a:solidFill>
                <a:latin typeface="Fidelity Sans"/>
              </a:defRPr>
              <a:lnSpc>
                <a:spcPts val="2000"/>
              </a:lnSpc>
            </a:pPr>
            <a:r>
              <a:t>A framework for narrative craft, disguised as a show about coffee</a:t>
            </a:r>
          </a:p>
        </p:txBody>
      </p:sp>
      <p:sp>
        <p:nvSpPr>
          <p:cNvPr id="6" name="TextBox 5"/>
          <p:cNvSpPr txBox="1"/>
          <p:nvPr/>
        </p:nvSpPr>
        <p:spPr>
          <a:xfrm>
            <a:off x="731520" y="4434840"/>
            <a:ext cx="3657600" cy="320040"/>
          </a:xfrm>
          <a:prstGeom prst="rect">
            <a:avLst/>
          </a:prstGeom>
          <a:noFill/>
        </p:spPr>
        <p:txBody>
          <a:bodyPr wrap="square" lIns="0" rIns="0" tIns="0" bIns="0" anchor="t"/>
          <a:lstStyle/>
          <a:p>
            <a:pPr algn="l">
              <a:defRPr sz="1000" b="0" i="0">
                <a:solidFill>
                  <a:srgbClr val="A8C4A0"/>
                </a:solidFill>
                <a:latin typeface="Fidelity Sans"/>
              </a:defRPr>
            </a:pPr>
            <a:r>
              <a:t>Stars Hollow School of Communication</a:t>
            </a:r>
          </a:p>
        </p:txBody>
      </p:sp>
      <p:sp>
        <p:nvSpPr>
          <p:cNvPr id="7" name="TextBox 6"/>
          <p:cNvSpPr txBox="1"/>
          <p:nvPr/>
        </p:nvSpPr>
        <p:spPr>
          <a:xfrm>
            <a:off x="731520" y="4709160"/>
            <a:ext cx="3657600" cy="274320"/>
          </a:xfrm>
          <a:prstGeom prst="rect">
            <a:avLst/>
          </a:prstGeom>
          <a:noFill/>
        </p:spPr>
        <p:txBody>
          <a:bodyPr wrap="square" lIns="0" rIns="0" tIns="0" bIns="0" anchor="t"/>
          <a:lstStyle/>
          <a:p>
            <a:pPr algn="l">
              <a:defRPr sz="1000" b="0" i="0">
                <a:solidFill>
                  <a:srgbClr val="A8C4A0"/>
                </a:solidFill>
                <a:latin typeface="Fidelity Sans"/>
              </a:defRPr>
            </a:pPr>
            <a:r>
              <a:t>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37160"/>
            <a:ext cx="8229600" cy="365760"/>
          </a:xfrm>
          <a:prstGeom prst="rect">
            <a:avLst/>
          </a:prstGeom>
          <a:noFill/>
        </p:spPr>
        <p:txBody>
          <a:bodyPr wrap="square" lIns="0" rIns="0" tIns="0" bIns="0" anchor="t"/>
          <a:lstStyle/>
          <a:p>
            <a:pPr algn="ctr">
              <a:defRPr sz="900" b="1" i="0">
                <a:solidFill>
                  <a:srgbClr val="999999"/>
                </a:solidFill>
                <a:latin typeface="Fidelity Sans"/>
              </a:defRPr>
            </a:pPr>
            <a:r>
              <a:t>A STORYTELLING WORKSHOP IN 7 SEASONS</a:t>
            </a:r>
          </a:p>
        </p:txBody>
      </p:sp>
      <p:sp>
        <p:nvSpPr>
          <p:cNvPr id="3" name="Rectangle 2"/>
          <p:cNvSpPr/>
          <p:nvPr/>
        </p:nvSpPr>
        <p:spPr>
          <a:xfrm>
            <a:off x="274320" y="502920"/>
            <a:ext cx="8595360" cy="254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548640"/>
            <a:ext cx="8595360" cy="127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731520"/>
            <a:ext cx="8229600" cy="640080"/>
          </a:xfrm>
          <a:prstGeom prst="rect">
            <a:avLst/>
          </a:prstGeom>
          <a:noFill/>
        </p:spPr>
        <p:txBody>
          <a:bodyPr wrap="square" lIns="0" rIns="0" tIns="0" bIns="0" anchor="ctr"/>
          <a:lstStyle/>
          <a:p>
            <a:pPr algn="l">
              <a:defRPr sz="3600" b="1" i="0">
                <a:solidFill>
                  <a:srgbClr val="1A1A1A"/>
                </a:solidFill>
                <a:latin typeface="Fidelity Slab"/>
              </a:defRPr>
            </a:pPr>
            <a:r>
              <a:t>Agenda</a:t>
            </a:r>
          </a:p>
        </p:txBody>
      </p:sp>
      <p:sp>
        <p:nvSpPr>
          <p:cNvPr id="6" name="Rectangle 5"/>
          <p:cNvSpPr/>
          <p:nvPr/>
        </p:nvSpPr>
        <p:spPr>
          <a:xfrm>
            <a:off x="274320" y="1463040"/>
            <a:ext cx="859536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691640"/>
            <a:ext cx="36576" cy="86868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691640"/>
            <a:ext cx="320040" cy="320040"/>
          </a:xfrm>
          <a:prstGeom prst="rect">
            <a:avLst/>
          </a:prstGeom>
          <a:noFill/>
        </p:spPr>
        <p:txBody>
          <a:bodyPr wrap="square" lIns="0" rIns="0" tIns="0" bIns="0" anchor="t"/>
          <a:lstStyle/>
          <a:p>
            <a:pPr algn="l">
              <a:defRPr sz="1600" b="1" i="0">
                <a:solidFill>
                  <a:srgbClr val="044014"/>
                </a:solidFill>
                <a:latin typeface="Fidelity Slab"/>
              </a:defRPr>
            </a:pPr>
            <a:r>
              <a:t>1</a:t>
            </a:r>
          </a:p>
        </p:txBody>
      </p:sp>
      <p:sp>
        <p:nvSpPr>
          <p:cNvPr id="9" name="TextBox 8"/>
          <p:cNvSpPr txBox="1"/>
          <p:nvPr/>
        </p:nvSpPr>
        <p:spPr>
          <a:xfrm>
            <a:off x="566928" y="1984248"/>
            <a:ext cx="2438400" cy="320040"/>
          </a:xfrm>
          <a:prstGeom prst="rect">
            <a:avLst/>
          </a:prstGeom>
          <a:noFill/>
        </p:spPr>
        <p:txBody>
          <a:bodyPr wrap="square" lIns="0" rIns="0" tIns="0" bIns="0" anchor="t"/>
          <a:lstStyle/>
          <a:p>
            <a:pPr algn="l">
              <a:defRPr sz="1300" b="1" i="0">
                <a:solidFill>
                  <a:srgbClr val="2D2D2D"/>
                </a:solidFill>
                <a:latin typeface="Fidelity Slab"/>
              </a:defRPr>
              <a:lnSpc>
                <a:spcPts val="1600"/>
              </a:lnSpc>
            </a:pPr>
            <a:r>
              <a:t>S1: Establishing Voice</a:t>
            </a:r>
          </a:p>
        </p:txBody>
      </p:sp>
      <p:sp>
        <p:nvSpPr>
          <p:cNvPr id="10" name="TextBox 9"/>
          <p:cNvSpPr txBox="1"/>
          <p:nvPr/>
        </p:nvSpPr>
        <p:spPr>
          <a:xfrm>
            <a:off x="566928" y="2313432"/>
            <a:ext cx="2438400" cy="228600"/>
          </a:xfrm>
          <a:prstGeom prst="rect">
            <a:avLst/>
          </a:prstGeom>
          <a:noFill/>
        </p:spPr>
        <p:txBody>
          <a:bodyPr wrap="square" lIns="0" rIns="0" tIns="0" bIns="0" anchor="t"/>
          <a:lstStyle/>
          <a:p>
            <a:pPr algn="l">
              <a:defRPr sz="900" b="0" i="0">
                <a:solidFill>
                  <a:srgbClr val="999999"/>
                </a:solidFill>
                <a:latin typeface="Fidelity Sans"/>
              </a:defRPr>
              <a:lnSpc>
                <a:spcPts val="1200"/>
              </a:lnSpc>
            </a:pPr>
            <a:r>
              <a:t>Build a world in 10 minutes</a:t>
            </a:r>
          </a:p>
        </p:txBody>
      </p:sp>
      <p:sp>
        <p:nvSpPr>
          <p:cNvPr id="11" name="Rectangle 10"/>
          <p:cNvSpPr/>
          <p:nvPr/>
        </p:nvSpPr>
        <p:spPr>
          <a:xfrm>
            <a:off x="3169920" y="1691640"/>
            <a:ext cx="9144" cy="8686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61360" y="1691640"/>
            <a:ext cx="36576" cy="86868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1088" y="1691640"/>
            <a:ext cx="320040" cy="320040"/>
          </a:xfrm>
          <a:prstGeom prst="rect">
            <a:avLst/>
          </a:prstGeom>
          <a:noFill/>
        </p:spPr>
        <p:txBody>
          <a:bodyPr wrap="square" lIns="0" rIns="0" tIns="0" bIns="0" anchor="t"/>
          <a:lstStyle/>
          <a:p>
            <a:pPr algn="l">
              <a:defRPr sz="1600" b="1" i="0">
                <a:solidFill>
                  <a:srgbClr val="04547C"/>
                </a:solidFill>
                <a:latin typeface="Fidelity Slab"/>
              </a:defRPr>
            </a:pPr>
            <a:r>
              <a:t>2</a:t>
            </a:r>
          </a:p>
        </p:txBody>
      </p:sp>
      <p:sp>
        <p:nvSpPr>
          <p:cNvPr id="14" name="TextBox 13"/>
          <p:cNvSpPr txBox="1"/>
          <p:nvPr/>
        </p:nvSpPr>
        <p:spPr>
          <a:xfrm>
            <a:off x="3371088" y="1984248"/>
            <a:ext cx="2438400" cy="320040"/>
          </a:xfrm>
          <a:prstGeom prst="rect">
            <a:avLst/>
          </a:prstGeom>
          <a:noFill/>
        </p:spPr>
        <p:txBody>
          <a:bodyPr wrap="square" lIns="0" rIns="0" tIns="0" bIns="0" anchor="t"/>
          <a:lstStyle/>
          <a:p>
            <a:pPr algn="l">
              <a:defRPr sz="1300" b="1" i="0">
                <a:solidFill>
                  <a:srgbClr val="2D2D2D"/>
                </a:solidFill>
                <a:latin typeface="Fidelity Slab"/>
              </a:defRPr>
              <a:lnSpc>
                <a:spcPts val="1600"/>
              </a:lnSpc>
            </a:pPr>
            <a:r>
              <a:t>S2: Deepening Conflict</a:t>
            </a:r>
          </a:p>
        </p:txBody>
      </p:sp>
      <p:sp>
        <p:nvSpPr>
          <p:cNvPr id="15" name="TextBox 14"/>
          <p:cNvSpPr txBox="1"/>
          <p:nvPr/>
        </p:nvSpPr>
        <p:spPr>
          <a:xfrm>
            <a:off x="3371088" y="2313432"/>
            <a:ext cx="2438400" cy="228600"/>
          </a:xfrm>
          <a:prstGeom prst="rect">
            <a:avLst/>
          </a:prstGeom>
          <a:noFill/>
        </p:spPr>
        <p:txBody>
          <a:bodyPr wrap="square" lIns="0" rIns="0" tIns="0" bIns="0" anchor="t"/>
          <a:lstStyle/>
          <a:p>
            <a:pPr algn="l">
              <a:defRPr sz="900" b="0" i="0">
                <a:solidFill>
                  <a:srgbClr val="999999"/>
                </a:solidFill>
                <a:latin typeface="Fidelity Sans"/>
              </a:defRPr>
              <a:lnSpc>
                <a:spcPts val="1200"/>
              </a:lnSpc>
            </a:pPr>
            <a:r>
              <a:t>The Jess arc as controlled disruption</a:t>
            </a:r>
          </a:p>
        </p:txBody>
      </p:sp>
      <p:sp>
        <p:nvSpPr>
          <p:cNvPr id="16" name="Rectangle 15"/>
          <p:cNvSpPr/>
          <p:nvPr/>
        </p:nvSpPr>
        <p:spPr>
          <a:xfrm>
            <a:off x="5974080" y="1691640"/>
            <a:ext cx="9144" cy="8686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65520" y="1691640"/>
            <a:ext cx="36576" cy="868680"/>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75248" y="1691640"/>
            <a:ext cx="320040" cy="320040"/>
          </a:xfrm>
          <a:prstGeom prst="rect">
            <a:avLst/>
          </a:prstGeom>
          <a:noFill/>
        </p:spPr>
        <p:txBody>
          <a:bodyPr wrap="square" lIns="0" rIns="0" tIns="0" bIns="0" anchor="t"/>
          <a:lstStyle/>
          <a:p>
            <a:pPr algn="l">
              <a:defRPr sz="1600" b="1" i="0">
                <a:solidFill>
                  <a:srgbClr val="5B2C8F"/>
                </a:solidFill>
                <a:latin typeface="Fidelity Slab"/>
              </a:defRPr>
            </a:pPr>
            <a:r>
              <a:t>3</a:t>
            </a:r>
          </a:p>
        </p:txBody>
      </p:sp>
      <p:sp>
        <p:nvSpPr>
          <p:cNvPr id="19" name="TextBox 18"/>
          <p:cNvSpPr txBox="1"/>
          <p:nvPr/>
        </p:nvSpPr>
        <p:spPr>
          <a:xfrm>
            <a:off x="6175248" y="1984248"/>
            <a:ext cx="2438400" cy="320040"/>
          </a:xfrm>
          <a:prstGeom prst="rect">
            <a:avLst/>
          </a:prstGeom>
          <a:noFill/>
        </p:spPr>
        <p:txBody>
          <a:bodyPr wrap="square" lIns="0" rIns="0" tIns="0" bIns="0" anchor="t"/>
          <a:lstStyle/>
          <a:p>
            <a:pPr algn="l">
              <a:defRPr sz="1300" b="1" i="0">
                <a:solidFill>
                  <a:srgbClr val="2D2D2D"/>
                </a:solidFill>
                <a:latin typeface="Fidelity Slab"/>
              </a:defRPr>
              <a:lnSpc>
                <a:spcPts val="1600"/>
              </a:lnSpc>
            </a:pPr>
            <a:r>
              <a:t>S3: Peak Ensemble</a:t>
            </a:r>
          </a:p>
        </p:txBody>
      </p:sp>
      <p:sp>
        <p:nvSpPr>
          <p:cNvPr id="20" name="TextBox 19"/>
          <p:cNvSpPr txBox="1"/>
          <p:nvPr/>
        </p:nvSpPr>
        <p:spPr>
          <a:xfrm>
            <a:off x="6175248" y="2313432"/>
            <a:ext cx="2438400" cy="228600"/>
          </a:xfrm>
          <a:prstGeom prst="rect">
            <a:avLst/>
          </a:prstGeom>
          <a:noFill/>
        </p:spPr>
        <p:txBody>
          <a:bodyPr wrap="square" lIns="0" rIns="0" tIns="0" bIns="0" anchor="t"/>
          <a:lstStyle/>
          <a:p>
            <a:pPr algn="l">
              <a:defRPr sz="900" b="0" i="0">
                <a:solidFill>
                  <a:srgbClr val="999999"/>
                </a:solidFill>
                <a:latin typeface="Fidelity Sans"/>
              </a:defRPr>
              <a:lnSpc>
                <a:spcPts val="1200"/>
              </a:lnSpc>
            </a:pPr>
            <a:r>
              <a:t>Every subplot connects to the spine</a:t>
            </a:r>
          </a:p>
        </p:txBody>
      </p:sp>
      <p:sp>
        <p:nvSpPr>
          <p:cNvPr id="21" name="Rectangle 20"/>
          <p:cNvSpPr/>
          <p:nvPr/>
        </p:nvSpPr>
        <p:spPr>
          <a:xfrm>
            <a:off x="457200" y="2834640"/>
            <a:ext cx="36576" cy="86868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834640"/>
            <a:ext cx="320040" cy="320040"/>
          </a:xfrm>
          <a:prstGeom prst="rect">
            <a:avLst/>
          </a:prstGeom>
          <a:noFill/>
        </p:spPr>
        <p:txBody>
          <a:bodyPr wrap="square" lIns="0" rIns="0" tIns="0" bIns="0" anchor="t"/>
          <a:lstStyle/>
          <a:p>
            <a:pPr algn="l">
              <a:defRPr sz="1600" b="1" i="0">
                <a:solidFill>
                  <a:srgbClr val="D4A843"/>
                </a:solidFill>
                <a:latin typeface="Fidelity Slab"/>
              </a:defRPr>
            </a:pPr>
            <a:r>
              <a:t>4</a:t>
            </a:r>
          </a:p>
        </p:txBody>
      </p:sp>
      <p:sp>
        <p:nvSpPr>
          <p:cNvPr id="23" name="TextBox 22"/>
          <p:cNvSpPr txBox="1"/>
          <p:nvPr/>
        </p:nvSpPr>
        <p:spPr>
          <a:xfrm>
            <a:off x="566928" y="3127248"/>
            <a:ext cx="2438400" cy="320040"/>
          </a:xfrm>
          <a:prstGeom prst="rect">
            <a:avLst/>
          </a:prstGeom>
          <a:noFill/>
        </p:spPr>
        <p:txBody>
          <a:bodyPr wrap="square" lIns="0" rIns="0" tIns="0" bIns="0" anchor="t"/>
          <a:lstStyle/>
          <a:p>
            <a:pPr algn="l">
              <a:defRPr sz="1300" b="1" i="0">
                <a:solidFill>
                  <a:srgbClr val="2D2D2D"/>
                </a:solidFill>
                <a:latin typeface="Fidelity Slab"/>
              </a:defRPr>
              <a:lnSpc>
                <a:spcPts val="1600"/>
              </a:lnSpc>
            </a:pPr>
            <a:r>
              <a:t>S4: The College Problem</a:t>
            </a:r>
          </a:p>
        </p:txBody>
      </p:sp>
      <p:sp>
        <p:nvSpPr>
          <p:cNvPr id="24" name="TextBox 23"/>
          <p:cNvSpPr txBox="1"/>
          <p:nvPr/>
        </p:nvSpPr>
        <p:spPr>
          <a:xfrm>
            <a:off x="566928" y="3456432"/>
            <a:ext cx="2438400" cy="228600"/>
          </a:xfrm>
          <a:prstGeom prst="rect">
            <a:avLst/>
          </a:prstGeom>
          <a:noFill/>
        </p:spPr>
        <p:txBody>
          <a:bodyPr wrap="square" lIns="0" rIns="0" tIns="0" bIns="0" anchor="t"/>
          <a:lstStyle/>
          <a:p>
            <a:pPr algn="l">
              <a:defRPr sz="900" b="0" i="0">
                <a:solidFill>
                  <a:srgbClr val="999999"/>
                </a:solidFill>
                <a:latin typeface="Fidelity Sans"/>
              </a:defRPr>
              <a:lnSpc>
                <a:spcPts val="1200"/>
              </a:lnSpc>
            </a:pPr>
            <a:r>
              <a:t>Evolve without losing the core</a:t>
            </a:r>
          </a:p>
        </p:txBody>
      </p:sp>
      <p:sp>
        <p:nvSpPr>
          <p:cNvPr id="25" name="Rectangle 24"/>
          <p:cNvSpPr/>
          <p:nvPr/>
        </p:nvSpPr>
        <p:spPr>
          <a:xfrm>
            <a:off x="3169920" y="2834640"/>
            <a:ext cx="9144" cy="8686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61360" y="2834640"/>
            <a:ext cx="36576" cy="868680"/>
          </a:xfrm>
          <a:prstGeom prst="rect">
            <a:avLst/>
          </a:prstGeom>
          <a:solidFill>
            <a:srgbClr val="1B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71088" y="2834640"/>
            <a:ext cx="320040" cy="320040"/>
          </a:xfrm>
          <a:prstGeom prst="rect">
            <a:avLst/>
          </a:prstGeom>
          <a:noFill/>
        </p:spPr>
        <p:txBody>
          <a:bodyPr wrap="square" lIns="0" rIns="0" tIns="0" bIns="0" anchor="t"/>
          <a:lstStyle/>
          <a:p>
            <a:pPr algn="l">
              <a:defRPr sz="1600" b="1" i="0">
                <a:solidFill>
                  <a:srgbClr val="1B7A6E"/>
                </a:solidFill>
                <a:latin typeface="Fidelity Slab"/>
              </a:defRPr>
            </a:pPr>
            <a:r>
              <a:t>5</a:t>
            </a:r>
          </a:p>
        </p:txBody>
      </p:sp>
      <p:sp>
        <p:nvSpPr>
          <p:cNvPr id="28" name="TextBox 27"/>
          <p:cNvSpPr txBox="1"/>
          <p:nvPr/>
        </p:nvSpPr>
        <p:spPr>
          <a:xfrm>
            <a:off x="3371088" y="3127248"/>
            <a:ext cx="2438400" cy="320040"/>
          </a:xfrm>
          <a:prstGeom prst="rect">
            <a:avLst/>
          </a:prstGeom>
          <a:noFill/>
        </p:spPr>
        <p:txBody>
          <a:bodyPr wrap="square" lIns="0" rIns="0" tIns="0" bIns="0" anchor="t"/>
          <a:lstStyle/>
          <a:p>
            <a:pPr algn="l">
              <a:defRPr sz="1300" b="1" i="0">
                <a:solidFill>
                  <a:srgbClr val="2D2D2D"/>
                </a:solidFill>
                <a:latin typeface="Fidelity Slab"/>
              </a:defRPr>
              <a:lnSpc>
                <a:spcPts val="1600"/>
              </a:lnSpc>
            </a:pPr>
            <a:r>
              <a:t>S5: Raising the Floor</a:t>
            </a:r>
          </a:p>
        </p:txBody>
      </p:sp>
      <p:sp>
        <p:nvSpPr>
          <p:cNvPr id="29" name="TextBox 28"/>
          <p:cNvSpPr txBox="1"/>
          <p:nvPr/>
        </p:nvSpPr>
        <p:spPr>
          <a:xfrm>
            <a:off x="3371088" y="3456432"/>
            <a:ext cx="2438400" cy="228600"/>
          </a:xfrm>
          <a:prstGeom prst="rect">
            <a:avLst/>
          </a:prstGeom>
          <a:noFill/>
        </p:spPr>
        <p:txBody>
          <a:bodyPr wrap="square" lIns="0" rIns="0" tIns="0" bIns="0" anchor="t"/>
          <a:lstStyle/>
          <a:p>
            <a:pPr algn="l">
              <a:defRPr sz="900" b="0" i="0">
                <a:solidFill>
                  <a:srgbClr val="999999"/>
                </a:solidFill>
                <a:latin typeface="Fidelity Sans"/>
              </a:defRPr>
              <a:lnSpc>
                <a:spcPts val="1200"/>
              </a:lnSpc>
            </a:pPr>
            <a:r>
              <a:t>Worst episodes still good</a:t>
            </a:r>
          </a:p>
        </p:txBody>
      </p:sp>
      <p:sp>
        <p:nvSpPr>
          <p:cNvPr id="30" name="Rectangle 29"/>
          <p:cNvSpPr/>
          <p:nvPr/>
        </p:nvSpPr>
        <p:spPr>
          <a:xfrm>
            <a:off x="5974080" y="2834640"/>
            <a:ext cx="9144" cy="86868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65520" y="2834640"/>
            <a:ext cx="36576" cy="868680"/>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75248" y="2834640"/>
            <a:ext cx="320040" cy="320040"/>
          </a:xfrm>
          <a:prstGeom prst="rect">
            <a:avLst/>
          </a:prstGeom>
          <a:noFill/>
        </p:spPr>
        <p:txBody>
          <a:bodyPr wrap="square" lIns="0" rIns="0" tIns="0" bIns="0" anchor="t"/>
          <a:lstStyle/>
          <a:p>
            <a:pPr algn="l">
              <a:defRPr sz="1600" b="1" i="0">
                <a:solidFill>
                  <a:srgbClr val="C23B22"/>
                </a:solidFill>
                <a:latin typeface="Fidelity Slab"/>
              </a:defRPr>
            </a:pPr>
            <a:r>
              <a:t>6</a:t>
            </a:r>
          </a:p>
        </p:txBody>
      </p:sp>
      <p:sp>
        <p:nvSpPr>
          <p:cNvPr id="33" name="TextBox 32"/>
          <p:cNvSpPr txBox="1"/>
          <p:nvPr/>
        </p:nvSpPr>
        <p:spPr>
          <a:xfrm>
            <a:off x="6175248" y="3127248"/>
            <a:ext cx="2438400" cy="320040"/>
          </a:xfrm>
          <a:prstGeom prst="rect">
            <a:avLst/>
          </a:prstGeom>
          <a:noFill/>
        </p:spPr>
        <p:txBody>
          <a:bodyPr wrap="square" lIns="0" rIns="0" tIns="0" bIns="0" anchor="t"/>
          <a:lstStyle/>
          <a:p>
            <a:pPr algn="l">
              <a:defRPr sz="1300" b="1" i="0">
                <a:solidFill>
                  <a:srgbClr val="2D2D2D"/>
                </a:solidFill>
                <a:latin typeface="Fidelity Slab"/>
              </a:defRPr>
              <a:lnSpc>
                <a:spcPts val="1600"/>
              </a:lnSpc>
            </a:pPr>
            <a:r>
              <a:t>S6: Losing the Thread</a:t>
            </a:r>
          </a:p>
        </p:txBody>
      </p:sp>
      <p:sp>
        <p:nvSpPr>
          <p:cNvPr id="34" name="TextBox 33"/>
          <p:cNvSpPr txBox="1"/>
          <p:nvPr/>
        </p:nvSpPr>
        <p:spPr>
          <a:xfrm>
            <a:off x="6175248" y="3456432"/>
            <a:ext cx="2438400" cy="228600"/>
          </a:xfrm>
          <a:prstGeom prst="rect">
            <a:avLst/>
          </a:prstGeom>
          <a:noFill/>
        </p:spPr>
        <p:txBody>
          <a:bodyPr wrap="square" lIns="0" rIns="0" tIns="0" bIns="0" anchor="t"/>
          <a:lstStyle/>
          <a:p>
            <a:pPr algn="l">
              <a:defRPr sz="900" b="0" i="0">
                <a:solidFill>
                  <a:srgbClr val="999999"/>
                </a:solidFill>
                <a:latin typeface="Fidelity Sans"/>
              </a:defRPr>
              <a:lnSpc>
                <a:spcPts val="1200"/>
              </a:lnSpc>
            </a:pPr>
            <a:r>
              <a:t>Vision vs. network divergence</a:t>
            </a:r>
          </a:p>
        </p:txBody>
      </p:sp>
      <p:sp>
        <p:nvSpPr>
          <p:cNvPr id="35" name="Rectangle 34"/>
          <p:cNvSpPr/>
          <p:nvPr/>
        </p:nvSpPr>
        <p:spPr>
          <a:xfrm>
            <a:off x="457200" y="3977640"/>
            <a:ext cx="36576" cy="868680"/>
          </a:xfrm>
          <a:prstGeom prst="rect">
            <a:avLst/>
          </a:prstGeom>
          <a:solidFill>
            <a:srgbClr val="CC7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 y="3977640"/>
            <a:ext cx="320040" cy="320040"/>
          </a:xfrm>
          <a:prstGeom prst="rect">
            <a:avLst/>
          </a:prstGeom>
          <a:noFill/>
        </p:spPr>
        <p:txBody>
          <a:bodyPr wrap="square" lIns="0" rIns="0" tIns="0" bIns="0" anchor="t"/>
          <a:lstStyle/>
          <a:p>
            <a:pPr algn="l">
              <a:defRPr sz="1600" b="1" i="0">
                <a:solidFill>
                  <a:srgbClr val="CC7A2E"/>
                </a:solidFill>
                <a:latin typeface="Fidelity Slab"/>
              </a:defRPr>
            </a:pPr>
            <a:r>
              <a:t>7</a:t>
            </a:r>
          </a:p>
        </p:txBody>
      </p:sp>
      <p:sp>
        <p:nvSpPr>
          <p:cNvPr id="37" name="TextBox 36"/>
          <p:cNvSpPr txBox="1"/>
          <p:nvPr/>
        </p:nvSpPr>
        <p:spPr>
          <a:xfrm>
            <a:off x="566928" y="4270248"/>
            <a:ext cx="2438400" cy="320040"/>
          </a:xfrm>
          <a:prstGeom prst="rect">
            <a:avLst/>
          </a:prstGeom>
          <a:noFill/>
        </p:spPr>
        <p:txBody>
          <a:bodyPr wrap="square" lIns="0" rIns="0" tIns="0" bIns="0" anchor="t"/>
          <a:lstStyle/>
          <a:p>
            <a:pPr algn="l">
              <a:defRPr sz="1300" b="1" i="0">
                <a:solidFill>
                  <a:srgbClr val="2D2D2D"/>
                </a:solidFill>
                <a:latin typeface="Fidelity Slab"/>
              </a:defRPr>
              <a:lnSpc>
                <a:spcPts val="1600"/>
              </a:lnSpc>
            </a:pPr>
            <a:r>
              <a:t>S7: The Handoff</a:t>
            </a:r>
          </a:p>
        </p:txBody>
      </p:sp>
      <p:sp>
        <p:nvSpPr>
          <p:cNvPr id="38" name="TextBox 37"/>
          <p:cNvSpPr txBox="1"/>
          <p:nvPr/>
        </p:nvSpPr>
        <p:spPr>
          <a:xfrm>
            <a:off x="566928" y="4599432"/>
            <a:ext cx="2438400" cy="228600"/>
          </a:xfrm>
          <a:prstGeom prst="rect">
            <a:avLst/>
          </a:prstGeom>
          <a:noFill/>
        </p:spPr>
        <p:txBody>
          <a:bodyPr wrap="square" lIns="0" rIns="0" tIns="0" bIns="0" anchor="t"/>
          <a:lstStyle/>
          <a:p>
            <a:pPr algn="l">
              <a:defRPr sz="900" b="0" i="0">
                <a:solidFill>
                  <a:srgbClr val="999999"/>
                </a:solidFill>
                <a:latin typeface="Fidelity Sans"/>
              </a:defRPr>
              <a:lnSpc>
                <a:spcPts val="1200"/>
              </a:lnSpc>
            </a:pPr>
            <a:r>
              <a:t>Can a story survive without its voice?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5486400" cy="365760"/>
          </a:xfrm>
          <a:prstGeom prst="rect">
            <a:avLst/>
          </a:prstGeom>
          <a:noFill/>
        </p:spPr>
        <p:txBody>
          <a:bodyPr wrap="square" lIns="0" rIns="0" tIns="0" bIns="0" anchor="t"/>
          <a:lstStyle/>
          <a:p>
            <a:pPr algn="l">
              <a:defRPr sz="1400" b="1" i="0">
                <a:solidFill>
                  <a:srgbClr val="999999"/>
                </a:solidFill>
                <a:latin typeface="Fidelity Sans"/>
              </a:defRPr>
            </a:pPr>
            <a:r>
              <a:t>WHY GILMORE GIRLS IS A STORYTELLING MASTERCLASS</a:t>
            </a:r>
          </a:p>
        </p:txBody>
      </p:sp>
      <p:sp>
        <p:nvSpPr>
          <p:cNvPr id="4" name="TextBox 3"/>
          <p:cNvSpPr txBox="1"/>
          <p:nvPr/>
        </p:nvSpPr>
        <p:spPr>
          <a:xfrm>
            <a:off x="7315200" y="182880"/>
            <a:ext cx="1371600" cy="365760"/>
          </a:xfrm>
          <a:prstGeom prst="rect">
            <a:avLst/>
          </a:prstGeom>
          <a:noFill/>
        </p:spPr>
        <p:txBody>
          <a:bodyPr wrap="square" lIns="0" rIns="0" tIns="0" bIns="0" anchor="t"/>
          <a:lstStyle/>
          <a:p>
            <a:pPr algn="r">
              <a:defRPr sz="1400" b="1" i="0">
                <a:solidFill>
                  <a:srgbClr val="D4A843"/>
                </a:solidFill>
                <a:latin typeface="Fidelity Sans"/>
              </a:defRPr>
            </a:pPr>
            <a:r>
              <a:t>1 of 5</a:t>
            </a:r>
          </a:p>
        </p:txBody>
      </p:sp>
      <p:sp>
        <p:nvSpPr>
          <p:cNvPr id="5" name="Rectangle 4"/>
          <p:cNvSpPr/>
          <p:nvPr/>
        </p:nvSpPr>
        <p:spPr>
          <a:xfrm>
            <a:off x="594360" y="548640"/>
            <a:ext cx="795528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548640"/>
            <a:ext cx="1591056" cy="2743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822960"/>
            <a:ext cx="7955280" cy="1645920"/>
          </a:xfrm>
          <a:prstGeom prst="rect">
            <a:avLst/>
          </a:prstGeom>
          <a:noFill/>
        </p:spPr>
        <p:txBody>
          <a:bodyPr wrap="square" lIns="0" rIns="0" tIns="0" bIns="0" anchor="t"/>
          <a:lstStyle/>
          <a:p>
            <a:pPr algn="l">
              <a:defRPr sz="2800" b="1" i="0">
                <a:solidFill>
                  <a:srgbClr val="1A1A1A"/>
                </a:solidFill>
                <a:latin typeface="Fidelity Slab"/>
              </a:defRPr>
              <a:lnSpc>
                <a:spcPts val="3600"/>
              </a:lnSpc>
            </a:pPr>
            <a:r>
              <a:t>153 episodes averaging 8,000+ words of dialogue each — more than most films</a:t>
            </a:r>
          </a:p>
        </p:txBody>
      </p:sp>
      <p:sp>
        <p:nvSpPr>
          <p:cNvPr id="8" name="Rectangle 7"/>
          <p:cNvSpPr/>
          <p:nvPr/>
        </p:nvSpPr>
        <p:spPr>
          <a:xfrm>
            <a:off x="594360" y="2560320"/>
            <a:ext cx="22860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5486400" cy="365760"/>
          </a:xfrm>
          <a:prstGeom prst="rect">
            <a:avLst/>
          </a:prstGeom>
          <a:noFill/>
        </p:spPr>
        <p:txBody>
          <a:bodyPr wrap="square" lIns="0" rIns="0" tIns="0" bIns="0" anchor="t"/>
          <a:lstStyle/>
          <a:p>
            <a:pPr algn="l">
              <a:defRPr sz="1400" b="1" i="0">
                <a:solidFill>
                  <a:srgbClr val="999999"/>
                </a:solidFill>
                <a:latin typeface="Fidelity Sans"/>
              </a:defRPr>
            </a:pPr>
            <a:r>
              <a:t>WHY GILMORE GIRLS IS A STORYTELLING MASTERCLASS</a:t>
            </a:r>
          </a:p>
        </p:txBody>
      </p:sp>
      <p:sp>
        <p:nvSpPr>
          <p:cNvPr id="4" name="TextBox 3"/>
          <p:cNvSpPr txBox="1"/>
          <p:nvPr/>
        </p:nvSpPr>
        <p:spPr>
          <a:xfrm>
            <a:off x="7315200" y="182880"/>
            <a:ext cx="1371600" cy="365760"/>
          </a:xfrm>
          <a:prstGeom prst="rect">
            <a:avLst/>
          </a:prstGeom>
          <a:noFill/>
        </p:spPr>
        <p:txBody>
          <a:bodyPr wrap="square" lIns="0" rIns="0" tIns="0" bIns="0" anchor="t"/>
          <a:lstStyle/>
          <a:p>
            <a:pPr algn="r">
              <a:defRPr sz="1400" b="1" i="0">
                <a:solidFill>
                  <a:srgbClr val="D4A843"/>
                </a:solidFill>
                <a:latin typeface="Fidelity Sans"/>
              </a:defRPr>
            </a:pPr>
            <a:r>
              <a:t>2 of 5</a:t>
            </a:r>
          </a:p>
        </p:txBody>
      </p:sp>
      <p:sp>
        <p:nvSpPr>
          <p:cNvPr id="5" name="Rectangle 4"/>
          <p:cNvSpPr/>
          <p:nvPr/>
        </p:nvSpPr>
        <p:spPr>
          <a:xfrm>
            <a:off x="594360" y="548640"/>
            <a:ext cx="795528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548640"/>
            <a:ext cx="3182112" cy="2743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822960"/>
            <a:ext cx="7955280" cy="1645920"/>
          </a:xfrm>
          <a:prstGeom prst="rect">
            <a:avLst/>
          </a:prstGeom>
          <a:noFill/>
        </p:spPr>
        <p:txBody>
          <a:bodyPr wrap="square" lIns="0" rIns="0" tIns="0" bIns="0" anchor="t"/>
          <a:lstStyle/>
          <a:p>
            <a:pPr algn="l">
              <a:defRPr sz="2800" b="1" i="0">
                <a:solidFill>
                  <a:srgbClr val="1A1A1A"/>
                </a:solidFill>
                <a:latin typeface="Fidelity Slab"/>
              </a:defRPr>
              <a:lnSpc>
                <a:spcPts val="3600"/>
              </a:lnSpc>
            </a:pPr>
            <a:r>
              <a:t>Pioneered the 'walk and talk' as a pacing device for television</a:t>
            </a:r>
          </a:p>
        </p:txBody>
      </p:sp>
      <p:sp>
        <p:nvSpPr>
          <p:cNvPr id="8" name="Rectangle 7"/>
          <p:cNvSpPr/>
          <p:nvPr/>
        </p:nvSpPr>
        <p:spPr>
          <a:xfrm>
            <a:off x="594360" y="2560320"/>
            <a:ext cx="22860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34640"/>
            <a:ext cx="2743200" cy="228600"/>
          </a:xfrm>
          <a:prstGeom prst="rect">
            <a:avLst/>
          </a:prstGeom>
          <a:noFill/>
        </p:spPr>
        <p:txBody>
          <a:bodyPr wrap="square" lIns="0" rIns="0" tIns="0" bIns="0" anchor="t"/>
          <a:lstStyle/>
          <a:p>
            <a:pPr algn="l">
              <a:defRPr sz="800" b="1" i="0">
                <a:solidFill>
                  <a:srgbClr val="999999"/>
                </a:solidFill>
                <a:latin typeface="Fidelity Sans"/>
              </a:defRPr>
            </a:pPr>
            <a:r>
              <a:t>PREVIOUSLY</a:t>
            </a:r>
          </a:p>
        </p:txBody>
      </p:sp>
      <p:sp>
        <p:nvSpPr>
          <p:cNvPr id="10" name="TextBox 9"/>
          <p:cNvSpPr txBox="1"/>
          <p:nvPr/>
        </p:nvSpPr>
        <p:spPr>
          <a:xfrm>
            <a:off x="594360" y="3108960"/>
            <a:ext cx="274320" cy="320040"/>
          </a:xfrm>
          <a:prstGeom prst="rect">
            <a:avLst/>
          </a:prstGeom>
          <a:noFill/>
        </p:spPr>
        <p:txBody>
          <a:bodyPr wrap="square" lIns="0" rIns="0" tIns="0" bIns="0" anchor="t"/>
          <a:lstStyle/>
          <a:p>
            <a:pPr algn="l">
              <a:defRPr sz="1200" b="1" i="0">
                <a:solidFill>
                  <a:srgbClr val="CCCCCC"/>
                </a:solidFill>
                <a:latin typeface="Fidelity Slab"/>
              </a:defRPr>
            </a:pPr>
            <a:r>
              <a:t>1</a:t>
            </a:r>
          </a:p>
        </p:txBody>
      </p:sp>
      <p:sp>
        <p:nvSpPr>
          <p:cNvPr id="11" name="TextBox 10"/>
          <p:cNvSpPr txBox="1"/>
          <p:nvPr/>
        </p:nvSpPr>
        <p:spPr>
          <a:xfrm>
            <a:off x="914400" y="3108960"/>
            <a:ext cx="7315200" cy="320040"/>
          </a:xfrm>
          <a:prstGeom prst="rect">
            <a:avLst/>
          </a:prstGeom>
          <a:noFill/>
        </p:spPr>
        <p:txBody>
          <a:bodyPr wrap="square" lIns="0" rIns="0" tIns="0" bIns="0" anchor="ctr"/>
          <a:lstStyle/>
          <a:p>
            <a:pPr algn="l">
              <a:defRPr sz="1000" b="0" i="0">
                <a:solidFill>
                  <a:srgbClr val="999999"/>
                </a:solidFill>
                <a:latin typeface="Fidelity Sans"/>
              </a:defRPr>
            </a:pPr>
            <a:r>
              <a:t>153 episodes averaging 8,000+ words of dialogue each — more than most films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5486400" cy="365760"/>
          </a:xfrm>
          <a:prstGeom prst="rect">
            <a:avLst/>
          </a:prstGeom>
          <a:noFill/>
        </p:spPr>
        <p:txBody>
          <a:bodyPr wrap="square" lIns="0" rIns="0" tIns="0" bIns="0" anchor="t"/>
          <a:lstStyle/>
          <a:p>
            <a:pPr algn="l">
              <a:defRPr sz="1400" b="1" i="0">
                <a:solidFill>
                  <a:srgbClr val="999999"/>
                </a:solidFill>
                <a:latin typeface="Fidelity Sans"/>
              </a:defRPr>
            </a:pPr>
            <a:r>
              <a:t>WHY GILMORE GIRLS IS A STORYTELLING MASTERCLASS</a:t>
            </a:r>
          </a:p>
        </p:txBody>
      </p:sp>
      <p:sp>
        <p:nvSpPr>
          <p:cNvPr id="4" name="TextBox 3"/>
          <p:cNvSpPr txBox="1"/>
          <p:nvPr/>
        </p:nvSpPr>
        <p:spPr>
          <a:xfrm>
            <a:off x="7315200" y="182880"/>
            <a:ext cx="1371600" cy="365760"/>
          </a:xfrm>
          <a:prstGeom prst="rect">
            <a:avLst/>
          </a:prstGeom>
          <a:noFill/>
        </p:spPr>
        <p:txBody>
          <a:bodyPr wrap="square" lIns="0" rIns="0" tIns="0" bIns="0" anchor="t"/>
          <a:lstStyle/>
          <a:p>
            <a:pPr algn="r">
              <a:defRPr sz="1400" b="1" i="0">
                <a:solidFill>
                  <a:srgbClr val="D4A843"/>
                </a:solidFill>
                <a:latin typeface="Fidelity Sans"/>
              </a:defRPr>
            </a:pPr>
            <a:r>
              <a:t>3 of 5</a:t>
            </a:r>
          </a:p>
        </p:txBody>
      </p:sp>
      <p:sp>
        <p:nvSpPr>
          <p:cNvPr id="5" name="Rectangle 4"/>
          <p:cNvSpPr/>
          <p:nvPr/>
        </p:nvSpPr>
        <p:spPr>
          <a:xfrm>
            <a:off x="594360" y="548640"/>
            <a:ext cx="795528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548640"/>
            <a:ext cx="4773168" cy="2743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822960"/>
            <a:ext cx="7955280" cy="1645920"/>
          </a:xfrm>
          <a:prstGeom prst="rect">
            <a:avLst/>
          </a:prstGeom>
          <a:noFill/>
        </p:spPr>
        <p:txBody>
          <a:bodyPr wrap="square" lIns="0" rIns="0" tIns="0" bIns="0" anchor="t"/>
          <a:lstStyle/>
          <a:p>
            <a:pPr algn="l">
              <a:defRPr sz="2800" b="1" i="0">
                <a:solidFill>
                  <a:srgbClr val="1A1A1A"/>
                </a:solidFill>
                <a:latin typeface="Fidelity Slab"/>
              </a:defRPr>
              <a:lnSpc>
                <a:spcPts val="3600"/>
              </a:lnSpc>
            </a:pPr>
            <a:r>
              <a:t>Built an entire fictional economy of recurring characters across 7 seasons</a:t>
            </a:r>
          </a:p>
        </p:txBody>
      </p:sp>
      <p:sp>
        <p:nvSpPr>
          <p:cNvPr id="8" name="Rectangle 7"/>
          <p:cNvSpPr/>
          <p:nvPr/>
        </p:nvSpPr>
        <p:spPr>
          <a:xfrm>
            <a:off x="594360" y="2560320"/>
            <a:ext cx="22860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34640"/>
            <a:ext cx="2743200" cy="228600"/>
          </a:xfrm>
          <a:prstGeom prst="rect">
            <a:avLst/>
          </a:prstGeom>
          <a:noFill/>
        </p:spPr>
        <p:txBody>
          <a:bodyPr wrap="square" lIns="0" rIns="0" tIns="0" bIns="0" anchor="t"/>
          <a:lstStyle/>
          <a:p>
            <a:pPr algn="l">
              <a:defRPr sz="800" b="1" i="0">
                <a:solidFill>
                  <a:srgbClr val="999999"/>
                </a:solidFill>
                <a:latin typeface="Fidelity Sans"/>
              </a:defRPr>
            </a:pPr>
            <a:r>
              <a:t>PREVIOUSLY</a:t>
            </a:r>
          </a:p>
        </p:txBody>
      </p:sp>
      <p:sp>
        <p:nvSpPr>
          <p:cNvPr id="10" name="TextBox 9"/>
          <p:cNvSpPr txBox="1"/>
          <p:nvPr/>
        </p:nvSpPr>
        <p:spPr>
          <a:xfrm>
            <a:off x="594360" y="3108960"/>
            <a:ext cx="274320" cy="320040"/>
          </a:xfrm>
          <a:prstGeom prst="rect">
            <a:avLst/>
          </a:prstGeom>
          <a:noFill/>
        </p:spPr>
        <p:txBody>
          <a:bodyPr wrap="square" lIns="0" rIns="0" tIns="0" bIns="0" anchor="t"/>
          <a:lstStyle/>
          <a:p>
            <a:pPr algn="l">
              <a:defRPr sz="1200" b="1" i="0">
                <a:solidFill>
                  <a:srgbClr val="CCCCCC"/>
                </a:solidFill>
                <a:latin typeface="Fidelity Slab"/>
              </a:defRPr>
            </a:pPr>
            <a:r>
              <a:t>1</a:t>
            </a:r>
          </a:p>
        </p:txBody>
      </p:sp>
      <p:sp>
        <p:nvSpPr>
          <p:cNvPr id="11" name="TextBox 10"/>
          <p:cNvSpPr txBox="1"/>
          <p:nvPr/>
        </p:nvSpPr>
        <p:spPr>
          <a:xfrm>
            <a:off x="914400" y="3108960"/>
            <a:ext cx="7315200" cy="320040"/>
          </a:xfrm>
          <a:prstGeom prst="rect">
            <a:avLst/>
          </a:prstGeom>
          <a:noFill/>
        </p:spPr>
        <p:txBody>
          <a:bodyPr wrap="square" lIns="0" rIns="0" tIns="0" bIns="0" anchor="ctr"/>
          <a:lstStyle/>
          <a:p>
            <a:pPr algn="l">
              <a:defRPr sz="1000" b="0" i="0">
                <a:solidFill>
                  <a:srgbClr val="999999"/>
                </a:solidFill>
                <a:latin typeface="Fidelity Sans"/>
              </a:defRPr>
            </a:pPr>
            <a:r>
              <a:t>153 episodes averaging 8,000+ words of dialogue each — more than most films</a:t>
            </a:r>
          </a:p>
        </p:txBody>
      </p:sp>
      <p:sp>
        <p:nvSpPr>
          <p:cNvPr id="12" name="TextBox 11"/>
          <p:cNvSpPr txBox="1"/>
          <p:nvPr/>
        </p:nvSpPr>
        <p:spPr>
          <a:xfrm>
            <a:off x="594360" y="3493008"/>
            <a:ext cx="274320" cy="320040"/>
          </a:xfrm>
          <a:prstGeom prst="rect">
            <a:avLst/>
          </a:prstGeom>
          <a:noFill/>
        </p:spPr>
        <p:txBody>
          <a:bodyPr wrap="square" lIns="0" rIns="0" tIns="0" bIns="0" anchor="t"/>
          <a:lstStyle/>
          <a:p>
            <a:pPr algn="l">
              <a:defRPr sz="1200" b="1" i="0">
                <a:solidFill>
                  <a:srgbClr val="CCCCCC"/>
                </a:solidFill>
                <a:latin typeface="Fidelity Slab"/>
              </a:defRPr>
            </a:pPr>
            <a:r>
              <a:t>2</a:t>
            </a:r>
          </a:p>
        </p:txBody>
      </p:sp>
      <p:sp>
        <p:nvSpPr>
          <p:cNvPr id="13" name="TextBox 12"/>
          <p:cNvSpPr txBox="1"/>
          <p:nvPr/>
        </p:nvSpPr>
        <p:spPr>
          <a:xfrm>
            <a:off x="914400" y="3493008"/>
            <a:ext cx="7315200" cy="320040"/>
          </a:xfrm>
          <a:prstGeom prst="rect">
            <a:avLst/>
          </a:prstGeom>
          <a:noFill/>
        </p:spPr>
        <p:txBody>
          <a:bodyPr wrap="square" lIns="0" rIns="0" tIns="0" bIns="0" anchor="ctr"/>
          <a:lstStyle/>
          <a:p>
            <a:pPr algn="l">
              <a:defRPr sz="1000" b="0" i="0">
                <a:solidFill>
                  <a:srgbClr val="999999"/>
                </a:solidFill>
                <a:latin typeface="Fidelity Sans"/>
              </a:defRPr>
            </a:pPr>
            <a:r>
              <a:t>Pioneered the 'walk and talk' as a pacing device for television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5486400" cy="365760"/>
          </a:xfrm>
          <a:prstGeom prst="rect">
            <a:avLst/>
          </a:prstGeom>
          <a:noFill/>
        </p:spPr>
        <p:txBody>
          <a:bodyPr wrap="square" lIns="0" rIns="0" tIns="0" bIns="0" anchor="t"/>
          <a:lstStyle/>
          <a:p>
            <a:pPr algn="l">
              <a:defRPr sz="1400" b="1" i="0">
                <a:solidFill>
                  <a:srgbClr val="999999"/>
                </a:solidFill>
                <a:latin typeface="Fidelity Sans"/>
              </a:defRPr>
            </a:pPr>
            <a:r>
              <a:t>WHY GILMORE GIRLS IS A STORYTELLING MASTERCLASS</a:t>
            </a:r>
          </a:p>
        </p:txBody>
      </p:sp>
      <p:sp>
        <p:nvSpPr>
          <p:cNvPr id="4" name="TextBox 3"/>
          <p:cNvSpPr txBox="1"/>
          <p:nvPr/>
        </p:nvSpPr>
        <p:spPr>
          <a:xfrm>
            <a:off x="7315200" y="182880"/>
            <a:ext cx="1371600" cy="365760"/>
          </a:xfrm>
          <a:prstGeom prst="rect">
            <a:avLst/>
          </a:prstGeom>
          <a:noFill/>
        </p:spPr>
        <p:txBody>
          <a:bodyPr wrap="square" lIns="0" rIns="0" tIns="0" bIns="0" anchor="t"/>
          <a:lstStyle/>
          <a:p>
            <a:pPr algn="r">
              <a:defRPr sz="1400" b="1" i="0">
                <a:solidFill>
                  <a:srgbClr val="D4A843"/>
                </a:solidFill>
                <a:latin typeface="Fidelity Sans"/>
              </a:defRPr>
            </a:pPr>
            <a:r>
              <a:t>4 of 5</a:t>
            </a:r>
          </a:p>
        </p:txBody>
      </p:sp>
      <p:sp>
        <p:nvSpPr>
          <p:cNvPr id="5" name="Rectangle 4"/>
          <p:cNvSpPr/>
          <p:nvPr/>
        </p:nvSpPr>
        <p:spPr>
          <a:xfrm>
            <a:off x="594360" y="548640"/>
            <a:ext cx="795528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548640"/>
            <a:ext cx="6364224" cy="2743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822960"/>
            <a:ext cx="7955280" cy="1645920"/>
          </a:xfrm>
          <a:prstGeom prst="rect">
            <a:avLst/>
          </a:prstGeom>
          <a:noFill/>
        </p:spPr>
        <p:txBody>
          <a:bodyPr wrap="square" lIns="0" rIns="0" tIns="0" bIns="0" anchor="t"/>
          <a:lstStyle/>
          <a:p>
            <a:pPr algn="l">
              <a:defRPr sz="2800" b="1" i="0">
                <a:solidFill>
                  <a:srgbClr val="1A1A1A"/>
                </a:solidFill>
                <a:latin typeface="Fidelity Slab"/>
              </a:defRPr>
              <a:lnSpc>
                <a:spcPts val="3600"/>
              </a:lnSpc>
            </a:pPr>
            <a:r>
              <a:t>Proved that verbal density and emotional depth aren't trade-offs</a:t>
            </a:r>
          </a:p>
        </p:txBody>
      </p:sp>
      <p:sp>
        <p:nvSpPr>
          <p:cNvPr id="8" name="Rectangle 7"/>
          <p:cNvSpPr/>
          <p:nvPr/>
        </p:nvSpPr>
        <p:spPr>
          <a:xfrm>
            <a:off x="594360" y="2560320"/>
            <a:ext cx="22860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34640"/>
            <a:ext cx="2743200" cy="228600"/>
          </a:xfrm>
          <a:prstGeom prst="rect">
            <a:avLst/>
          </a:prstGeom>
          <a:noFill/>
        </p:spPr>
        <p:txBody>
          <a:bodyPr wrap="square" lIns="0" rIns="0" tIns="0" bIns="0" anchor="t"/>
          <a:lstStyle/>
          <a:p>
            <a:pPr algn="l">
              <a:defRPr sz="800" b="1" i="0">
                <a:solidFill>
                  <a:srgbClr val="999999"/>
                </a:solidFill>
                <a:latin typeface="Fidelity Sans"/>
              </a:defRPr>
            </a:pPr>
            <a:r>
              <a:t>PREVIOUSLY</a:t>
            </a:r>
          </a:p>
        </p:txBody>
      </p:sp>
      <p:sp>
        <p:nvSpPr>
          <p:cNvPr id="10" name="TextBox 9"/>
          <p:cNvSpPr txBox="1"/>
          <p:nvPr/>
        </p:nvSpPr>
        <p:spPr>
          <a:xfrm>
            <a:off x="594360" y="3108960"/>
            <a:ext cx="274320" cy="320040"/>
          </a:xfrm>
          <a:prstGeom prst="rect">
            <a:avLst/>
          </a:prstGeom>
          <a:noFill/>
        </p:spPr>
        <p:txBody>
          <a:bodyPr wrap="square" lIns="0" rIns="0" tIns="0" bIns="0" anchor="t"/>
          <a:lstStyle/>
          <a:p>
            <a:pPr algn="l">
              <a:defRPr sz="1200" b="1" i="0">
                <a:solidFill>
                  <a:srgbClr val="CCCCCC"/>
                </a:solidFill>
                <a:latin typeface="Fidelity Slab"/>
              </a:defRPr>
            </a:pPr>
            <a:r>
              <a:t>1</a:t>
            </a:r>
          </a:p>
        </p:txBody>
      </p:sp>
      <p:sp>
        <p:nvSpPr>
          <p:cNvPr id="11" name="TextBox 10"/>
          <p:cNvSpPr txBox="1"/>
          <p:nvPr/>
        </p:nvSpPr>
        <p:spPr>
          <a:xfrm>
            <a:off x="914400" y="3108960"/>
            <a:ext cx="7315200" cy="320040"/>
          </a:xfrm>
          <a:prstGeom prst="rect">
            <a:avLst/>
          </a:prstGeom>
          <a:noFill/>
        </p:spPr>
        <p:txBody>
          <a:bodyPr wrap="square" lIns="0" rIns="0" tIns="0" bIns="0" anchor="ctr"/>
          <a:lstStyle/>
          <a:p>
            <a:pPr algn="l">
              <a:defRPr sz="1000" b="0" i="0">
                <a:solidFill>
                  <a:srgbClr val="999999"/>
                </a:solidFill>
                <a:latin typeface="Fidelity Sans"/>
              </a:defRPr>
            </a:pPr>
            <a:r>
              <a:t>153 episodes averaging 8,000+ words of dialogue each — more than most films</a:t>
            </a:r>
          </a:p>
        </p:txBody>
      </p:sp>
      <p:sp>
        <p:nvSpPr>
          <p:cNvPr id="12" name="TextBox 11"/>
          <p:cNvSpPr txBox="1"/>
          <p:nvPr/>
        </p:nvSpPr>
        <p:spPr>
          <a:xfrm>
            <a:off x="594360" y="3493008"/>
            <a:ext cx="274320" cy="320040"/>
          </a:xfrm>
          <a:prstGeom prst="rect">
            <a:avLst/>
          </a:prstGeom>
          <a:noFill/>
        </p:spPr>
        <p:txBody>
          <a:bodyPr wrap="square" lIns="0" rIns="0" tIns="0" bIns="0" anchor="t"/>
          <a:lstStyle/>
          <a:p>
            <a:pPr algn="l">
              <a:defRPr sz="1200" b="1" i="0">
                <a:solidFill>
                  <a:srgbClr val="CCCCCC"/>
                </a:solidFill>
                <a:latin typeface="Fidelity Slab"/>
              </a:defRPr>
            </a:pPr>
            <a:r>
              <a:t>2</a:t>
            </a:r>
          </a:p>
        </p:txBody>
      </p:sp>
      <p:sp>
        <p:nvSpPr>
          <p:cNvPr id="13" name="TextBox 12"/>
          <p:cNvSpPr txBox="1"/>
          <p:nvPr/>
        </p:nvSpPr>
        <p:spPr>
          <a:xfrm>
            <a:off x="914400" y="3493008"/>
            <a:ext cx="7315200" cy="320040"/>
          </a:xfrm>
          <a:prstGeom prst="rect">
            <a:avLst/>
          </a:prstGeom>
          <a:noFill/>
        </p:spPr>
        <p:txBody>
          <a:bodyPr wrap="square" lIns="0" rIns="0" tIns="0" bIns="0" anchor="ctr"/>
          <a:lstStyle/>
          <a:p>
            <a:pPr algn="l">
              <a:defRPr sz="1000" b="0" i="0">
                <a:solidFill>
                  <a:srgbClr val="999999"/>
                </a:solidFill>
                <a:latin typeface="Fidelity Sans"/>
              </a:defRPr>
            </a:pPr>
            <a:r>
              <a:t>Pioneered the 'walk and talk' as a pacing device for television</a:t>
            </a:r>
          </a:p>
        </p:txBody>
      </p:sp>
      <p:sp>
        <p:nvSpPr>
          <p:cNvPr id="14" name="TextBox 13"/>
          <p:cNvSpPr txBox="1"/>
          <p:nvPr/>
        </p:nvSpPr>
        <p:spPr>
          <a:xfrm>
            <a:off x="594360" y="3877056"/>
            <a:ext cx="274320" cy="320040"/>
          </a:xfrm>
          <a:prstGeom prst="rect">
            <a:avLst/>
          </a:prstGeom>
          <a:noFill/>
        </p:spPr>
        <p:txBody>
          <a:bodyPr wrap="square" lIns="0" rIns="0" tIns="0" bIns="0" anchor="t"/>
          <a:lstStyle/>
          <a:p>
            <a:pPr algn="l">
              <a:defRPr sz="1200" b="1" i="0">
                <a:solidFill>
                  <a:srgbClr val="CCCCCC"/>
                </a:solidFill>
                <a:latin typeface="Fidelity Slab"/>
              </a:defRPr>
            </a:pPr>
            <a:r>
              <a:t>3</a:t>
            </a:r>
          </a:p>
        </p:txBody>
      </p:sp>
      <p:sp>
        <p:nvSpPr>
          <p:cNvPr id="15" name="TextBox 14"/>
          <p:cNvSpPr txBox="1"/>
          <p:nvPr/>
        </p:nvSpPr>
        <p:spPr>
          <a:xfrm>
            <a:off x="914400" y="3877056"/>
            <a:ext cx="7315200" cy="320040"/>
          </a:xfrm>
          <a:prstGeom prst="rect">
            <a:avLst/>
          </a:prstGeom>
          <a:noFill/>
        </p:spPr>
        <p:txBody>
          <a:bodyPr wrap="square" lIns="0" rIns="0" tIns="0" bIns="0" anchor="ctr"/>
          <a:lstStyle/>
          <a:p>
            <a:pPr algn="l">
              <a:defRPr sz="1000" b="0" i="0">
                <a:solidFill>
                  <a:srgbClr val="999999"/>
                </a:solidFill>
                <a:latin typeface="Fidelity Sans"/>
              </a:defRPr>
            </a:pPr>
            <a:r>
              <a:t>Built an entire fictional economy of recurring characters across 7 seasons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5486400" cy="365760"/>
          </a:xfrm>
          <a:prstGeom prst="rect">
            <a:avLst/>
          </a:prstGeom>
          <a:noFill/>
        </p:spPr>
        <p:txBody>
          <a:bodyPr wrap="square" lIns="0" rIns="0" tIns="0" bIns="0" anchor="t"/>
          <a:lstStyle/>
          <a:p>
            <a:pPr algn="l">
              <a:defRPr sz="1400" b="1" i="0">
                <a:solidFill>
                  <a:srgbClr val="999999"/>
                </a:solidFill>
                <a:latin typeface="Fidelity Sans"/>
              </a:defRPr>
            </a:pPr>
            <a:r>
              <a:t>WHY GILMORE GIRLS IS A STORYTELLING MASTERCLASS</a:t>
            </a:r>
          </a:p>
        </p:txBody>
      </p:sp>
      <p:sp>
        <p:nvSpPr>
          <p:cNvPr id="4" name="TextBox 3"/>
          <p:cNvSpPr txBox="1"/>
          <p:nvPr/>
        </p:nvSpPr>
        <p:spPr>
          <a:xfrm>
            <a:off x="7315200" y="182880"/>
            <a:ext cx="1371600" cy="365760"/>
          </a:xfrm>
          <a:prstGeom prst="rect">
            <a:avLst/>
          </a:prstGeom>
          <a:noFill/>
        </p:spPr>
        <p:txBody>
          <a:bodyPr wrap="square" lIns="0" rIns="0" tIns="0" bIns="0" anchor="t"/>
          <a:lstStyle/>
          <a:p>
            <a:pPr algn="r">
              <a:defRPr sz="1400" b="1" i="0">
                <a:solidFill>
                  <a:srgbClr val="D4A843"/>
                </a:solidFill>
                <a:latin typeface="Fidelity Sans"/>
              </a:defRPr>
            </a:pPr>
            <a:r>
              <a:t>5 of 5</a:t>
            </a:r>
          </a:p>
        </p:txBody>
      </p:sp>
      <p:sp>
        <p:nvSpPr>
          <p:cNvPr id="5" name="Rectangle 4"/>
          <p:cNvSpPr/>
          <p:nvPr/>
        </p:nvSpPr>
        <p:spPr>
          <a:xfrm>
            <a:off x="594360" y="548640"/>
            <a:ext cx="7955280" cy="2743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548640"/>
            <a:ext cx="7955280" cy="2743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822960"/>
            <a:ext cx="7955280" cy="1645920"/>
          </a:xfrm>
          <a:prstGeom prst="rect">
            <a:avLst/>
          </a:prstGeom>
          <a:noFill/>
        </p:spPr>
        <p:txBody>
          <a:bodyPr wrap="square" lIns="0" rIns="0" tIns="0" bIns="0" anchor="t"/>
          <a:lstStyle/>
          <a:p>
            <a:pPr algn="l">
              <a:defRPr sz="2800" b="1" i="0">
                <a:solidFill>
                  <a:srgbClr val="1A1A1A"/>
                </a:solidFill>
                <a:latin typeface="Fidelity Slab"/>
              </a:defRPr>
              <a:lnSpc>
                <a:spcPts val="3600"/>
              </a:lnSpc>
            </a:pPr>
            <a:r>
              <a:t>Created one of TV's most debated narrative choices with the final four words</a:t>
            </a:r>
          </a:p>
        </p:txBody>
      </p:sp>
      <p:sp>
        <p:nvSpPr>
          <p:cNvPr id="8" name="Rectangle 7"/>
          <p:cNvSpPr/>
          <p:nvPr/>
        </p:nvSpPr>
        <p:spPr>
          <a:xfrm>
            <a:off x="594360" y="2560320"/>
            <a:ext cx="22860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34640"/>
            <a:ext cx="2743200" cy="228600"/>
          </a:xfrm>
          <a:prstGeom prst="rect">
            <a:avLst/>
          </a:prstGeom>
          <a:noFill/>
        </p:spPr>
        <p:txBody>
          <a:bodyPr wrap="square" lIns="0" rIns="0" tIns="0" bIns="0" anchor="t"/>
          <a:lstStyle/>
          <a:p>
            <a:pPr algn="l">
              <a:defRPr sz="800" b="1" i="0">
                <a:solidFill>
                  <a:srgbClr val="999999"/>
                </a:solidFill>
                <a:latin typeface="Fidelity Sans"/>
              </a:defRPr>
            </a:pPr>
            <a:r>
              <a:t>PREVIOUSLY</a:t>
            </a:r>
          </a:p>
        </p:txBody>
      </p:sp>
      <p:sp>
        <p:nvSpPr>
          <p:cNvPr id="10" name="TextBox 9"/>
          <p:cNvSpPr txBox="1"/>
          <p:nvPr/>
        </p:nvSpPr>
        <p:spPr>
          <a:xfrm>
            <a:off x="594360" y="3108960"/>
            <a:ext cx="274320" cy="320040"/>
          </a:xfrm>
          <a:prstGeom prst="rect">
            <a:avLst/>
          </a:prstGeom>
          <a:noFill/>
        </p:spPr>
        <p:txBody>
          <a:bodyPr wrap="square" lIns="0" rIns="0" tIns="0" bIns="0" anchor="t"/>
          <a:lstStyle/>
          <a:p>
            <a:pPr algn="l">
              <a:defRPr sz="1200" b="1" i="0">
                <a:solidFill>
                  <a:srgbClr val="CCCCCC"/>
                </a:solidFill>
                <a:latin typeface="Fidelity Slab"/>
              </a:defRPr>
            </a:pPr>
            <a:r>
              <a:t>1</a:t>
            </a:r>
          </a:p>
        </p:txBody>
      </p:sp>
      <p:sp>
        <p:nvSpPr>
          <p:cNvPr id="11" name="TextBox 10"/>
          <p:cNvSpPr txBox="1"/>
          <p:nvPr/>
        </p:nvSpPr>
        <p:spPr>
          <a:xfrm>
            <a:off x="914400" y="3108960"/>
            <a:ext cx="7315200" cy="320040"/>
          </a:xfrm>
          <a:prstGeom prst="rect">
            <a:avLst/>
          </a:prstGeom>
          <a:noFill/>
        </p:spPr>
        <p:txBody>
          <a:bodyPr wrap="square" lIns="0" rIns="0" tIns="0" bIns="0" anchor="ctr"/>
          <a:lstStyle/>
          <a:p>
            <a:pPr algn="l">
              <a:defRPr sz="1000" b="0" i="0">
                <a:solidFill>
                  <a:srgbClr val="999999"/>
                </a:solidFill>
                <a:latin typeface="Fidelity Sans"/>
              </a:defRPr>
            </a:pPr>
            <a:r>
              <a:t>153 episodes averaging 8,000+ words of dialogue each — more than most films</a:t>
            </a:r>
          </a:p>
        </p:txBody>
      </p:sp>
      <p:sp>
        <p:nvSpPr>
          <p:cNvPr id="12" name="TextBox 11"/>
          <p:cNvSpPr txBox="1"/>
          <p:nvPr/>
        </p:nvSpPr>
        <p:spPr>
          <a:xfrm>
            <a:off x="594360" y="3493008"/>
            <a:ext cx="274320" cy="320040"/>
          </a:xfrm>
          <a:prstGeom prst="rect">
            <a:avLst/>
          </a:prstGeom>
          <a:noFill/>
        </p:spPr>
        <p:txBody>
          <a:bodyPr wrap="square" lIns="0" rIns="0" tIns="0" bIns="0" anchor="t"/>
          <a:lstStyle/>
          <a:p>
            <a:pPr algn="l">
              <a:defRPr sz="1200" b="1" i="0">
                <a:solidFill>
                  <a:srgbClr val="CCCCCC"/>
                </a:solidFill>
                <a:latin typeface="Fidelity Slab"/>
              </a:defRPr>
            </a:pPr>
            <a:r>
              <a:t>2</a:t>
            </a:r>
          </a:p>
        </p:txBody>
      </p:sp>
      <p:sp>
        <p:nvSpPr>
          <p:cNvPr id="13" name="TextBox 12"/>
          <p:cNvSpPr txBox="1"/>
          <p:nvPr/>
        </p:nvSpPr>
        <p:spPr>
          <a:xfrm>
            <a:off x="914400" y="3493008"/>
            <a:ext cx="7315200" cy="320040"/>
          </a:xfrm>
          <a:prstGeom prst="rect">
            <a:avLst/>
          </a:prstGeom>
          <a:noFill/>
        </p:spPr>
        <p:txBody>
          <a:bodyPr wrap="square" lIns="0" rIns="0" tIns="0" bIns="0" anchor="ctr"/>
          <a:lstStyle/>
          <a:p>
            <a:pPr algn="l">
              <a:defRPr sz="1000" b="0" i="0">
                <a:solidFill>
                  <a:srgbClr val="999999"/>
                </a:solidFill>
                <a:latin typeface="Fidelity Sans"/>
              </a:defRPr>
            </a:pPr>
            <a:r>
              <a:t>Pioneered the 'walk and talk' as a pacing device for television</a:t>
            </a:r>
          </a:p>
        </p:txBody>
      </p:sp>
      <p:sp>
        <p:nvSpPr>
          <p:cNvPr id="14" name="TextBox 13"/>
          <p:cNvSpPr txBox="1"/>
          <p:nvPr/>
        </p:nvSpPr>
        <p:spPr>
          <a:xfrm>
            <a:off x="594360" y="3877056"/>
            <a:ext cx="274320" cy="320040"/>
          </a:xfrm>
          <a:prstGeom prst="rect">
            <a:avLst/>
          </a:prstGeom>
          <a:noFill/>
        </p:spPr>
        <p:txBody>
          <a:bodyPr wrap="square" lIns="0" rIns="0" tIns="0" bIns="0" anchor="t"/>
          <a:lstStyle/>
          <a:p>
            <a:pPr algn="l">
              <a:defRPr sz="1200" b="1" i="0">
                <a:solidFill>
                  <a:srgbClr val="CCCCCC"/>
                </a:solidFill>
                <a:latin typeface="Fidelity Slab"/>
              </a:defRPr>
            </a:pPr>
            <a:r>
              <a:t>3</a:t>
            </a:r>
          </a:p>
        </p:txBody>
      </p:sp>
      <p:sp>
        <p:nvSpPr>
          <p:cNvPr id="15" name="TextBox 14"/>
          <p:cNvSpPr txBox="1"/>
          <p:nvPr/>
        </p:nvSpPr>
        <p:spPr>
          <a:xfrm>
            <a:off x="914400" y="3877056"/>
            <a:ext cx="7315200" cy="320040"/>
          </a:xfrm>
          <a:prstGeom prst="rect">
            <a:avLst/>
          </a:prstGeom>
          <a:noFill/>
        </p:spPr>
        <p:txBody>
          <a:bodyPr wrap="square" lIns="0" rIns="0" tIns="0" bIns="0" anchor="ctr"/>
          <a:lstStyle/>
          <a:p>
            <a:pPr algn="l">
              <a:defRPr sz="1000" b="0" i="0">
                <a:solidFill>
                  <a:srgbClr val="999999"/>
                </a:solidFill>
                <a:latin typeface="Fidelity Sans"/>
              </a:defRPr>
            </a:pPr>
            <a:r>
              <a:t>Built an entire fictional economy of recurring characters across 7 seasons</a:t>
            </a:r>
          </a:p>
        </p:txBody>
      </p:sp>
      <p:sp>
        <p:nvSpPr>
          <p:cNvPr id="16" name="TextBox 15"/>
          <p:cNvSpPr txBox="1"/>
          <p:nvPr/>
        </p:nvSpPr>
        <p:spPr>
          <a:xfrm>
            <a:off x="594360" y="4261104"/>
            <a:ext cx="274320" cy="320040"/>
          </a:xfrm>
          <a:prstGeom prst="rect">
            <a:avLst/>
          </a:prstGeom>
          <a:noFill/>
        </p:spPr>
        <p:txBody>
          <a:bodyPr wrap="square" lIns="0" rIns="0" tIns="0" bIns="0" anchor="t"/>
          <a:lstStyle/>
          <a:p>
            <a:pPr algn="l">
              <a:defRPr sz="1200" b="1" i="0">
                <a:solidFill>
                  <a:srgbClr val="CCCCCC"/>
                </a:solidFill>
                <a:latin typeface="Fidelity Slab"/>
              </a:defRPr>
            </a:pPr>
            <a:r>
              <a:t>4</a:t>
            </a:r>
          </a:p>
        </p:txBody>
      </p:sp>
      <p:sp>
        <p:nvSpPr>
          <p:cNvPr id="17" name="TextBox 16"/>
          <p:cNvSpPr txBox="1"/>
          <p:nvPr/>
        </p:nvSpPr>
        <p:spPr>
          <a:xfrm>
            <a:off x="914400" y="4261104"/>
            <a:ext cx="7315200" cy="320040"/>
          </a:xfrm>
          <a:prstGeom prst="rect">
            <a:avLst/>
          </a:prstGeom>
          <a:noFill/>
        </p:spPr>
        <p:txBody>
          <a:bodyPr wrap="square" lIns="0" rIns="0" tIns="0" bIns="0" anchor="ctr"/>
          <a:lstStyle/>
          <a:p>
            <a:pPr algn="l">
              <a:defRPr sz="1000" b="0" i="0">
                <a:solidFill>
                  <a:srgbClr val="999999"/>
                </a:solidFill>
                <a:latin typeface="Fidelity Sans"/>
              </a:defRPr>
            </a:pPr>
            <a:r>
              <a:t>Proved that verbal density and emotional depth aren't trade-offs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3657600" cy="365760"/>
          </a:xfrm>
          <a:prstGeom prst="rect">
            <a:avLst/>
          </a:prstGeom>
          <a:noFill/>
        </p:spPr>
        <p:txBody>
          <a:bodyPr wrap="square" lIns="0" rIns="0" tIns="0" bIns="0" anchor="t"/>
          <a:lstStyle/>
          <a:p>
            <a:pPr algn="l">
              <a:defRPr sz="1400" b="1" i="0">
                <a:solidFill>
                  <a:srgbClr val="999999"/>
                </a:solidFill>
                <a:latin typeface="Fidelity Sans"/>
              </a:defRPr>
            </a:pPr>
            <a:r>
              <a:t>THE GILMORE SPEED ADVANTAGE</a:t>
            </a:r>
          </a:p>
        </p:txBody>
      </p:sp>
      <p:sp>
        <p:nvSpPr>
          <p:cNvPr id="4" name="TextBox 3"/>
          <p:cNvSpPr txBox="1"/>
          <p:nvPr/>
        </p:nvSpPr>
        <p:spPr>
          <a:xfrm>
            <a:off x="594360" y="548640"/>
            <a:ext cx="4754880" cy="3657600"/>
          </a:xfrm>
          <a:prstGeom prst="rect">
            <a:avLst/>
          </a:prstGeom>
          <a:noFill/>
        </p:spPr>
        <p:txBody>
          <a:bodyPr wrap="square" lIns="0" rIns="0" tIns="0" bIns="0" anchor="ctr"/>
          <a:lstStyle/>
          <a:p>
            <a:pPr algn="l">
              <a:defRPr sz="12000" b="1" i="0">
                <a:solidFill>
                  <a:srgbClr val="044014"/>
                </a:solidFill>
                <a:latin typeface="Fidelity Slab"/>
              </a:defRPr>
            </a:pPr>
            <a:r>
              <a:t>160%</a:t>
            </a:r>
          </a:p>
        </p:txBody>
      </p:sp>
      <p:sp>
        <p:nvSpPr>
          <p:cNvPr id="5" name="TextBox 4"/>
          <p:cNvSpPr txBox="1"/>
          <p:nvPr/>
        </p:nvSpPr>
        <p:spPr>
          <a:xfrm>
            <a:off x="5303520" y="1097280"/>
            <a:ext cx="3291840" cy="914400"/>
          </a:xfrm>
          <a:prstGeom prst="rect">
            <a:avLst/>
          </a:prstGeom>
          <a:noFill/>
        </p:spPr>
        <p:txBody>
          <a:bodyPr wrap="square" lIns="0" rIns="0" tIns="0" bIns="0" anchor="t"/>
          <a:lstStyle/>
          <a:p>
            <a:pPr algn="l">
              <a:defRPr sz="2200" b="1" i="0">
                <a:solidFill>
                  <a:srgbClr val="2D2D2D"/>
                </a:solidFill>
                <a:latin typeface="Fidelity Slab"/>
              </a:defRPr>
              <a:lnSpc>
                <a:spcPts val="2800"/>
              </a:lnSpc>
            </a:pPr>
            <a:r>
              <a:t>Faster than average TV dialogue</a:t>
            </a:r>
          </a:p>
        </p:txBody>
      </p:sp>
      <p:sp>
        <p:nvSpPr>
          <p:cNvPr id="6" name="Rectangle 5"/>
          <p:cNvSpPr/>
          <p:nvPr/>
        </p:nvSpPr>
        <p:spPr>
          <a:xfrm>
            <a:off x="5303520" y="2103120"/>
            <a:ext cx="1097280" cy="254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0" y="2331720"/>
            <a:ext cx="3291840" cy="2011680"/>
          </a:xfrm>
          <a:prstGeom prst="rect">
            <a:avLst/>
          </a:prstGeom>
          <a:noFill/>
        </p:spPr>
        <p:txBody>
          <a:bodyPr wrap="square" lIns="0" rIns="0" tIns="0" bIns="0" anchor="t"/>
          <a:lstStyle/>
          <a:p>
            <a:pPr algn="l">
              <a:defRPr sz="1100" b="0" i="0">
                <a:solidFill>
                  <a:srgbClr val="666666"/>
                </a:solidFill>
                <a:latin typeface="Fidelity Sans"/>
              </a:defRPr>
              <a:lnSpc>
                <a:spcPts val="1600"/>
              </a:lnSpc>
            </a:pPr>
            <a:r>
              <a:t>Gilmore Girls scripts ran roughly 75-80 pages per episode vs. the standard 45-50. Amy Sherman-Palladino wrote dialogue at ~300 words/minute compared to the TV average of ~120. This forced actors to rehearse like stage performers — the pacing itself became a storytelling tool.</a:t>
            </a:r>
          </a:p>
        </p:txBody>
      </p:sp>
      <p:sp>
        <p:nvSpPr>
          <p:cNvPr id="8" name="TextBox 7"/>
          <p:cNvSpPr txBox="1"/>
          <p:nvPr/>
        </p:nvSpPr>
        <p:spPr>
          <a:xfrm>
            <a:off x="5303520" y="4572000"/>
            <a:ext cx="3291840" cy="320040"/>
          </a:xfrm>
          <a:prstGeom prst="rect">
            <a:avLst/>
          </a:prstGeom>
          <a:noFill/>
        </p:spPr>
        <p:txBody>
          <a:bodyPr wrap="square" lIns="0" rIns="0" tIns="0" bIns="0" anchor="t"/>
          <a:lstStyle/>
          <a:p>
            <a:pPr algn="l">
              <a:defRPr sz="800" b="0" i="1">
                <a:solidFill>
                  <a:srgbClr val="999999"/>
                </a:solidFill>
                <a:latin typeface="Fidelity Sans"/>
              </a:defRPr>
            </a:pPr>
            <a:r>
              <a:t>Vanity Fair, 2016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44014"/>
        </a:solidFill>
        <a:effectLst/>
      </p:bgPr>
    </p:bg>
    <p:spTree>
      <p:nvGrpSpPr>
        <p:cNvPr id="1" name=""/>
        <p:cNvGrpSpPr/>
        <p:nvPr/>
      </p:nvGrpSpPr>
      <p:grpSpPr/>
      <p:sp>
        <p:nvSpPr>
          <p:cNvPr id="2" name="Rectangle 1"/>
          <p:cNvSpPr/>
          <p:nvPr/>
        </p:nvSpPr>
        <p:spPr>
          <a:xfrm>
            <a:off x="0" y="0"/>
            <a:ext cx="9144000" cy="36576"/>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371600" cy="1371600"/>
          </a:xfrm>
          <a:prstGeom prst="rect">
            <a:avLst/>
          </a:prstGeom>
          <a:noFill/>
        </p:spPr>
        <p:txBody>
          <a:bodyPr wrap="square" lIns="0" rIns="0" tIns="0" bIns="0" anchor="t"/>
          <a:lstStyle/>
          <a:p>
            <a:pPr algn="l">
              <a:defRPr sz="14400" b="1" i="0">
                <a:solidFill>
                  <a:srgbClr val="D4A843"/>
                </a:solidFill>
                <a:latin typeface="Fidelity Slab"/>
              </a:defRPr>
            </a:pPr>
            <a:r>
              <a:t>“</a:t>
            </a:r>
          </a:p>
        </p:txBody>
      </p:sp>
      <p:sp>
        <p:nvSpPr>
          <p:cNvPr id="4" name="TextBox 3"/>
          <p:cNvSpPr txBox="1"/>
          <p:nvPr/>
        </p:nvSpPr>
        <p:spPr>
          <a:xfrm>
            <a:off x="1097280" y="1280160"/>
            <a:ext cx="6949440" cy="2560320"/>
          </a:xfrm>
          <a:prstGeom prst="rect">
            <a:avLst/>
          </a:prstGeom>
          <a:noFill/>
        </p:spPr>
        <p:txBody>
          <a:bodyPr wrap="square" lIns="0" rIns="0" tIns="0" bIns="0" anchor="ctr"/>
          <a:lstStyle/>
          <a:p>
            <a:pPr algn="l">
              <a:defRPr sz="2400" b="0" i="1">
                <a:solidFill>
                  <a:srgbClr val="FFFFFF"/>
                </a:solidFill>
                <a:latin typeface="Fidelity Slab"/>
              </a:defRPr>
              <a:lnSpc>
                <a:spcPts val="3200"/>
              </a:lnSpc>
            </a:pPr>
            <a:r>
              <a:t>I live in two worlds. One is a world of books. I've been a resident of Faulkner's Yoknapatawpha County, hunted whales with Ahab, fought alongside Napoleon. The other is Stars Hollow.</a:t>
            </a:r>
          </a:p>
        </p:txBody>
      </p:sp>
      <p:sp>
        <p:nvSpPr>
          <p:cNvPr id="5" name="Rectangle 4"/>
          <p:cNvSpPr/>
          <p:nvPr/>
        </p:nvSpPr>
        <p:spPr>
          <a:xfrm>
            <a:off x="1097280" y="3977639"/>
            <a:ext cx="731520" cy="254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0" y="3794760"/>
            <a:ext cx="4572000" cy="411480"/>
          </a:xfrm>
          <a:prstGeom prst="rect">
            <a:avLst/>
          </a:prstGeom>
          <a:noFill/>
        </p:spPr>
        <p:txBody>
          <a:bodyPr wrap="square" lIns="0" rIns="0" tIns="0" bIns="0" anchor="t"/>
          <a:lstStyle/>
          <a:p>
            <a:pPr algn="l">
              <a:defRPr sz="1200" b="1" i="0">
                <a:solidFill>
                  <a:srgbClr val="D4A843"/>
                </a:solidFill>
                <a:latin typeface="Fidelity Sans"/>
              </a:defRPr>
            </a:pPr>
            <a:r>
              <a:t>Rory Gilmore, Chilton Valedictorian Speech, S3</a:t>
            </a:r>
          </a:p>
        </p:txBody>
      </p:sp>
      <p:sp>
        <p:nvSpPr>
          <p:cNvPr id="7" name="TextBox 6"/>
          <p:cNvSpPr txBox="1"/>
          <p:nvPr/>
        </p:nvSpPr>
        <p:spPr>
          <a:xfrm>
            <a:off x="1097280" y="4343400"/>
            <a:ext cx="6949440" cy="548640"/>
          </a:xfrm>
          <a:prstGeom prst="rect">
            <a:avLst/>
          </a:prstGeom>
          <a:noFill/>
        </p:spPr>
        <p:txBody>
          <a:bodyPr wrap="square" lIns="0" rIns="0" tIns="0" bIns="0" anchor="t"/>
          <a:lstStyle/>
          <a:p>
            <a:pPr algn="l">
              <a:defRPr sz="1000" b="0" i="1">
                <a:solidFill>
                  <a:srgbClr val="A8C4A0"/>
                </a:solidFill>
                <a:latin typeface="Fidelity Sans"/>
              </a:defRPr>
              <a:lnSpc>
                <a:spcPts val="1400"/>
              </a:lnSpc>
            </a:pPr>
            <a:r>
              <a:t>This speech works because it collapses the distance between fiction and life — the same move Gilmore Girls makes in every episode.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TWO SCHOOLS OF TV DIALOGUE</a:t>
            </a:r>
          </a:p>
        </p:txBody>
      </p:sp>
      <p:sp>
        <p:nvSpPr>
          <p:cNvPr id="4" name="TextBox 3"/>
          <p:cNvSpPr txBox="1"/>
          <p:nvPr/>
        </p:nvSpPr>
        <p:spPr>
          <a:xfrm>
            <a:off x="502920" y="640080"/>
            <a:ext cx="3657600" cy="365760"/>
          </a:xfrm>
          <a:prstGeom prst="rect">
            <a:avLst/>
          </a:prstGeom>
          <a:noFill/>
        </p:spPr>
        <p:txBody>
          <a:bodyPr wrap="square" lIns="0" rIns="0" tIns="0" bIns="0" anchor="t"/>
          <a:lstStyle/>
          <a:p>
            <a:pPr algn="l">
              <a:defRPr sz="1500" b="1" i="0">
                <a:solidFill>
                  <a:srgbClr val="044014"/>
                </a:solidFill>
                <a:latin typeface="Fidelity Slab"/>
              </a:defRPr>
            </a:pPr>
            <a:r>
              <a:t>Gilmore Girls (Density)</a:t>
            </a:r>
          </a:p>
        </p:txBody>
      </p:sp>
      <p:sp>
        <p:nvSpPr>
          <p:cNvPr id="5" name="TextBox 4"/>
          <p:cNvSpPr txBox="1"/>
          <p:nvPr/>
        </p:nvSpPr>
        <p:spPr>
          <a:xfrm>
            <a:off x="4937760" y="640080"/>
            <a:ext cx="3657600" cy="365760"/>
          </a:xfrm>
          <a:prstGeom prst="rect">
            <a:avLst/>
          </a:prstGeom>
          <a:noFill/>
        </p:spPr>
        <p:txBody>
          <a:bodyPr wrap="square" lIns="0" rIns="0" tIns="0" bIns="0" anchor="t"/>
          <a:lstStyle/>
          <a:p>
            <a:pPr algn="l">
              <a:defRPr sz="1500" b="1" i="0">
                <a:solidFill>
                  <a:srgbClr val="04547C"/>
                </a:solidFill>
                <a:latin typeface="Fidelity Slab"/>
              </a:defRPr>
            </a:pPr>
            <a:r>
              <a:t>Standard TV (Clarity)</a:t>
            </a:r>
          </a:p>
        </p:txBody>
      </p:sp>
      <p:sp>
        <p:nvSpPr>
          <p:cNvPr id="6" name="Rectangle 5"/>
          <p:cNvSpPr/>
          <p:nvPr/>
        </p:nvSpPr>
        <p:spPr>
          <a:xfrm>
            <a:off x="502920" y="1024128"/>
            <a:ext cx="1371600" cy="254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937760" y="1024128"/>
            <a:ext cx="1371600" cy="2540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88720"/>
            <a:ext cx="42976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1188720"/>
            <a:ext cx="54864" cy="749808"/>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188720"/>
            <a:ext cx="416052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709160" y="1188720"/>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188720"/>
            <a:ext cx="388620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Dialogue carries plot, character, and setting simultaneously</a:t>
            </a:r>
          </a:p>
        </p:txBody>
      </p:sp>
      <p:sp>
        <p:nvSpPr>
          <p:cNvPr id="13" name="TextBox 12"/>
          <p:cNvSpPr txBox="1"/>
          <p:nvPr/>
        </p:nvSpPr>
        <p:spPr>
          <a:xfrm>
            <a:off x="4937760" y="1188720"/>
            <a:ext cx="374904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Dialogue serves one function per exchange</a:t>
            </a:r>
          </a:p>
        </p:txBody>
      </p:sp>
      <p:sp>
        <p:nvSpPr>
          <p:cNvPr id="14" name="Rectangle 13"/>
          <p:cNvSpPr/>
          <p:nvPr/>
        </p:nvSpPr>
        <p:spPr>
          <a:xfrm>
            <a:off x="274320" y="2029968"/>
            <a:ext cx="42976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029968"/>
            <a:ext cx="54864" cy="749808"/>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09160" y="2029968"/>
            <a:ext cx="416052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09160" y="2029968"/>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029968"/>
            <a:ext cx="388620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References function as shorthand for emotional states</a:t>
            </a:r>
          </a:p>
        </p:txBody>
      </p:sp>
      <p:sp>
        <p:nvSpPr>
          <p:cNvPr id="19" name="TextBox 18"/>
          <p:cNvSpPr txBox="1"/>
          <p:nvPr/>
        </p:nvSpPr>
        <p:spPr>
          <a:xfrm>
            <a:off x="4937760" y="2029968"/>
            <a:ext cx="374904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Exposition is delivered explicitly</a:t>
            </a:r>
          </a:p>
        </p:txBody>
      </p:sp>
      <p:sp>
        <p:nvSpPr>
          <p:cNvPr id="20" name="Rectangle 19"/>
          <p:cNvSpPr/>
          <p:nvPr/>
        </p:nvSpPr>
        <p:spPr>
          <a:xfrm>
            <a:off x="274320" y="2871216"/>
            <a:ext cx="42976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2871216"/>
            <a:ext cx="54864" cy="749808"/>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709160" y="2871216"/>
            <a:ext cx="416052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09160" y="2871216"/>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2871216"/>
            <a:ext cx="388620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Silence is rare and therefore devastating when used</a:t>
            </a:r>
          </a:p>
        </p:txBody>
      </p:sp>
      <p:sp>
        <p:nvSpPr>
          <p:cNvPr id="25" name="TextBox 24"/>
          <p:cNvSpPr txBox="1"/>
          <p:nvPr/>
        </p:nvSpPr>
        <p:spPr>
          <a:xfrm>
            <a:off x="4937760" y="2871216"/>
            <a:ext cx="374904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Silence is common and used for pacing</a:t>
            </a:r>
          </a:p>
        </p:txBody>
      </p:sp>
      <p:sp>
        <p:nvSpPr>
          <p:cNvPr id="26" name="Rectangle 25"/>
          <p:cNvSpPr/>
          <p:nvPr/>
        </p:nvSpPr>
        <p:spPr>
          <a:xfrm>
            <a:off x="274320" y="3712464"/>
            <a:ext cx="42976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274320" y="3712464"/>
            <a:ext cx="54864" cy="749808"/>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09160" y="3712464"/>
            <a:ext cx="416052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09160" y="3712464"/>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3712464"/>
            <a:ext cx="388620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The audience must keep up — no hand-holding</a:t>
            </a:r>
          </a:p>
        </p:txBody>
      </p:sp>
      <p:sp>
        <p:nvSpPr>
          <p:cNvPr id="31" name="TextBox 30"/>
          <p:cNvSpPr txBox="1"/>
          <p:nvPr/>
        </p:nvSpPr>
        <p:spPr>
          <a:xfrm>
            <a:off x="4937760" y="3712464"/>
            <a:ext cx="3749040" cy="749808"/>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The audience is guided through each beat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TWO SCHOOLS OF TV DIALOGUE</a:t>
            </a:r>
          </a:p>
        </p:txBody>
      </p:sp>
      <p:sp>
        <p:nvSpPr>
          <p:cNvPr id="4" name="TextBox 3"/>
          <p:cNvSpPr txBox="1"/>
          <p:nvPr/>
        </p:nvSpPr>
        <p:spPr>
          <a:xfrm>
            <a:off x="594360" y="640080"/>
            <a:ext cx="5029200" cy="457200"/>
          </a:xfrm>
          <a:prstGeom prst="rect">
            <a:avLst/>
          </a:prstGeom>
          <a:noFill/>
        </p:spPr>
        <p:txBody>
          <a:bodyPr wrap="square" lIns="0" rIns="0" tIns="0" bIns="0" anchor="t"/>
          <a:lstStyle/>
          <a:p>
            <a:pPr algn="l">
              <a:defRPr sz="2000" b="1" i="0">
                <a:solidFill>
                  <a:srgbClr val="044014"/>
                </a:solidFill>
                <a:latin typeface="Fidelity Slab"/>
              </a:defRPr>
            </a:pPr>
            <a:r>
              <a:t>Gilmore Girls (Density)</a:t>
            </a:r>
          </a:p>
        </p:txBody>
      </p:sp>
      <p:sp>
        <p:nvSpPr>
          <p:cNvPr id="5" name="Rectangle 4"/>
          <p:cNvSpPr/>
          <p:nvPr/>
        </p:nvSpPr>
        <p:spPr>
          <a:xfrm>
            <a:off x="594360" y="1143000"/>
            <a:ext cx="1645920" cy="254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685800"/>
            <a:ext cx="2377440" cy="320040"/>
          </a:xfrm>
          <a:prstGeom prst="rect">
            <a:avLst/>
          </a:prstGeom>
          <a:noFill/>
        </p:spPr>
        <p:txBody>
          <a:bodyPr wrap="square" lIns="0" rIns="0" tIns="0" bIns="0" anchor="t"/>
          <a:lstStyle/>
          <a:p>
            <a:pPr algn="l">
              <a:defRPr sz="1100" b="1" i="0">
                <a:solidFill>
                  <a:srgbClr val="999999"/>
                </a:solidFill>
                <a:latin typeface="Fidelity Sans"/>
              </a:defRPr>
            </a:pPr>
            <a:r>
              <a:t>Standard TV (Clarity)</a:t>
            </a:r>
          </a:p>
        </p:txBody>
      </p:sp>
      <p:sp>
        <p:nvSpPr>
          <p:cNvPr id="7" name="Rectangle 6"/>
          <p:cNvSpPr/>
          <p:nvPr/>
        </p:nvSpPr>
        <p:spPr>
          <a:xfrm>
            <a:off x="6400800" y="1024128"/>
            <a:ext cx="914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80760" y="1188720"/>
            <a:ext cx="13716" cy="336499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371600"/>
            <a:ext cx="52120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371600"/>
            <a:ext cx="54864" cy="749808"/>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371600"/>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Dialogue carries plot, character, and setting simultaneously</a:t>
            </a:r>
          </a:p>
        </p:txBody>
      </p:sp>
      <p:sp>
        <p:nvSpPr>
          <p:cNvPr id="12" name="Rectangle 11"/>
          <p:cNvSpPr/>
          <p:nvPr/>
        </p:nvSpPr>
        <p:spPr>
          <a:xfrm>
            <a:off x="6400800" y="1371600"/>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371600"/>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371600"/>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Dialogue serves one function per exchange</a:t>
            </a:r>
          </a:p>
        </p:txBody>
      </p:sp>
      <p:sp>
        <p:nvSpPr>
          <p:cNvPr id="15" name="Rectangle 14"/>
          <p:cNvSpPr/>
          <p:nvPr/>
        </p:nvSpPr>
        <p:spPr>
          <a:xfrm>
            <a:off x="594360" y="2212848"/>
            <a:ext cx="52120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2212848"/>
            <a:ext cx="54864" cy="749808"/>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2212848"/>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References function as shorthand for emotional states</a:t>
            </a:r>
          </a:p>
        </p:txBody>
      </p:sp>
      <p:sp>
        <p:nvSpPr>
          <p:cNvPr id="18" name="Rectangle 17"/>
          <p:cNvSpPr/>
          <p:nvPr/>
        </p:nvSpPr>
        <p:spPr>
          <a:xfrm>
            <a:off x="6400800" y="2212848"/>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2212848"/>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2212848"/>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Exposition is delivered explicitly</a:t>
            </a:r>
          </a:p>
        </p:txBody>
      </p:sp>
      <p:sp>
        <p:nvSpPr>
          <p:cNvPr id="21" name="Rectangle 20"/>
          <p:cNvSpPr/>
          <p:nvPr/>
        </p:nvSpPr>
        <p:spPr>
          <a:xfrm>
            <a:off x="594360" y="3054096"/>
            <a:ext cx="52120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3054096"/>
            <a:ext cx="54864" cy="749808"/>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054096"/>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Silence is rare and therefore devastating when used</a:t>
            </a:r>
          </a:p>
        </p:txBody>
      </p:sp>
      <p:sp>
        <p:nvSpPr>
          <p:cNvPr id="24" name="Rectangle 23"/>
          <p:cNvSpPr/>
          <p:nvPr/>
        </p:nvSpPr>
        <p:spPr>
          <a:xfrm>
            <a:off x="6400800" y="3054096"/>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3054096"/>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37960" y="3054096"/>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Silence is common and used for pacing</a:t>
            </a:r>
          </a:p>
        </p:txBody>
      </p:sp>
      <p:sp>
        <p:nvSpPr>
          <p:cNvPr id="27" name="Rectangle 26"/>
          <p:cNvSpPr/>
          <p:nvPr/>
        </p:nvSpPr>
        <p:spPr>
          <a:xfrm>
            <a:off x="594360" y="3895344"/>
            <a:ext cx="5212080" cy="749808"/>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 y="3895344"/>
            <a:ext cx="54864" cy="749808"/>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3895344"/>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The audience must keep up — no hand-holding</a:t>
            </a:r>
          </a:p>
        </p:txBody>
      </p:sp>
      <p:sp>
        <p:nvSpPr>
          <p:cNvPr id="30" name="Rectangle 29"/>
          <p:cNvSpPr/>
          <p:nvPr/>
        </p:nvSpPr>
        <p:spPr>
          <a:xfrm>
            <a:off x="6400800" y="3895344"/>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00800" y="3895344"/>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37960" y="3895344"/>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The audience is guided through each beat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TWO SCHOOLS OF TV DIALOGUE</a:t>
            </a:r>
          </a:p>
        </p:txBody>
      </p:sp>
      <p:sp>
        <p:nvSpPr>
          <p:cNvPr id="4" name="TextBox 3"/>
          <p:cNvSpPr txBox="1"/>
          <p:nvPr/>
        </p:nvSpPr>
        <p:spPr>
          <a:xfrm>
            <a:off x="594360" y="685800"/>
            <a:ext cx="2377440" cy="320040"/>
          </a:xfrm>
          <a:prstGeom prst="rect">
            <a:avLst/>
          </a:prstGeom>
          <a:noFill/>
        </p:spPr>
        <p:txBody>
          <a:bodyPr wrap="square" lIns="0" rIns="0" tIns="0" bIns="0" anchor="t"/>
          <a:lstStyle/>
          <a:p>
            <a:pPr algn="l">
              <a:defRPr sz="1100" b="1" i="0">
                <a:solidFill>
                  <a:srgbClr val="999999"/>
                </a:solidFill>
                <a:latin typeface="Fidelity Sans"/>
              </a:defRPr>
            </a:pPr>
            <a:r>
              <a:t>Gilmore Girls (Density)</a:t>
            </a:r>
          </a:p>
        </p:txBody>
      </p:sp>
      <p:sp>
        <p:nvSpPr>
          <p:cNvPr id="5" name="Rectangle 4"/>
          <p:cNvSpPr/>
          <p:nvPr/>
        </p:nvSpPr>
        <p:spPr>
          <a:xfrm>
            <a:off x="594360" y="1024128"/>
            <a:ext cx="914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337560" y="640080"/>
            <a:ext cx="5029200" cy="457200"/>
          </a:xfrm>
          <a:prstGeom prst="rect">
            <a:avLst/>
          </a:prstGeom>
          <a:noFill/>
        </p:spPr>
        <p:txBody>
          <a:bodyPr wrap="square" lIns="0" rIns="0" tIns="0" bIns="0" anchor="t"/>
          <a:lstStyle/>
          <a:p>
            <a:pPr algn="l">
              <a:defRPr sz="2000" b="1" i="0">
                <a:solidFill>
                  <a:srgbClr val="04547C"/>
                </a:solidFill>
                <a:latin typeface="Fidelity Slab"/>
              </a:defRPr>
            </a:pPr>
            <a:r>
              <a:t>Standard TV (Clarity)</a:t>
            </a:r>
          </a:p>
        </p:txBody>
      </p:sp>
      <p:sp>
        <p:nvSpPr>
          <p:cNvPr id="7" name="Rectangle 6"/>
          <p:cNvSpPr/>
          <p:nvPr/>
        </p:nvSpPr>
        <p:spPr>
          <a:xfrm>
            <a:off x="3337560" y="1143000"/>
            <a:ext cx="1645920" cy="2540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063240" y="1188720"/>
            <a:ext cx="13716" cy="3364992"/>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371600"/>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1371600"/>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371600"/>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Dialogue carries plot, character, and setting simultaneously</a:t>
            </a:r>
          </a:p>
        </p:txBody>
      </p:sp>
      <p:sp>
        <p:nvSpPr>
          <p:cNvPr id="12" name="Rectangle 11"/>
          <p:cNvSpPr/>
          <p:nvPr/>
        </p:nvSpPr>
        <p:spPr>
          <a:xfrm>
            <a:off x="3337560" y="1371600"/>
            <a:ext cx="521208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371600"/>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66160" y="1371600"/>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Dialogue serves one function per exchange</a:t>
            </a:r>
          </a:p>
        </p:txBody>
      </p:sp>
      <p:sp>
        <p:nvSpPr>
          <p:cNvPr id="15" name="Rectangle 14"/>
          <p:cNvSpPr/>
          <p:nvPr/>
        </p:nvSpPr>
        <p:spPr>
          <a:xfrm>
            <a:off x="594360" y="2212848"/>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2212848"/>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212848"/>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References function as shorthand for emotional states</a:t>
            </a:r>
          </a:p>
        </p:txBody>
      </p:sp>
      <p:sp>
        <p:nvSpPr>
          <p:cNvPr id="18" name="Rectangle 17"/>
          <p:cNvSpPr/>
          <p:nvPr/>
        </p:nvSpPr>
        <p:spPr>
          <a:xfrm>
            <a:off x="3337560" y="2212848"/>
            <a:ext cx="521208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37560" y="2212848"/>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566160" y="2212848"/>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Exposition is delivered explicitly</a:t>
            </a:r>
          </a:p>
        </p:txBody>
      </p:sp>
      <p:sp>
        <p:nvSpPr>
          <p:cNvPr id="21" name="Rectangle 20"/>
          <p:cNvSpPr/>
          <p:nvPr/>
        </p:nvSpPr>
        <p:spPr>
          <a:xfrm>
            <a:off x="594360" y="3054096"/>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94360" y="3054096"/>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054096"/>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Silence is rare and therefore devastating when used</a:t>
            </a:r>
          </a:p>
        </p:txBody>
      </p:sp>
      <p:sp>
        <p:nvSpPr>
          <p:cNvPr id="24" name="Rectangle 23"/>
          <p:cNvSpPr/>
          <p:nvPr/>
        </p:nvSpPr>
        <p:spPr>
          <a:xfrm>
            <a:off x="3337560" y="3054096"/>
            <a:ext cx="521208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37560" y="3054096"/>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66160" y="3054096"/>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Silence is common and used for pacing</a:t>
            </a:r>
          </a:p>
        </p:txBody>
      </p:sp>
      <p:sp>
        <p:nvSpPr>
          <p:cNvPr id="27" name="Rectangle 26"/>
          <p:cNvSpPr/>
          <p:nvPr/>
        </p:nvSpPr>
        <p:spPr>
          <a:xfrm>
            <a:off x="594360" y="3895344"/>
            <a:ext cx="2377440" cy="749808"/>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4360" y="3895344"/>
            <a:ext cx="32004" cy="749808"/>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3895344"/>
            <a:ext cx="2148840" cy="749808"/>
          </a:xfrm>
          <a:prstGeom prst="rect">
            <a:avLst/>
          </a:prstGeom>
          <a:noFill/>
        </p:spPr>
        <p:txBody>
          <a:bodyPr wrap="square" lIns="0" rIns="0" tIns="0" bIns="0" anchor="ctr"/>
          <a:lstStyle/>
          <a:p>
            <a:pPr algn="l">
              <a:defRPr sz="900" b="0" i="0">
                <a:solidFill>
                  <a:srgbClr val="999999"/>
                </a:solidFill>
                <a:latin typeface="Fidelity Sans"/>
              </a:defRPr>
              <a:lnSpc>
                <a:spcPts val="1200"/>
              </a:lnSpc>
            </a:pPr>
            <a:r>
              <a:t>The audience must keep up — no hand-holding</a:t>
            </a:r>
          </a:p>
        </p:txBody>
      </p:sp>
      <p:sp>
        <p:nvSpPr>
          <p:cNvPr id="30" name="Rectangle 29"/>
          <p:cNvSpPr/>
          <p:nvPr/>
        </p:nvSpPr>
        <p:spPr>
          <a:xfrm>
            <a:off x="3337560" y="3895344"/>
            <a:ext cx="5212080" cy="749808"/>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37560" y="3895344"/>
            <a:ext cx="54864" cy="749808"/>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66160" y="3895344"/>
            <a:ext cx="4754880" cy="749808"/>
          </a:xfrm>
          <a:prstGeom prst="rect">
            <a:avLst/>
          </a:prstGeom>
          <a:noFill/>
        </p:spPr>
        <p:txBody>
          <a:bodyPr wrap="square" lIns="0" rIns="0" tIns="0" bIns="0" anchor="ctr"/>
          <a:lstStyle/>
          <a:p>
            <a:pPr algn="l">
              <a:defRPr sz="1300" b="0" i="0">
                <a:solidFill>
                  <a:srgbClr val="2D2D2D"/>
                </a:solidFill>
                <a:latin typeface="Fidelity Sans"/>
              </a:defRPr>
              <a:lnSpc>
                <a:spcPts val="1700"/>
              </a:lnSpc>
            </a:pPr>
            <a:r>
              <a:t>The audience is guided through each beat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502920"/>
          </a:xfrm>
          <a:prstGeom prst="rect">
            <a:avLst/>
          </a:prstGeom>
          <a:noFill/>
        </p:spPr>
        <p:txBody>
          <a:bodyPr wrap="square" lIns="0" rIns="0" tIns="0" bIns="0" anchor="t"/>
          <a:lstStyle/>
          <a:p>
            <a:pPr algn="l">
              <a:defRPr sz="2200" b="1" i="0">
                <a:solidFill>
                  <a:srgbClr val="2D2D2D"/>
                </a:solidFill>
                <a:latin typeface="Fidelity Slab"/>
              </a:defRPr>
            </a:pPr>
            <a:r>
              <a:t>How a Gilmore Rant Builds to a Punchline</a:t>
            </a:r>
          </a:p>
        </p:txBody>
      </p:sp>
      <p:sp>
        <p:nvSpPr>
          <p:cNvPr id="4" name="Rectangle 3"/>
          <p:cNvSpPr/>
          <p:nvPr/>
        </p:nvSpPr>
        <p:spPr>
          <a:xfrm>
            <a:off x="457200" y="914400"/>
            <a:ext cx="1817370" cy="54864"/>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1143000"/>
            <a:ext cx="384048" cy="38404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143000"/>
            <a:ext cx="384048" cy="384048"/>
          </a:xfrm>
          <a:prstGeom prst="rect">
            <a:avLst/>
          </a:prstGeom>
          <a:noFill/>
        </p:spPr>
        <p:txBody>
          <a:bodyPr wrap="square" lIns="0" rIns="0" tIns="0" bIns="0" anchor="ctr"/>
          <a:lstStyle/>
          <a:p>
            <a:pPr algn="ctr">
              <a:defRPr sz="1400" b="1" i="0">
                <a:solidFill>
                  <a:srgbClr val="FFFFFF"/>
                </a:solidFill>
                <a:latin typeface="Fidelity Sans"/>
              </a:defRPr>
            </a:pPr>
            <a:r>
              <a:t>1</a:t>
            </a:r>
          </a:p>
        </p:txBody>
      </p:sp>
      <p:sp>
        <p:nvSpPr>
          <p:cNvPr id="7" name="TextBox 6"/>
          <p:cNvSpPr txBox="1"/>
          <p:nvPr/>
        </p:nvSpPr>
        <p:spPr>
          <a:xfrm>
            <a:off x="640080" y="1691640"/>
            <a:ext cx="1451610" cy="548640"/>
          </a:xfrm>
          <a:prstGeom prst="rect">
            <a:avLst/>
          </a:prstGeom>
          <a:noFill/>
        </p:spPr>
        <p:txBody>
          <a:bodyPr wrap="square" lIns="0" rIns="0" tIns="0" bIns="0" anchor="t"/>
          <a:lstStyle/>
          <a:p>
            <a:pPr algn="l">
              <a:defRPr sz="1600" b="1" i="0">
                <a:solidFill>
                  <a:srgbClr val="2D2D2D"/>
                </a:solidFill>
                <a:latin typeface="Fidelity Slab"/>
              </a:defRPr>
              <a:lnSpc>
                <a:spcPts val="2100"/>
              </a:lnSpc>
            </a:pPr>
            <a:r>
              <a:t>Hook</a:t>
            </a:r>
          </a:p>
        </p:txBody>
      </p:sp>
      <p:sp>
        <p:nvSpPr>
          <p:cNvPr id="8" name="Rectangle 7"/>
          <p:cNvSpPr/>
          <p:nvPr/>
        </p:nvSpPr>
        <p:spPr>
          <a:xfrm>
            <a:off x="640080" y="2286000"/>
            <a:ext cx="726948" cy="254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514600"/>
            <a:ext cx="1451610" cy="2011680"/>
          </a:xfrm>
          <a:prstGeom prst="rect">
            <a:avLst/>
          </a:prstGeom>
          <a:noFill/>
        </p:spPr>
        <p:txBody>
          <a:bodyPr wrap="square" lIns="0" rIns="0" tIns="0" bIns="0" anchor="t"/>
          <a:lstStyle/>
          <a:p>
            <a:pPr algn="l">
              <a:defRPr sz="1200" b="0" i="0">
                <a:solidFill>
                  <a:srgbClr val="666666"/>
                </a:solidFill>
                <a:latin typeface="Fidelity Sans"/>
              </a:defRPr>
              <a:lnSpc>
                <a:spcPts val="1700"/>
              </a:lnSpc>
            </a:pPr>
            <a:r>
              <a:t>Start with an absurd premise or observation that seems throwaway</a:t>
            </a:r>
          </a:p>
        </p:txBody>
      </p:sp>
      <p:sp>
        <p:nvSpPr>
          <p:cNvPr id="10" name="TextBox 9"/>
          <p:cNvSpPr txBox="1"/>
          <p:nvPr/>
        </p:nvSpPr>
        <p:spPr>
          <a:xfrm>
            <a:off x="2297430" y="1207008"/>
            <a:ext cx="274320" cy="274320"/>
          </a:xfrm>
          <a:prstGeom prst="rect">
            <a:avLst/>
          </a:prstGeom>
          <a:noFill/>
        </p:spPr>
        <p:txBody>
          <a:bodyPr wrap="square" lIns="0" rIns="0" tIns="0" bIns="0" anchor="ctr"/>
          <a:lstStyle/>
          <a:p>
            <a:pPr algn="ctr">
              <a:defRPr sz="1600" b="1" i="0">
                <a:solidFill>
                  <a:srgbClr val="D4A843"/>
                </a:solidFill>
                <a:latin typeface="Fidelity Slab"/>
              </a:defRPr>
            </a:pPr>
            <a:r>
              <a:t>→</a:t>
            </a:r>
          </a:p>
        </p:txBody>
      </p:sp>
      <p:sp>
        <p:nvSpPr>
          <p:cNvPr id="11" name="Rectangle 10"/>
          <p:cNvSpPr/>
          <p:nvPr/>
        </p:nvSpPr>
        <p:spPr>
          <a:xfrm>
            <a:off x="2594610" y="914400"/>
            <a:ext cx="1817370" cy="54864"/>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777490" y="1143000"/>
            <a:ext cx="384048" cy="384048"/>
          </a:xfrm>
          <a:prstGeom prst="ellipse">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77490" y="1143000"/>
            <a:ext cx="384048" cy="384048"/>
          </a:xfrm>
          <a:prstGeom prst="rect">
            <a:avLst/>
          </a:prstGeom>
          <a:noFill/>
        </p:spPr>
        <p:txBody>
          <a:bodyPr wrap="square" lIns="0" rIns="0" tIns="0" bIns="0" anchor="ctr"/>
          <a:lstStyle/>
          <a:p>
            <a:pPr algn="ctr">
              <a:defRPr sz="1400" b="1" i="0">
                <a:solidFill>
                  <a:srgbClr val="FFFFFF"/>
                </a:solidFill>
                <a:latin typeface="Fidelity Sans"/>
              </a:defRPr>
            </a:pPr>
            <a:r>
              <a:t>2</a:t>
            </a:r>
          </a:p>
        </p:txBody>
      </p:sp>
      <p:sp>
        <p:nvSpPr>
          <p:cNvPr id="14" name="TextBox 13"/>
          <p:cNvSpPr txBox="1"/>
          <p:nvPr/>
        </p:nvSpPr>
        <p:spPr>
          <a:xfrm>
            <a:off x="2777490" y="1691640"/>
            <a:ext cx="1451610" cy="548640"/>
          </a:xfrm>
          <a:prstGeom prst="rect">
            <a:avLst/>
          </a:prstGeom>
          <a:noFill/>
        </p:spPr>
        <p:txBody>
          <a:bodyPr wrap="square" lIns="0" rIns="0" tIns="0" bIns="0" anchor="t"/>
          <a:lstStyle/>
          <a:p>
            <a:pPr algn="l">
              <a:defRPr sz="1600" b="1" i="0">
                <a:solidFill>
                  <a:srgbClr val="2D2D2D"/>
                </a:solidFill>
                <a:latin typeface="Fidelity Slab"/>
              </a:defRPr>
              <a:lnSpc>
                <a:spcPts val="2100"/>
              </a:lnSpc>
            </a:pPr>
            <a:r>
              <a:t>Escalate</a:t>
            </a:r>
          </a:p>
        </p:txBody>
      </p:sp>
      <p:sp>
        <p:nvSpPr>
          <p:cNvPr id="15" name="Rectangle 14"/>
          <p:cNvSpPr/>
          <p:nvPr/>
        </p:nvSpPr>
        <p:spPr>
          <a:xfrm>
            <a:off x="2777490" y="2286000"/>
            <a:ext cx="726948" cy="2540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77490" y="2514600"/>
            <a:ext cx="1451610" cy="2011680"/>
          </a:xfrm>
          <a:prstGeom prst="rect">
            <a:avLst/>
          </a:prstGeom>
          <a:noFill/>
        </p:spPr>
        <p:txBody>
          <a:bodyPr wrap="square" lIns="0" rIns="0" tIns="0" bIns="0" anchor="t"/>
          <a:lstStyle/>
          <a:p>
            <a:pPr algn="l">
              <a:defRPr sz="1200" b="0" i="0">
                <a:solidFill>
                  <a:srgbClr val="666666"/>
                </a:solidFill>
                <a:latin typeface="Fidelity Sans"/>
              </a:defRPr>
              <a:lnSpc>
                <a:spcPts val="1700"/>
              </a:lnSpc>
            </a:pPr>
            <a:r>
              <a:t>Layer references and tangents that appear to wander off-topic</a:t>
            </a:r>
          </a:p>
        </p:txBody>
      </p:sp>
      <p:sp>
        <p:nvSpPr>
          <p:cNvPr id="17" name="TextBox 16"/>
          <p:cNvSpPr txBox="1"/>
          <p:nvPr/>
        </p:nvSpPr>
        <p:spPr>
          <a:xfrm>
            <a:off x="4434840" y="1207008"/>
            <a:ext cx="274320" cy="274320"/>
          </a:xfrm>
          <a:prstGeom prst="rect">
            <a:avLst/>
          </a:prstGeom>
          <a:noFill/>
        </p:spPr>
        <p:txBody>
          <a:bodyPr wrap="square" lIns="0" rIns="0" tIns="0" bIns="0" anchor="ctr"/>
          <a:lstStyle/>
          <a:p>
            <a:pPr algn="ctr">
              <a:defRPr sz="1600" b="1" i="0">
                <a:solidFill>
                  <a:srgbClr val="D4A843"/>
                </a:solidFill>
                <a:latin typeface="Fidelity Slab"/>
              </a:defRPr>
            </a:pPr>
            <a:r>
              <a:t>→</a:t>
            </a:r>
          </a:p>
        </p:txBody>
      </p:sp>
      <p:sp>
        <p:nvSpPr>
          <p:cNvPr id="18" name="Rectangle 17"/>
          <p:cNvSpPr/>
          <p:nvPr/>
        </p:nvSpPr>
        <p:spPr>
          <a:xfrm>
            <a:off x="4732020" y="914400"/>
            <a:ext cx="1817370" cy="54864"/>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914900" y="1143000"/>
            <a:ext cx="384048" cy="384048"/>
          </a:xfrm>
          <a:prstGeom prst="ellipse">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14900" y="1143000"/>
            <a:ext cx="384048" cy="384048"/>
          </a:xfrm>
          <a:prstGeom prst="rect">
            <a:avLst/>
          </a:prstGeom>
          <a:noFill/>
        </p:spPr>
        <p:txBody>
          <a:bodyPr wrap="square" lIns="0" rIns="0" tIns="0" bIns="0" anchor="ctr"/>
          <a:lstStyle/>
          <a:p>
            <a:pPr algn="ctr">
              <a:defRPr sz="1400" b="1" i="0">
                <a:solidFill>
                  <a:srgbClr val="FFFFFF"/>
                </a:solidFill>
                <a:latin typeface="Fidelity Sans"/>
              </a:defRPr>
            </a:pPr>
            <a:r>
              <a:t>3</a:t>
            </a:r>
          </a:p>
        </p:txBody>
      </p:sp>
      <p:sp>
        <p:nvSpPr>
          <p:cNvPr id="21" name="TextBox 20"/>
          <p:cNvSpPr txBox="1"/>
          <p:nvPr/>
        </p:nvSpPr>
        <p:spPr>
          <a:xfrm>
            <a:off x="4914900" y="1691640"/>
            <a:ext cx="1451610" cy="548640"/>
          </a:xfrm>
          <a:prstGeom prst="rect">
            <a:avLst/>
          </a:prstGeom>
          <a:noFill/>
        </p:spPr>
        <p:txBody>
          <a:bodyPr wrap="square" lIns="0" rIns="0" tIns="0" bIns="0" anchor="t"/>
          <a:lstStyle/>
          <a:p>
            <a:pPr algn="l">
              <a:defRPr sz="1600" b="1" i="0">
                <a:solidFill>
                  <a:srgbClr val="2D2D2D"/>
                </a:solidFill>
                <a:latin typeface="Fidelity Slab"/>
              </a:defRPr>
              <a:lnSpc>
                <a:spcPts val="2100"/>
              </a:lnSpc>
            </a:pPr>
            <a:r>
              <a:t>Callback</a:t>
            </a:r>
          </a:p>
        </p:txBody>
      </p:sp>
      <p:sp>
        <p:nvSpPr>
          <p:cNvPr id="22" name="Rectangle 21"/>
          <p:cNvSpPr/>
          <p:nvPr/>
        </p:nvSpPr>
        <p:spPr>
          <a:xfrm>
            <a:off x="4914900" y="2286000"/>
            <a:ext cx="726948" cy="25400"/>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14900" y="2514600"/>
            <a:ext cx="1451610" cy="2011680"/>
          </a:xfrm>
          <a:prstGeom prst="rect">
            <a:avLst/>
          </a:prstGeom>
          <a:noFill/>
        </p:spPr>
        <p:txBody>
          <a:bodyPr wrap="square" lIns="0" rIns="0" tIns="0" bIns="0" anchor="t"/>
          <a:lstStyle/>
          <a:p>
            <a:pPr algn="l">
              <a:defRPr sz="1200" b="0" i="0">
                <a:solidFill>
                  <a:srgbClr val="666666"/>
                </a:solidFill>
                <a:latin typeface="Fidelity Sans"/>
              </a:defRPr>
              <a:lnSpc>
                <a:spcPts val="1700"/>
              </a:lnSpc>
            </a:pPr>
            <a:r>
              <a:t>Circle back to the original premise with a twist</a:t>
            </a:r>
          </a:p>
        </p:txBody>
      </p:sp>
      <p:sp>
        <p:nvSpPr>
          <p:cNvPr id="24" name="TextBox 23"/>
          <p:cNvSpPr txBox="1"/>
          <p:nvPr/>
        </p:nvSpPr>
        <p:spPr>
          <a:xfrm>
            <a:off x="6572250" y="1207008"/>
            <a:ext cx="274320" cy="274320"/>
          </a:xfrm>
          <a:prstGeom prst="rect">
            <a:avLst/>
          </a:prstGeom>
          <a:noFill/>
        </p:spPr>
        <p:txBody>
          <a:bodyPr wrap="square" lIns="0" rIns="0" tIns="0" bIns="0" anchor="ctr"/>
          <a:lstStyle/>
          <a:p>
            <a:pPr algn="ctr">
              <a:defRPr sz="1600" b="1" i="0">
                <a:solidFill>
                  <a:srgbClr val="D4A843"/>
                </a:solidFill>
                <a:latin typeface="Fidelity Slab"/>
              </a:defRPr>
            </a:pPr>
            <a:r>
              <a:t>→</a:t>
            </a:r>
          </a:p>
        </p:txBody>
      </p:sp>
      <p:sp>
        <p:nvSpPr>
          <p:cNvPr id="25" name="Rectangle 24"/>
          <p:cNvSpPr/>
          <p:nvPr/>
        </p:nvSpPr>
        <p:spPr>
          <a:xfrm>
            <a:off x="6869430" y="914400"/>
            <a:ext cx="1817370" cy="54864"/>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052310" y="1143000"/>
            <a:ext cx="384048" cy="384048"/>
          </a:xfrm>
          <a:prstGeom prst="ellipse">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52310" y="1143000"/>
            <a:ext cx="384048" cy="384048"/>
          </a:xfrm>
          <a:prstGeom prst="rect">
            <a:avLst/>
          </a:prstGeom>
          <a:noFill/>
        </p:spPr>
        <p:txBody>
          <a:bodyPr wrap="square" lIns="0" rIns="0" tIns="0" bIns="0" anchor="ctr"/>
          <a:lstStyle/>
          <a:p>
            <a:pPr algn="ctr">
              <a:defRPr sz="1400" b="1" i="0">
                <a:solidFill>
                  <a:srgbClr val="FFFFFF"/>
                </a:solidFill>
                <a:latin typeface="Fidelity Sans"/>
              </a:defRPr>
            </a:pPr>
            <a:r>
              <a:t>4</a:t>
            </a:r>
          </a:p>
        </p:txBody>
      </p:sp>
      <p:sp>
        <p:nvSpPr>
          <p:cNvPr id="28" name="TextBox 27"/>
          <p:cNvSpPr txBox="1"/>
          <p:nvPr/>
        </p:nvSpPr>
        <p:spPr>
          <a:xfrm>
            <a:off x="7052310" y="1691640"/>
            <a:ext cx="1451610" cy="548640"/>
          </a:xfrm>
          <a:prstGeom prst="rect">
            <a:avLst/>
          </a:prstGeom>
          <a:noFill/>
        </p:spPr>
        <p:txBody>
          <a:bodyPr wrap="square" lIns="0" rIns="0" tIns="0" bIns="0" anchor="t"/>
          <a:lstStyle/>
          <a:p>
            <a:pPr algn="l">
              <a:defRPr sz="1600" b="1" i="0">
                <a:solidFill>
                  <a:srgbClr val="2D2D2D"/>
                </a:solidFill>
                <a:latin typeface="Fidelity Slab"/>
              </a:defRPr>
              <a:lnSpc>
                <a:spcPts val="2100"/>
              </a:lnSpc>
            </a:pPr>
            <a:r>
              <a:t>Land</a:t>
            </a:r>
          </a:p>
        </p:txBody>
      </p:sp>
      <p:sp>
        <p:nvSpPr>
          <p:cNvPr id="29" name="Rectangle 28"/>
          <p:cNvSpPr/>
          <p:nvPr/>
        </p:nvSpPr>
        <p:spPr>
          <a:xfrm>
            <a:off x="7052310" y="2286000"/>
            <a:ext cx="726948" cy="254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52310" y="2514600"/>
            <a:ext cx="1451610" cy="2011680"/>
          </a:xfrm>
          <a:prstGeom prst="rect">
            <a:avLst/>
          </a:prstGeom>
          <a:noFill/>
        </p:spPr>
        <p:txBody>
          <a:bodyPr wrap="square" lIns="0" rIns="0" tIns="0" bIns="0" anchor="t"/>
          <a:lstStyle/>
          <a:p>
            <a:pPr algn="l">
              <a:defRPr sz="1200" b="0" i="0">
                <a:solidFill>
                  <a:srgbClr val="666666"/>
                </a:solidFill>
                <a:latin typeface="Fidelity Sans"/>
              </a:defRPr>
              <a:lnSpc>
                <a:spcPts val="1700"/>
              </a:lnSpc>
            </a:pPr>
            <a:r>
              <a:t>Deliver the emotional truth underneath the comedy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457200"/>
          </a:xfrm>
          <a:prstGeom prst="rect">
            <a:avLst/>
          </a:prstGeom>
          <a:noFill/>
        </p:spPr>
        <p:txBody>
          <a:bodyPr wrap="square" lIns="0" rIns="0" tIns="0" bIns="0" anchor="t"/>
          <a:lstStyle/>
          <a:p>
            <a:pPr algn="l">
              <a:defRPr sz="2200" b="1" i="0">
                <a:solidFill>
                  <a:srgbClr val="2D2D2D"/>
                </a:solidFill>
                <a:latin typeface="Fidelity Slab"/>
              </a:defRPr>
            </a:pPr>
            <a:r>
              <a:t>Building a Scene the Gilmore Way</a:t>
            </a:r>
          </a:p>
        </p:txBody>
      </p:sp>
      <p:sp>
        <p:nvSpPr>
          <p:cNvPr id="4" name="Rectangle 3"/>
          <p:cNvSpPr/>
          <p:nvPr/>
        </p:nvSpPr>
        <p:spPr>
          <a:xfrm>
            <a:off x="274320" y="868680"/>
            <a:ext cx="8595360" cy="751636"/>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68680"/>
            <a:ext cx="64008" cy="75163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68680"/>
            <a:ext cx="1097280" cy="751636"/>
          </a:xfrm>
          <a:prstGeom prst="rect">
            <a:avLst/>
          </a:prstGeom>
          <a:noFill/>
        </p:spPr>
        <p:txBody>
          <a:bodyPr wrap="square" lIns="0" rIns="0" tIns="0" bIns="0" anchor="ctr"/>
          <a:lstStyle/>
          <a:p>
            <a:pPr algn="l">
              <a:defRPr sz="4800" b="1" i="0">
                <a:solidFill>
                  <a:srgbClr val="CCCCCC"/>
                </a:solidFill>
                <a:latin typeface="Fidelity Slab"/>
              </a:defRPr>
            </a:pPr>
            <a:r>
              <a:t>1</a:t>
            </a:r>
          </a:p>
        </p:txBody>
      </p:sp>
      <p:sp>
        <p:nvSpPr>
          <p:cNvPr id="7" name="TextBox 6"/>
          <p:cNvSpPr txBox="1"/>
          <p:nvPr/>
        </p:nvSpPr>
        <p:spPr>
          <a:xfrm>
            <a:off x="1371600" y="868680"/>
            <a:ext cx="2560320" cy="751636"/>
          </a:xfrm>
          <a:prstGeom prst="rect">
            <a:avLst/>
          </a:prstGeom>
          <a:noFill/>
        </p:spPr>
        <p:txBody>
          <a:bodyPr wrap="square" lIns="0" rIns="0" tIns="0" bIns="0" anchor="ctr"/>
          <a:lstStyle/>
          <a:p>
            <a:pPr algn="l">
              <a:defRPr sz="1400" b="1" i="0">
                <a:solidFill>
                  <a:srgbClr val="2D2D2D"/>
                </a:solidFill>
                <a:latin typeface="Fidelity Slab"/>
              </a:defRPr>
            </a:pPr>
            <a:r>
              <a:t>Set the Table</a:t>
            </a:r>
          </a:p>
        </p:txBody>
      </p:sp>
      <p:sp>
        <p:nvSpPr>
          <p:cNvPr id="8" name="TextBox 7"/>
          <p:cNvSpPr txBox="1"/>
          <p:nvPr/>
        </p:nvSpPr>
        <p:spPr>
          <a:xfrm>
            <a:off x="4114800" y="868680"/>
            <a:ext cx="4572000" cy="751636"/>
          </a:xfrm>
          <a:prstGeom prst="rect">
            <a:avLst/>
          </a:prstGeom>
          <a:noFill/>
        </p:spPr>
        <p:txBody>
          <a:bodyPr wrap="square" lIns="0" rIns="0" tIns="0" bIns="0" anchor="ctr"/>
          <a:lstStyle/>
          <a:p>
            <a:pPr algn="l">
              <a:defRPr sz="1100" b="0" i="0">
                <a:solidFill>
                  <a:srgbClr val="666666"/>
                </a:solidFill>
                <a:latin typeface="Fidelity Sans"/>
              </a:defRPr>
              <a:lnSpc>
                <a:spcPts val="1500"/>
              </a:lnSpc>
            </a:pPr>
            <a:r>
              <a:t>Establish the physical space and who's in it</a:t>
            </a:r>
          </a:p>
        </p:txBody>
      </p:sp>
      <p:sp>
        <p:nvSpPr>
          <p:cNvPr id="9" name="Rectangle 8"/>
          <p:cNvSpPr/>
          <p:nvPr/>
        </p:nvSpPr>
        <p:spPr>
          <a:xfrm>
            <a:off x="274320" y="1675180"/>
            <a:ext cx="8595360" cy="751636"/>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320" y="1675180"/>
            <a:ext cx="64008" cy="751636"/>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675180"/>
            <a:ext cx="1097280" cy="751636"/>
          </a:xfrm>
          <a:prstGeom prst="rect">
            <a:avLst/>
          </a:prstGeom>
          <a:noFill/>
        </p:spPr>
        <p:txBody>
          <a:bodyPr wrap="square" lIns="0" rIns="0" tIns="0" bIns="0" anchor="ctr"/>
          <a:lstStyle/>
          <a:p>
            <a:pPr algn="l">
              <a:defRPr sz="4800" b="1" i="0">
                <a:solidFill>
                  <a:srgbClr val="CCCCCC"/>
                </a:solidFill>
                <a:latin typeface="Fidelity Slab"/>
              </a:defRPr>
            </a:pPr>
            <a:r>
              <a:t>2</a:t>
            </a:r>
          </a:p>
        </p:txBody>
      </p:sp>
      <p:sp>
        <p:nvSpPr>
          <p:cNvPr id="12" name="TextBox 11"/>
          <p:cNvSpPr txBox="1"/>
          <p:nvPr/>
        </p:nvSpPr>
        <p:spPr>
          <a:xfrm>
            <a:off x="1371600" y="1675180"/>
            <a:ext cx="2560320" cy="751636"/>
          </a:xfrm>
          <a:prstGeom prst="rect">
            <a:avLst/>
          </a:prstGeom>
          <a:noFill/>
        </p:spPr>
        <p:txBody>
          <a:bodyPr wrap="square" lIns="0" rIns="0" tIns="0" bIns="0" anchor="ctr"/>
          <a:lstStyle/>
          <a:p>
            <a:pPr algn="l">
              <a:defRPr sz="1400" b="1" i="0">
                <a:solidFill>
                  <a:srgbClr val="2D2D2D"/>
                </a:solidFill>
                <a:latin typeface="Fidelity Slab"/>
              </a:defRPr>
            </a:pPr>
            <a:r>
              <a:t>Start Mid-Conversation</a:t>
            </a:r>
          </a:p>
        </p:txBody>
      </p:sp>
      <p:sp>
        <p:nvSpPr>
          <p:cNvPr id="13" name="TextBox 12"/>
          <p:cNvSpPr txBox="1"/>
          <p:nvPr/>
        </p:nvSpPr>
        <p:spPr>
          <a:xfrm>
            <a:off x="4114800" y="1675180"/>
            <a:ext cx="4572000" cy="751636"/>
          </a:xfrm>
          <a:prstGeom prst="rect">
            <a:avLst/>
          </a:prstGeom>
          <a:noFill/>
        </p:spPr>
        <p:txBody>
          <a:bodyPr wrap="square" lIns="0" rIns="0" tIns="0" bIns="0" anchor="ctr"/>
          <a:lstStyle/>
          <a:p>
            <a:pPr algn="l">
              <a:defRPr sz="1100" b="0" i="0">
                <a:solidFill>
                  <a:srgbClr val="666666"/>
                </a:solidFill>
                <a:latin typeface="Fidelity Sans"/>
              </a:defRPr>
              <a:lnSpc>
                <a:spcPts val="1500"/>
              </a:lnSpc>
            </a:pPr>
            <a:r>
              <a:t>Never begin at the beginning. Drop in where it's interesting.</a:t>
            </a:r>
          </a:p>
        </p:txBody>
      </p:sp>
      <p:sp>
        <p:nvSpPr>
          <p:cNvPr id="14" name="Rectangle 13"/>
          <p:cNvSpPr/>
          <p:nvPr/>
        </p:nvSpPr>
        <p:spPr>
          <a:xfrm>
            <a:off x="274320" y="2481680"/>
            <a:ext cx="8595360" cy="751636"/>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481680"/>
            <a:ext cx="64008" cy="751636"/>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481680"/>
            <a:ext cx="1097280" cy="751636"/>
          </a:xfrm>
          <a:prstGeom prst="rect">
            <a:avLst/>
          </a:prstGeom>
          <a:noFill/>
        </p:spPr>
        <p:txBody>
          <a:bodyPr wrap="square" lIns="0" rIns="0" tIns="0" bIns="0" anchor="ctr"/>
          <a:lstStyle/>
          <a:p>
            <a:pPr algn="l">
              <a:defRPr sz="4800" b="1" i="0">
                <a:solidFill>
                  <a:srgbClr val="CCCCCC"/>
                </a:solidFill>
                <a:latin typeface="Fidelity Slab"/>
              </a:defRPr>
            </a:pPr>
            <a:r>
              <a:t>3</a:t>
            </a:r>
          </a:p>
        </p:txBody>
      </p:sp>
      <p:sp>
        <p:nvSpPr>
          <p:cNvPr id="17" name="TextBox 16"/>
          <p:cNvSpPr txBox="1"/>
          <p:nvPr/>
        </p:nvSpPr>
        <p:spPr>
          <a:xfrm>
            <a:off x="1371600" y="2481680"/>
            <a:ext cx="2560320" cy="751636"/>
          </a:xfrm>
          <a:prstGeom prst="rect">
            <a:avLst/>
          </a:prstGeom>
          <a:noFill/>
        </p:spPr>
        <p:txBody>
          <a:bodyPr wrap="square" lIns="0" rIns="0" tIns="0" bIns="0" anchor="ctr"/>
          <a:lstStyle/>
          <a:p>
            <a:pPr algn="l">
              <a:defRPr sz="1400" b="1" i="0">
                <a:solidFill>
                  <a:srgbClr val="2D2D2D"/>
                </a:solidFill>
                <a:latin typeface="Fidelity Slab"/>
              </a:defRPr>
            </a:pPr>
            <a:r>
              <a:t>Layer the Subtext</a:t>
            </a:r>
          </a:p>
        </p:txBody>
      </p:sp>
      <p:sp>
        <p:nvSpPr>
          <p:cNvPr id="18" name="TextBox 17"/>
          <p:cNvSpPr txBox="1"/>
          <p:nvPr/>
        </p:nvSpPr>
        <p:spPr>
          <a:xfrm>
            <a:off x="4114800" y="2481680"/>
            <a:ext cx="4572000" cy="751636"/>
          </a:xfrm>
          <a:prstGeom prst="rect">
            <a:avLst/>
          </a:prstGeom>
          <a:noFill/>
        </p:spPr>
        <p:txBody>
          <a:bodyPr wrap="square" lIns="0" rIns="0" tIns="0" bIns="0" anchor="ctr"/>
          <a:lstStyle/>
          <a:p>
            <a:pPr algn="l">
              <a:defRPr sz="1100" b="0" i="0">
                <a:solidFill>
                  <a:srgbClr val="666666"/>
                </a:solidFill>
                <a:latin typeface="Fidelity Sans"/>
              </a:defRPr>
              <a:lnSpc>
                <a:spcPts val="1500"/>
              </a:lnSpc>
            </a:pPr>
            <a:r>
              <a:t>What they're talking about is never what they're talking about.</a:t>
            </a:r>
          </a:p>
        </p:txBody>
      </p:sp>
      <p:sp>
        <p:nvSpPr>
          <p:cNvPr id="19" name="Rectangle 18"/>
          <p:cNvSpPr/>
          <p:nvPr/>
        </p:nvSpPr>
        <p:spPr>
          <a:xfrm>
            <a:off x="274320" y="3288180"/>
            <a:ext cx="8595360" cy="751636"/>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4320" y="3288180"/>
            <a:ext cx="64008" cy="751636"/>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88180"/>
            <a:ext cx="1097280" cy="751636"/>
          </a:xfrm>
          <a:prstGeom prst="rect">
            <a:avLst/>
          </a:prstGeom>
          <a:noFill/>
        </p:spPr>
        <p:txBody>
          <a:bodyPr wrap="square" lIns="0" rIns="0" tIns="0" bIns="0" anchor="ctr"/>
          <a:lstStyle/>
          <a:p>
            <a:pPr algn="l">
              <a:defRPr sz="4800" b="1" i="0">
                <a:solidFill>
                  <a:srgbClr val="CCCCCC"/>
                </a:solidFill>
                <a:latin typeface="Fidelity Slab"/>
              </a:defRPr>
            </a:pPr>
            <a:r>
              <a:t>4</a:t>
            </a:r>
          </a:p>
        </p:txBody>
      </p:sp>
      <p:sp>
        <p:nvSpPr>
          <p:cNvPr id="22" name="TextBox 21"/>
          <p:cNvSpPr txBox="1"/>
          <p:nvPr/>
        </p:nvSpPr>
        <p:spPr>
          <a:xfrm>
            <a:off x="1371600" y="3288180"/>
            <a:ext cx="2560320" cy="751636"/>
          </a:xfrm>
          <a:prstGeom prst="rect">
            <a:avLst/>
          </a:prstGeom>
          <a:noFill/>
        </p:spPr>
        <p:txBody>
          <a:bodyPr wrap="square" lIns="0" rIns="0" tIns="0" bIns="0" anchor="ctr"/>
          <a:lstStyle/>
          <a:p>
            <a:pPr algn="l">
              <a:defRPr sz="1400" b="1" i="0">
                <a:solidFill>
                  <a:srgbClr val="2D2D2D"/>
                </a:solidFill>
                <a:latin typeface="Fidelity Slab"/>
              </a:defRPr>
            </a:pPr>
            <a:r>
              <a:t>Interrupt the Pattern</a:t>
            </a:r>
          </a:p>
        </p:txBody>
      </p:sp>
      <p:sp>
        <p:nvSpPr>
          <p:cNvPr id="23" name="TextBox 22"/>
          <p:cNvSpPr txBox="1"/>
          <p:nvPr/>
        </p:nvSpPr>
        <p:spPr>
          <a:xfrm>
            <a:off x="4114800" y="3288180"/>
            <a:ext cx="4572000" cy="751636"/>
          </a:xfrm>
          <a:prstGeom prst="rect">
            <a:avLst/>
          </a:prstGeom>
          <a:noFill/>
        </p:spPr>
        <p:txBody>
          <a:bodyPr wrap="square" lIns="0" rIns="0" tIns="0" bIns="0" anchor="ctr"/>
          <a:lstStyle/>
          <a:p>
            <a:pPr algn="l">
              <a:defRPr sz="1100" b="0" i="0">
                <a:solidFill>
                  <a:srgbClr val="666666"/>
                </a:solidFill>
                <a:latin typeface="Fidelity Sans"/>
              </a:defRPr>
              <a:lnSpc>
                <a:spcPts val="1500"/>
              </a:lnSpc>
            </a:pPr>
            <a:r>
              <a:t>Introduce a disruption that forces the subtext to the surface</a:t>
            </a:r>
          </a:p>
        </p:txBody>
      </p:sp>
      <p:sp>
        <p:nvSpPr>
          <p:cNvPr id="24" name="Rectangle 23"/>
          <p:cNvSpPr/>
          <p:nvPr/>
        </p:nvSpPr>
        <p:spPr>
          <a:xfrm>
            <a:off x="274320" y="4094680"/>
            <a:ext cx="8595360" cy="751636"/>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74320" y="4094680"/>
            <a:ext cx="64008" cy="751636"/>
          </a:xfrm>
          <a:prstGeom prst="rect">
            <a:avLst/>
          </a:prstGeom>
          <a:solidFill>
            <a:srgbClr val="1B7A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4094680"/>
            <a:ext cx="1097280" cy="751636"/>
          </a:xfrm>
          <a:prstGeom prst="rect">
            <a:avLst/>
          </a:prstGeom>
          <a:noFill/>
        </p:spPr>
        <p:txBody>
          <a:bodyPr wrap="square" lIns="0" rIns="0" tIns="0" bIns="0" anchor="ctr"/>
          <a:lstStyle/>
          <a:p>
            <a:pPr algn="l">
              <a:defRPr sz="4800" b="1" i="0">
                <a:solidFill>
                  <a:srgbClr val="CCCCCC"/>
                </a:solidFill>
                <a:latin typeface="Fidelity Slab"/>
              </a:defRPr>
            </a:pPr>
            <a:r>
              <a:t>5</a:t>
            </a:r>
          </a:p>
        </p:txBody>
      </p:sp>
      <p:sp>
        <p:nvSpPr>
          <p:cNvPr id="27" name="TextBox 26"/>
          <p:cNvSpPr txBox="1"/>
          <p:nvPr/>
        </p:nvSpPr>
        <p:spPr>
          <a:xfrm>
            <a:off x="1371600" y="4094680"/>
            <a:ext cx="2560320" cy="751636"/>
          </a:xfrm>
          <a:prstGeom prst="rect">
            <a:avLst/>
          </a:prstGeom>
          <a:noFill/>
        </p:spPr>
        <p:txBody>
          <a:bodyPr wrap="square" lIns="0" rIns="0" tIns="0" bIns="0" anchor="ctr"/>
          <a:lstStyle/>
          <a:p>
            <a:pPr algn="l">
              <a:defRPr sz="1400" b="1" i="0">
                <a:solidFill>
                  <a:srgbClr val="2D2D2D"/>
                </a:solidFill>
                <a:latin typeface="Fidelity Slab"/>
              </a:defRPr>
            </a:pPr>
            <a:r>
              <a:t>Land the Emotion</a:t>
            </a:r>
          </a:p>
        </p:txBody>
      </p:sp>
      <p:sp>
        <p:nvSpPr>
          <p:cNvPr id="28" name="TextBox 27"/>
          <p:cNvSpPr txBox="1"/>
          <p:nvPr/>
        </p:nvSpPr>
        <p:spPr>
          <a:xfrm>
            <a:off x="4114800" y="4094680"/>
            <a:ext cx="4572000" cy="751636"/>
          </a:xfrm>
          <a:prstGeom prst="rect">
            <a:avLst/>
          </a:prstGeom>
          <a:noFill/>
        </p:spPr>
        <p:txBody>
          <a:bodyPr wrap="square" lIns="0" rIns="0" tIns="0" bIns="0" anchor="ctr"/>
          <a:lstStyle/>
          <a:p>
            <a:pPr algn="l">
              <a:defRPr sz="1100" b="0" i="0">
                <a:solidFill>
                  <a:srgbClr val="666666"/>
                </a:solidFill>
                <a:latin typeface="Fidelity Sans"/>
              </a:defRPr>
              <a:lnSpc>
                <a:spcPts val="1500"/>
              </a:lnSpc>
            </a:pPr>
            <a:r>
              <a:t>End on the feeling, not the information.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LUKE'S DINER: SETTING AS CHARACTER</a:t>
            </a:r>
          </a:p>
        </p:txBody>
      </p:sp>
      <p:sp>
        <p:nvSpPr>
          <p:cNvPr id="4" name="TextBox 3"/>
          <p:cNvSpPr txBox="1"/>
          <p:nvPr/>
        </p:nvSpPr>
        <p:spPr>
          <a:xfrm>
            <a:off x="7315200" y="228600"/>
            <a:ext cx="1371600" cy="274320"/>
          </a:xfrm>
          <a:prstGeom prst="rect">
            <a:avLst/>
          </a:prstGeom>
          <a:noFill/>
        </p:spPr>
        <p:txBody>
          <a:bodyPr wrap="square" lIns="0" rIns="0" tIns="0" bIns="0" anchor="t"/>
          <a:lstStyle/>
          <a:p>
            <a:pPr algn="r">
              <a:defRPr sz="900" b="1" i="0">
                <a:solidFill>
                  <a:srgbClr val="D4A843"/>
                </a:solidFill>
                <a:latin typeface="Fidelity Sans"/>
              </a:defRPr>
            </a:pPr>
            <a:r>
              <a:t>Step 1 of 3</a:t>
            </a:r>
          </a:p>
        </p:txBody>
      </p:sp>
      <p:sp>
        <p:nvSpPr>
          <p:cNvPr id="5" name="Oval 4"/>
          <p:cNvSpPr/>
          <p:nvPr/>
        </p:nvSpPr>
        <p:spPr>
          <a:xfrm>
            <a:off x="7498079" y="502920"/>
            <a:ext cx="109728" cy="10972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26679" y="502920"/>
            <a:ext cx="109728" cy="109728"/>
          </a:xfrm>
          <a:prstGeom prst="ellipse">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955279" y="502920"/>
            <a:ext cx="109728" cy="109728"/>
          </a:xfrm>
          <a:prstGeom prst="ellipse">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777240"/>
            <a:ext cx="7955280" cy="320040"/>
          </a:xfrm>
          <a:prstGeom prst="rect">
            <a:avLst/>
          </a:prstGeom>
          <a:noFill/>
        </p:spPr>
        <p:txBody>
          <a:bodyPr wrap="square" lIns="0" rIns="0" tIns="0" bIns="0" anchor="t"/>
          <a:lstStyle/>
          <a:p>
            <a:pPr algn="l">
              <a:defRPr sz="1000" b="1" i="0">
                <a:solidFill>
                  <a:srgbClr val="044014"/>
                </a:solidFill>
                <a:latin typeface="Fidelity Sans"/>
              </a:defRPr>
            </a:pPr>
            <a:r>
              <a:t>WHAT WE FOUND</a:t>
            </a:r>
          </a:p>
        </p:txBody>
      </p:sp>
      <p:sp>
        <p:nvSpPr>
          <p:cNvPr id="9" name="Rectangle 8"/>
          <p:cNvSpPr/>
          <p:nvPr/>
        </p:nvSpPr>
        <p:spPr>
          <a:xfrm>
            <a:off x="594360" y="1115568"/>
            <a:ext cx="1371600" cy="381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25880"/>
            <a:ext cx="7955280" cy="1097280"/>
          </a:xfrm>
          <a:prstGeom prst="rect">
            <a:avLst/>
          </a:prstGeom>
          <a:noFill/>
        </p:spPr>
        <p:txBody>
          <a:bodyPr wrap="square" lIns="0" rIns="0" tIns="0" bIns="0" anchor="t"/>
          <a:lstStyle/>
          <a:p>
            <a:pPr algn="l">
              <a:defRPr sz="2600" b="1" i="0">
                <a:solidFill>
                  <a:srgbClr val="1A1A1A"/>
                </a:solidFill>
                <a:latin typeface="Fidelity Slab"/>
              </a:defRPr>
              <a:lnSpc>
                <a:spcPts val="3400"/>
              </a:lnSpc>
            </a:pPr>
            <a:r>
              <a:t>A Space with Its Own Rules</a:t>
            </a:r>
          </a:p>
        </p:txBody>
      </p:sp>
      <p:sp>
        <p:nvSpPr>
          <p:cNvPr id="11" name="Rectangle 10"/>
          <p:cNvSpPr/>
          <p:nvPr/>
        </p:nvSpPr>
        <p:spPr>
          <a:xfrm>
            <a:off x="594360" y="2514600"/>
            <a:ext cx="1828800" cy="254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743200"/>
            <a:ext cx="7955280" cy="1828800"/>
          </a:xfrm>
          <a:prstGeom prst="rect">
            <a:avLst/>
          </a:prstGeom>
          <a:noFill/>
        </p:spPr>
        <p:txBody>
          <a:bodyPr wrap="square" lIns="0" rIns="0" tIns="0" bIns="0" anchor="t"/>
          <a:lstStyle/>
          <a:p>
            <a:pPr algn="l">
              <a:defRPr sz="1200" b="0" i="0">
                <a:solidFill>
                  <a:srgbClr val="666666"/>
                </a:solidFill>
                <a:latin typeface="Fidelity Sans"/>
              </a:defRPr>
              <a:lnSpc>
                <a:spcPts val="1700"/>
              </a:lnSpc>
            </a:pPr>
            <a:r>
              <a:t>Luke's Diner appears in 93% of all episodes. It's where Lorelai gets coffee, where town gossip circulates, and where most casual conversations happen. Unwritten rules (no cell phones, counter seats for regulars) function like character traits.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LUKE'S DINER: SETTING AS CHARACTER</a:t>
            </a:r>
          </a:p>
        </p:txBody>
      </p:sp>
      <p:sp>
        <p:nvSpPr>
          <p:cNvPr id="4" name="TextBox 3"/>
          <p:cNvSpPr txBox="1"/>
          <p:nvPr/>
        </p:nvSpPr>
        <p:spPr>
          <a:xfrm>
            <a:off x="7315200" y="228600"/>
            <a:ext cx="1371600" cy="274320"/>
          </a:xfrm>
          <a:prstGeom prst="rect">
            <a:avLst/>
          </a:prstGeom>
          <a:noFill/>
        </p:spPr>
        <p:txBody>
          <a:bodyPr wrap="square" lIns="0" rIns="0" tIns="0" bIns="0" anchor="t"/>
          <a:lstStyle/>
          <a:p>
            <a:pPr algn="r">
              <a:defRPr sz="900" b="1" i="0">
                <a:solidFill>
                  <a:srgbClr val="D4A843"/>
                </a:solidFill>
                <a:latin typeface="Fidelity Sans"/>
              </a:defRPr>
            </a:pPr>
            <a:r>
              <a:t>Step 2 of 3</a:t>
            </a:r>
          </a:p>
        </p:txBody>
      </p:sp>
      <p:sp>
        <p:nvSpPr>
          <p:cNvPr id="5" name="Oval 4"/>
          <p:cNvSpPr/>
          <p:nvPr/>
        </p:nvSpPr>
        <p:spPr>
          <a:xfrm>
            <a:off x="7498079" y="502920"/>
            <a:ext cx="109728" cy="10972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26679" y="502920"/>
            <a:ext cx="109728" cy="109728"/>
          </a:xfrm>
          <a:prstGeom prst="ellipse">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955279" y="502920"/>
            <a:ext cx="109728" cy="109728"/>
          </a:xfrm>
          <a:prstGeom prst="ellipse">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822960"/>
            <a:ext cx="36576" cy="109728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822960"/>
            <a:ext cx="2103120" cy="228600"/>
          </a:xfrm>
          <a:prstGeom prst="rect">
            <a:avLst/>
          </a:prstGeom>
          <a:noFill/>
        </p:spPr>
        <p:txBody>
          <a:bodyPr wrap="square" lIns="0" rIns="0" tIns="0" bIns="0" anchor="t"/>
          <a:lstStyle/>
          <a:p>
            <a:pPr algn="l">
              <a:defRPr sz="800" b="1" i="0">
                <a:solidFill>
                  <a:srgbClr val="044014"/>
                </a:solidFill>
                <a:latin typeface="Fidelity Sans"/>
              </a:defRPr>
            </a:pPr>
            <a:r>
              <a:t>WHAT WE FOUND</a:t>
            </a:r>
          </a:p>
        </p:txBody>
      </p:sp>
      <p:sp>
        <p:nvSpPr>
          <p:cNvPr id="10" name="TextBox 9"/>
          <p:cNvSpPr txBox="1"/>
          <p:nvPr/>
        </p:nvSpPr>
        <p:spPr>
          <a:xfrm>
            <a:off x="731520" y="1078992"/>
            <a:ext cx="2103120" cy="320040"/>
          </a:xfrm>
          <a:prstGeom prst="rect">
            <a:avLst/>
          </a:prstGeom>
          <a:noFill/>
        </p:spPr>
        <p:txBody>
          <a:bodyPr wrap="square" lIns="0" rIns="0" tIns="0" bIns="0" anchor="t"/>
          <a:lstStyle/>
          <a:p>
            <a:pPr algn="l">
              <a:defRPr sz="1000" b="1" i="0">
                <a:solidFill>
                  <a:srgbClr val="666666"/>
                </a:solidFill>
                <a:latin typeface="Fidelity Sans"/>
              </a:defRPr>
              <a:lnSpc>
                <a:spcPts val="1300"/>
              </a:lnSpc>
            </a:pPr>
            <a:r>
              <a:t>A Space with Its Own Rules</a:t>
            </a:r>
          </a:p>
        </p:txBody>
      </p:sp>
      <p:sp>
        <p:nvSpPr>
          <p:cNvPr id="11" name="TextBox 10"/>
          <p:cNvSpPr txBox="1"/>
          <p:nvPr/>
        </p:nvSpPr>
        <p:spPr>
          <a:xfrm>
            <a:off x="731520" y="1417320"/>
            <a:ext cx="2103120" cy="457200"/>
          </a:xfrm>
          <a:prstGeom prst="rect">
            <a:avLst/>
          </a:prstGeom>
          <a:noFill/>
        </p:spPr>
        <p:txBody>
          <a:bodyPr wrap="square" lIns="0" rIns="0" tIns="0" bIns="0" anchor="t"/>
          <a:lstStyle/>
          <a:p>
            <a:pPr algn="l">
              <a:defRPr sz="800" b="0" i="0">
                <a:solidFill>
                  <a:srgbClr val="999999"/>
                </a:solidFill>
                <a:latin typeface="Fidelity Sans"/>
              </a:defRPr>
              <a:lnSpc>
                <a:spcPts val="1100"/>
              </a:lnSpc>
            </a:pPr>
            <a:r>
              <a:t>Luke's Diner appears in 93% of all episodes. It's where Lorelai gets coffee, where town gossip ci...</a:t>
            </a:r>
          </a:p>
        </p:txBody>
      </p:sp>
      <p:sp>
        <p:nvSpPr>
          <p:cNvPr id="12" name="Rectangle 11"/>
          <p:cNvSpPr/>
          <p:nvPr/>
        </p:nvSpPr>
        <p:spPr>
          <a:xfrm>
            <a:off x="2880360" y="822960"/>
            <a:ext cx="13716" cy="3657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54680" y="777240"/>
            <a:ext cx="5669280" cy="320040"/>
          </a:xfrm>
          <a:prstGeom prst="rect">
            <a:avLst/>
          </a:prstGeom>
          <a:noFill/>
        </p:spPr>
        <p:txBody>
          <a:bodyPr wrap="square" lIns="0" rIns="0" tIns="0" bIns="0" anchor="t"/>
          <a:lstStyle/>
          <a:p>
            <a:pPr algn="l">
              <a:defRPr sz="1000" b="1" i="0">
                <a:solidFill>
                  <a:srgbClr val="04547C"/>
                </a:solidFill>
                <a:latin typeface="Fidelity Sans"/>
              </a:defRPr>
            </a:pPr>
            <a:r>
              <a:t>SO WHAT</a:t>
            </a:r>
          </a:p>
        </p:txBody>
      </p:sp>
      <p:sp>
        <p:nvSpPr>
          <p:cNvPr id="14" name="Rectangle 13"/>
          <p:cNvSpPr/>
          <p:nvPr/>
        </p:nvSpPr>
        <p:spPr>
          <a:xfrm>
            <a:off x="3154680" y="1115568"/>
            <a:ext cx="1371600" cy="3810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1325880"/>
            <a:ext cx="5669280" cy="1097280"/>
          </a:xfrm>
          <a:prstGeom prst="rect">
            <a:avLst/>
          </a:prstGeom>
          <a:noFill/>
        </p:spPr>
        <p:txBody>
          <a:bodyPr wrap="square" lIns="0" rIns="0" tIns="0" bIns="0" anchor="t"/>
          <a:lstStyle/>
          <a:p>
            <a:pPr algn="l">
              <a:defRPr sz="2600" b="1" i="0">
                <a:solidFill>
                  <a:srgbClr val="1A1A1A"/>
                </a:solidFill>
                <a:latin typeface="Fidelity Slab"/>
              </a:defRPr>
              <a:lnSpc>
                <a:spcPts val="3400"/>
              </a:lnSpc>
            </a:pPr>
            <a:r>
              <a:t>Repetition Earns Emotional Weight</a:t>
            </a:r>
          </a:p>
        </p:txBody>
      </p:sp>
      <p:sp>
        <p:nvSpPr>
          <p:cNvPr id="16" name="Rectangle 15"/>
          <p:cNvSpPr/>
          <p:nvPr/>
        </p:nvSpPr>
        <p:spPr>
          <a:xfrm>
            <a:off x="3154680" y="2514600"/>
            <a:ext cx="1828800" cy="254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54680" y="2743200"/>
            <a:ext cx="5669280" cy="1828800"/>
          </a:xfrm>
          <a:prstGeom prst="rect">
            <a:avLst/>
          </a:prstGeom>
          <a:noFill/>
        </p:spPr>
        <p:txBody>
          <a:bodyPr wrap="square" lIns="0" rIns="0" tIns="0" bIns="0" anchor="t"/>
          <a:lstStyle/>
          <a:p>
            <a:pPr algn="l">
              <a:defRPr sz="1200" b="0" i="0">
                <a:solidFill>
                  <a:srgbClr val="666666"/>
                </a:solidFill>
                <a:latin typeface="Fidelity Sans"/>
              </a:defRPr>
              <a:lnSpc>
                <a:spcPts val="1700"/>
              </a:lnSpc>
            </a:pPr>
            <a:r>
              <a:t>The diner isn't a backdrop. Scenes set at Luke's establish normalcy, so when something disrupts the routine (a fight, a closure, a renovation), the audience feels it viscerally.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LUKE'S DINER: SETTING AS CHARACTER</a:t>
            </a:r>
          </a:p>
        </p:txBody>
      </p:sp>
      <p:sp>
        <p:nvSpPr>
          <p:cNvPr id="4" name="TextBox 3"/>
          <p:cNvSpPr txBox="1"/>
          <p:nvPr/>
        </p:nvSpPr>
        <p:spPr>
          <a:xfrm>
            <a:off x="7315200" y="228600"/>
            <a:ext cx="1371600" cy="274320"/>
          </a:xfrm>
          <a:prstGeom prst="rect">
            <a:avLst/>
          </a:prstGeom>
          <a:noFill/>
        </p:spPr>
        <p:txBody>
          <a:bodyPr wrap="square" lIns="0" rIns="0" tIns="0" bIns="0" anchor="t"/>
          <a:lstStyle/>
          <a:p>
            <a:pPr algn="r">
              <a:defRPr sz="900" b="1" i="0">
                <a:solidFill>
                  <a:srgbClr val="D4A843"/>
                </a:solidFill>
                <a:latin typeface="Fidelity Sans"/>
              </a:defRPr>
            </a:pPr>
            <a:r>
              <a:t>Step 3 of 3</a:t>
            </a:r>
          </a:p>
        </p:txBody>
      </p:sp>
      <p:sp>
        <p:nvSpPr>
          <p:cNvPr id="5" name="Oval 4"/>
          <p:cNvSpPr/>
          <p:nvPr/>
        </p:nvSpPr>
        <p:spPr>
          <a:xfrm>
            <a:off x="7498079" y="502920"/>
            <a:ext cx="109728" cy="10972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7726679" y="502920"/>
            <a:ext cx="109728" cy="109728"/>
          </a:xfrm>
          <a:prstGeom prst="ellipse">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955279" y="502920"/>
            <a:ext cx="109728" cy="109728"/>
          </a:xfrm>
          <a:prstGeom prst="ellipse">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822960"/>
            <a:ext cx="36576" cy="109728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822960"/>
            <a:ext cx="2103120" cy="228600"/>
          </a:xfrm>
          <a:prstGeom prst="rect">
            <a:avLst/>
          </a:prstGeom>
          <a:noFill/>
        </p:spPr>
        <p:txBody>
          <a:bodyPr wrap="square" lIns="0" rIns="0" tIns="0" bIns="0" anchor="t"/>
          <a:lstStyle/>
          <a:p>
            <a:pPr algn="l">
              <a:defRPr sz="800" b="1" i="0">
                <a:solidFill>
                  <a:srgbClr val="044014"/>
                </a:solidFill>
                <a:latin typeface="Fidelity Sans"/>
              </a:defRPr>
            </a:pPr>
            <a:r>
              <a:t>WHAT WE FOUND</a:t>
            </a:r>
          </a:p>
        </p:txBody>
      </p:sp>
      <p:sp>
        <p:nvSpPr>
          <p:cNvPr id="10" name="TextBox 9"/>
          <p:cNvSpPr txBox="1"/>
          <p:nvPr/>
        </p:nvSpPr>
        <p:spPr>
          <a:xfrm>
            <a:off x="731520" y="1078992"/>
            <a:ext cx="2103120" cy="320040"/>
          </a:xfrm>
          <a:prstGeom prst="rect">
            <a:avLst/>
          </a:prstGeom>
          <a:noFill/>
        </p:spPr>
        <p:txBody>
          <a:bodyPr wrap="square" lIns="0" rIns="0" tIns="0" bIns="0" anchor="t"/>
          <a:lstStyle/>
          <a:p>
            <a:pPr algn="l">
              <a:defRPr sz="1000" b="1" i="0">
                <a:solidFill>
                  <a:srgbClr val="666666"/>
                </a:solidFill>
                <a:latin typeface="Fidelity Sans"/>
              </a:defRPr>
              <a:lnSpc>
                <a:spcPts val="1300"/>
              </a:lnSpc>
            </a:pPr>
            <a:r>
              <a:t>A Space with Its Own Rules</a:t>
            </a:r>
          </a:p>
        </p:txBody>
      </p:sp>
      <p:sp>
        <p:nvSpPr>
          <p:cNvPr id="11" name="TextBox 10"/>
          <p:cNvSpPr txBox="1"/>
          <p:nvPr/>
        </p:nvSpPr>
        <p:spPr>
          <a:xfrm>
            <a:off x="731520" y="1417320"/>
            <a:ext cx="2103120" cy="457200"/>
          </a:xfrm>
          <a:prstGeom prst="rect">
            <a:avLst/>
          </a:prstGeom>
          <a:noFill/>
        </p:spPr>
        <p:txBody>
          <a:bodyPr wrap="square" lIns="0" rIns="0" tIns="0" bIns="0" anchor="t"/>
          <a:lstStyle/>
          <a:p>
            <a:pPr algn="l">
              <a:defRPr sz="800" b="0" i="0">
                <a:solidFill>
                  <a:srgbClr val="999999"/>
                </a:solidFill>
                <a:latin typeface="Fidelity Sans"/>
              </a:defRPr>
              <a:lnSpc>
                <a:spcPts val="1100"/>
              </a:lnSpc>
            </a:pPr>
            <a:r>
              <a:t>Luke's Diner appears in 93% of all episodes. It's where Lorelai gets coffee, where town gossip ci...</a:t>
            </a:r>
          </a:p>
        </p:txBody>
      </p:sp>
      <p:sp>
        <p:nvSpPr>
          <p:cNvPr id="12" name="Rectangle 11"/>
          <p:cNvSpPr/>
          <p:nvPr/>
        </p:nvSpPr>
        <p:spPr>
          <a:xfrm>
            <a:off x="594360" y="2194560"/>
            <a:ext cx="36576" cy="109728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2194560"/>
            <a:ext cx="2103120" cy="228600"/>
          </a:xfrm>
          <a:prstGeom prst="rect">
            <a:avLst/>
          </a:prstGeom>
          <a:noFill/>
        </p:spPr>
        <p:txBody>
          <a:bodyPr wrap="square" lIns="0" rIns="0" tIns="0" bIns="0" anchor="t"/>
          <a:lstStyle/>
          <a:p>
            <a:pPr algn="l">
              <a:defRPr sz="800" b="1" i="0">
                <a:solidFill>
                  <a:srgbClr val="04547C"/>
                </a:solidFill>
                <a:latin typeface="Fidelity Sans"/>
              </a:defRPr>
            </a:pPr>
            <a:r>
              <a:t>SO WHAT</a:t>
            </a:r>
          </a:p>
        </p:txBody>
      </p:sp>
      <p:sp>
        <p:nvSpPr>
          <p:cNvPr id="14" name="TextBox 13"/>
          <p:cNvSpPr txBox="1"/>
          <p:nvPr/>
        </p:nvSpPr>
        <p:spPr>
          <a:xfrm>
            <a:off x="731520" y="2450592"/>
            <a:ext cx="2103120" cy="320040"/>
          </a:xfrm>
          <a:prstGeom prst="rect">
            <a:avLst/>
          </a:prstGeom>
          <a:noFill/>
        </p:spPr>
        <p:txBody>
          <a:bodyPr wrap="square" lIns="0" rIns="0" tIns="0" bIns="0" anchor="t"/>
          <a:lstStyle/>
          <a:p>
            <a:pPr algn="l">
              <a:defRPr sz="1000" b="1" i="0">
                <a:solidFill>
                  <a:srgbClr val="666666"/>
                </a:solidFill>
                <a:latin typeface="Fidelity Sans"/>
              </a:defRPr>
              <a:lnSpc>
                <a:spcPts val="1300"/>
              </a:lnSpc>
            </a:pPr>
            <a:r>
              <a:t>Repetition Earns Emotional Weight</a:t>
            </a:r>
          </a:p>
        </p:txBody>
      </p:sp>
      <p:sp>
        <p:nvSpPr>
          <p:cNvPr id="15" name="TextBox 14"/>
          <p:cNvSpPr txBox="1"/>
          <p:nvPr/>
        </p:nvSpPr>
        <p:spPr>
          <a:xfrm>
            <a:off x="731520" y="2788920"/>
            <a:ext cx="2103120" cy="457200"/>
          </a:xfrm>
          <a:prstGeom prst="rect">
            <a:avLst/>
          </a:prstGeom>
          <a:noFill/>
        </p:spPr>
        <p:txBody>
          <a:bodyPr wrap="square" lIns="0" rIns="0" tIns="0" bIns="0" anchor="t"/>
          <a:lstStyle/>
          <a:p>
            <a:pPr algn="l">
              <a:defRPr sz="800" b="0" i="0">
                <a:solidFill>
                  <a:srgbClr val="999999"/>
                </a:solidFill>
                <a:latin typeface="Fidelity Sans"/>
              </a:defRPr>
              <a:lnSpc>
                <a:spcPts val="1100"/>
              </a:lnSpc>
            </a:pPr>
            <a:r>
              <a:t>The diner isn't a backdrop. Scenes set at Luke's establish normalcy, so when something disrupts t...</a:t>
            </a:r>
          </a:p>
        </p:txBody>
      </p:sp>
      <p:sp>
        <p:nvSpPr>
          <p:cNvPr id="16" name="Rectangle 15"/>
          <p:cNvSpPr/>
          <p:nvPr/>
        </p:nvSpPr>
        <p:spPr>
          <a:xfrm>
            <a:off x="2880360" y="822960"/>
            <a:ext cx="13716" cy="36576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154680" y="777240"/>
            <a:ext cx="5669280" cy="320040"/>
          </a:xfrm>
          <a:prstGeom prst="rect">
            <a:avLst/>
          </a:prstGeom>
          <a:noFill/>
        </p:spPr>
        <p:txBody>
          <a:bodyPr wrap="square" lIns="0" rIns="0" tIns="0" bIns="0" anchor="t"/>
          <a:lstStyle/>
          <a:p>
            <a:pPr algn="l">
              <a:defRPr sz="1000" b="1" i="0">
                <a:solidFill>
                  <a:srgbClr val="5B2C8F"/>
                </a:solidFill>
                <a:latin typeface="Fidelity Sans"/>
              </a:defRPr>
            </a:pPr>
            <a:r>
              <a:t>NOW WHAT</a:t>
            </a:r>
          </a:p>
        </p:txBody>
      </p:sp>
      <p:sp>
        <p:nvSpPr>
          <p:cNvPr id="18" name="Rectangle 17"/>
          <p:cNvSpPr/>
          <p:nvPr/>
        </p:nvSpPr>
        <p:spPr>
          <a:xfrm>
            <a:off x="3154680" y="1115568"/>
            <a:ext cx="1371600" cy="38100"/>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154680" y="1325880"/>
            <a:ext cx="5669280" cy="1097280"/>
          </a:xfrm>
          <a:prstGeom prst="rect">
            <a:avLst/>
          </a:prstGeom>
          <a:noFill/>
        </p:spPr>
        <p:txBody>
          <a:bodyPr wrap="square" lIns="0" rIns="0" tIns="0" bIns="0" anchor="t"/>
          <a:lstStyle/>
          <a:p>
            <a:pPr algn="l">
              <a:defRPr sz="2600" b="1" i="0">
                <a:solidFill>
                  <a:srgbClr val="1A1A1A"/>
                </a:solidFill>
                <a:latin typeface="Fidelity Slab"/>
              </a:defRPr>
              <a:lnSpc>
                <a:spcPts val="3400"/>
              </a:lnSpc>
            </a:pPr>
            <a:r>
              <a:t>Build a Home Base, Then Disrupt It</a:t>
            </a:r>
          </a:p>
        </p:txBody>
      </p:sp>
      <p:sp>
        <p:nvSpPr>
          <p:cNvPr id="20" name="Rectangle 19"/>
          <p:cNvSpPr/>
          <p:nvPr/>
        </p:nvSpPr>
        <p:spPr>
          <a:xfrm>
            <a:off x="3154680" y="2514600"/>
            <a:ext cx="1828800" cy="254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154680" y="2743200"/>
            <a:ext cx="5669280" cy="1828800"/>
          </a:xfrm>
          <a:prstGeom prst="rect">
            <a:avLst/>
          </a:prstGeom>
          <a:noFill/>
        </p:spPr>
        <p:txBody>
          <a:bodyPr wrap="square" lIns="0" rIns="0" tIns="0" bIns="0" anchor="t"/>
          <a:lstStyle/>
          <a:p>
            <a:pPr algn="l">
              <a:defRPr sz="1200" b="0" i="0">
                <a:solidFill>
                  <a:srgbClr val="666666"/>
                </a:solidFill>
                <a:latin typeface="Fidelity Sans"/>
              </a:defRPr>
              <a:lnSpc>
                <a:spcPts val="1700"/>
              </a:lnSpc>
            </a:pPr>
            <a:r>
              <a:t>Give your narrative anchor rules, regulars, and rituals. When you need dramatic impact, disrupt those rituals rather than introducing something new.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WHAT THE REVIVAL GOT RIGHT AND WRONG</a:t>
            </a:r>
          </a:p>
        </p:txBody>
      </p:sp>
      <p:sp>
        <p:nvSpPr>
          <p:cNvPr id="4" name="TextBox 3"/>
          <p:cNvSpPr txBox="1"/>
          <p:nvPr/>
        </p:nvSpPr>
        <p:spPr>
          <a:xfrm>
            <a:off x="274320" y="594360"/>
            <a:ext cx="3657600" cy="320040"/>
          </a:xfrm>
          <a:prstGeom prst="rect">
            <a:avLst/>
          </a:prstGeom>
          <a:noFill/>
        </p:spPr>
        <p:txBody>
          <a:bodyPr wrap="square" lIns="0" rIns="0" tIns="0" bIns="0" anchor="t"/>
          <a:lstStyle/>
          <a:p>
            <a:pPr algn="l">
              <a:defRPr sz="900" b="1" i="0">
                <a:solidFill>
                  <a:srgbClr val="044014"/>
                </a:solidFill>
                <a:latin typeface="Fidelity Sans"/>
              </a:defRPr>
            </a:pPr>
            <a:r>
              <a:t>FINDING</a:t>
            </a:r>
          </a:p>
        </p:txBody>
      </p:sp>
      <p:sp>
        <p:nvSpPr>
          <p:cNvPr id="5" name="TextBox 4"/>
          <p:cNvSpPr txBox="1"/>
          <p:nvPr/>
        </p:nvSpPr>
        <p:spPr>
          <a:xfrm>
            <a:off x="4937760" y="594360"/>
            <a:ext cx="3657600" cy="320040"/>
          </a:xfrm>
          <a:prstGeom prst="rect">
            <a:avLst/>
          </a:prstGeom>
          <a:noFill/>
        </p:spPr>
        <p:txBody>
          <a:bodyPr wrap="square" lIns="0" rIns="0" tIns="0" bIns="0" anchor="t"/>
          <a:lstStyle/>
          <a:p>
            <a:pPr algn="l">
              <a:defRPr sz="900" b="1" i="0">
                <a:solidFill>
                  <a:srgbClr val="04547C"/>
                </a:solidFill>
                <a:latin typeface="Fidelity Sans"/>
              </a:defRPr>
            </a:pPr>
            <a:r>
              <a:t>RECOMMENDATION</a:t>
            </a:r>
          </a:p>
        </p:txBody>
      </p:sp>
      <p:sp>
        <p:nvSpPr>
          <p:cNvPr id="6" name="Rectangle 5"/>
          <p:cNvSpPr/>
          <p:nvPr/>
        </p:nvSpPr>
        <p:spPr>
          <a:xfrm>
            <a:off x="274320" y="914400"/>
            <a:ext cx="8595360" cy="127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51560"/>
            <a:ext cx="3931920" cy="77724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51560"/>
            <a:ext cx="45720" cy="77724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51560"/>
            <a:ext cx="3657600" cy="777240"/>
          </a:xfrm>
          <a:prstGeom prst="rect">
            <a:avLst/>
          </a:prstGeom>
          <a:noFill/>
        </p:spPr>
        <p:txBody>
          <a:bodyPr wrap="square" lIns="0" rIns="0" tIns="0" bIns="0" anchor="ctr"/>
          <a:lstStyle/>
          <a:p>
            <a:pPr algn="l">
              <a:defRPr sz="1100" b="0" i="0">
                <a:solidFill>
                  <a:srgbClr val="2D2D2D"/>
                </a:solidFill>
                <a:latin typeface="Fidelity Sans"/>
              </a:defRPr>
              <a:lnSpc>
                <a:spcPts val="1500"/>
              </a:lnSpc>
            </a:pPr>
            <a:r>
              <a:t>The musical episode ran 12 minutes — audiences checked out</a:t>
            </a:r>
          </a:p>
        </p:txBody>
      </p:sp>
      <p:sp>
        <p:nvSpPr>
          <p:cNvPr id="10" name="TextBox 9"/>
          <p:cNvSpPr txBox="1"/>
          <p:nvPr/>
        </p:nvSpPr>
        <p:spPr>
          <a:xfrm>
            <a:off x="4343400" y="1051560"/>
            <a:ext cx="457200" cy="777240"/>
          </a:xfrm>
          <a:prstGeom prst="rect">
            <a:avLst/>
          </a:prstGeom>
          <a:noFill/>
        </p:spPr>
        <p:txBody>
          <a:bodyPr wrap="square" lIns="0" rIns="0" tIns="0" bIns="0" anchor="ctr"/>
          <a:lstStyle/>
          <a:p>
            <a:pPr algn="ctr">
              <a:defRPr sz="1800" b="1" i="0">
                <a:solidFill>
                  <a:srgbClr val="D4A843"/>
                </a:solidFill>
                <a:latin typeface="Fidelity Slab"/>
              </a:defRPr>
            </a:pPr>
            <a:r>
              <a:t>→</a:t>
            </a:r>
          </a:p>
        </p:txBody>
      </p:sp>
      <p:sp>
        <p:nvSpPr>
          <p:cNvPr id="11" name="Rectangle 10"/>
          <p:cNvSpPr/>
          <p:nvPr/>
        </p:nvSpPr>
        <p:spPr>
          <a:xfrm>
            <a:off x="4937760" y="1051560"/>
            <a:ext cx="3931920" cy="777240"/>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937760" y="1051560"/>
            <a:ext cx="45720" cy="77724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0" y="1051560"/>
            <a:ext cx="3657600" cy="777240"/>
          </a:xfrm>
          <a:prstGeom prst="rect">
            <a:avLst/>
          </a:prstGeom>
          <a:noFill/>
        </p:spPr>
        <p:txBody>
          <a:bodyPr wrap="square" lIns="0" rIns="0" tIns="0" bIns="0" anchor="ctr"/>
          <a:lstStyle/>
          <a:p>
            <a:pPr algn="l">
              <a:defRPr sz="1100" b="0" i="0">
                <a:solidFill>
                  <a:srgbClr val="2D2D2D"/>
                </a:solidFill>
                <a:latin typeface="Fidelity Sans"/>
              </a:defRPr>
              <a:lnSpc>
                <a:spcPts val="1500"/>
              </a:lnSpc>
            </a:pPr>
            <a:r>
              <a:t>Self-indulgence has a cost. Cut the bits you love most if they don't serve the story.</a:t>
            </a:r>
          </a:p>
        </p:txBody>
      </p:sp>
      <p:sp>
        <p:nvSpPr>
          <p:cNvPr id="14" name="Rectangle 13"/>
          <p:cNvSpPr/>
          <p:nvPr/>
        </p:nvSpPr>
        <p:spPr>
          <a:xfrm>
            <a:off x="274320" y="1920240"/>
            <a:ext cx="3931920" cy="77724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1920240"/>
            <a:ext cx="45720" cy="77724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1920240"/>
            <a:ext cx="3657600" cy="777240"/>
          </a:xfrm>
          <a:prstGeom prst="rect">
            <a:avLst/>
          </a:prstGeom>
          <a:noFill/>
        </p:spPr>
        <p:txBody>
          <a:bodyPr wrap="square" lIns="0" rIns="0" tIns="0" bIns="0" anchor="ctr"/>
          <a:lstStyle/>
          <a:p>
            <a:pPr algn="l">
              <a:defRPr sz="1100" b="0" i="0">
                <a:solidFill>
                  <a:srgbClr val="2D2D2D"/>
                </a:solidFill>
                <a:latin typeface="Fidelity Sans"/>
              </a:defRPr>
              <a:lnSpc>
                <a:spcPts val="1500"/>
              </a:lnSpc>
            </a:pPr>
            <a:r>
              <a:t>Emily's grief arc was the revival's strongest storyline</a:t>
            </a:r>
          </a:p>
        </p:txBody>
      </p:sp>
      <p:sp>
        <p:nvSpPr>
          <p:cNvPr id="17" name="TextBox 16"/>
          <p:cNvSpPr txBox="1"/>
          <p:nvPr/>
        </p:nvSpPr>
        <p:spPr>
          <a:xfrm>
            <a:off x="4343400" y="1920240"/>
            <a:ext cx="457200" cy="777240"/>
          </a:xfrm>
          <a:prstGeom prst="rect">
            <a:avLst/>
          </a:prstGeom>
          <a:noFill/>
        </p:spPr>
        <p:txBody>
          <a:bodyPr wrap="square" lIns="0" rIns="0" tIns="0" bIns="0" anchor="ctr"/>
          <a:lstStyle/>
          <a:p>
            <a:pPr algn="ctr">
              <a:defRPr sz="1800" b="1" i="0">
                <a:solidFill>
                  <a:srgbClr val="D4A843"/>
                </a:solidFill>
                <a:latin typeface="Fidelity Slab"/>
              </a:defRPr>
            </a:pPr>
            <a:r>
              <a:t>→</a:t>
            </a:r>
          </a:p>
        </p:txBody>
      </p:sp>
      <p:sp>
        <p:nvSpPr>
          <p:cNvPr id="18" name="Rectangle 17"/>
          <p:cNvSpPr/>
          <p:nvPr/>
        </p:nvSpPr>
        <p:spPr>
          <a:xfrm>
            <a:off x="4937760" y="1920240"/>
            <a:ext cx="3931920" cy="777240"/>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37760" y="1920240"/>
            <a:ext cx="45720" cy="77724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1920240"/>
            <a:ext cx="3657600" cy="777240"/>
          </a:xfrm>
          <a:prstGeom prst="rect">
            <a:avLst/>
          </a:prstGeom>
          <a:noFill/>
        </p:spPr>
        <p:txBody>
          <a:bodyPr wrap="square" lIns="0" rIns="0" tIns="0" bIns="0" anchor="ctr"/>
          <a:lstStyle/>
          <a:p>
            <a:pPr algn="l">
              <a:defRPr sz="1100" b="0" i="0">
                <a:solidFill>
                  <a:srgbClr val="2D2D2D"/>
                </a:solidFill>
                <a:latin typeface="Fidelity Sans"/>
              </a:defRPr>
              <a:lnSpc>
                <a:spcPts val="1500"/>
              </a:lnSpc>
            </a:pPr>
            <a:r>
              <a:t>Characters with the most to lose create the most compelling arcs.</a:t>
            </a:r>
          </a:p>
        </p:txBody>
      </p:sp>
      <p:sp>
        <p:nvSpPr>
          <p:cNvPr id="21" name="Rectangle 20"/>
          <p:cNvSpPr/>
          <p:nvPr/>
        </p:nvSpPr>
        <p:spPr>
          <a:xfrm>
            <a:off x="274320" y="2788920"/>
            <a:ext cx="3931920" cy="77724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4320" y="2788920"/>
            <a:ext cx="45720" cy="77724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2788920"/>
            <a:ext cx="3657600" cy="777240"/>
          </a:xfrm>
          <a:prstGeom prst="rect">
            <a:avLst/>
          </a:prstGeom>
          <a:noFill/>
        </p:spPr>
        <p:txBody>
          <a:bodyPr wrap="square" lIns="0" rIns="0" tIns="0" bIns="0" anchor="ctr"/>
          <a:lstStyle/>
          <a:p>
            <a:pPr algn="l">
              <a:defRPr sz="1100" b="0" i="0">
                <a:solidFill>
                  <a:srgbClr val="2D2D2D"/>
                </a:solidFill>
                <a:latin typeface="Fidelity Sans"/>
              </a:defRPr>
              <a:lnSpc>
                <a:spcPts val="1500"/>
              </a:lnSpc>
            </a:pPr>
            <a:r>
              <a:t>Rory's career stagnation felt unearned after 7 seasons of promise</a:t>
            </a:r>
          </a:p>
        </p:txBody>
      </p:sp>
      <p:sp>
        <p:nvSpPr>
          <p:cNvPr id="24" name="TextBox 23"/>
          <p:cNvSpPr txBox="1"/>
          <p:nvPr/>
        </p:nvSpPr>
        <p:spPr>
          <a:xfrm>
            <a:off x="4343400" y="2788920"/>
            <a:ext cx="457200" cy="777240"/>
          </a:xfrm>
          <a:prstGeom prst="rect">
            <a:avLst/>
          </a:prstGeom>
          <a:noFill/>
        </p:spPr>
        <p:txBody>
          <a:bodyPr wrap="square" lIns="0" rIns="0" tIns="0" bIns="0" anchor="ctr"/>
          <a:lstStyle/>
          <a:p>
            <a:pPr algn="ctr">
              <a:defRPr sz="1800" b="1" i="0">
                <a:solidFill>
                  <a:srgbClr val="D4A843"/>
                </a:solidFill>
                <a:latin typeface="Fidelity Slab"/>
              </a:defRPr>
            </a:pPr>
            <a:r>
              <a:t>→</a:t>
            </a:r>
          </a:p>
        </p:txBody>
      </p:sp>
      <p:sp>
        <p:nvSpPr>
          <p:cNvPr id="25" name="Rectangle 24"/>
          <p:cNvSpPr/>
          <p:nvPr/>
        </p:nvSpPr>
        <p:spPr>
          <a:xfrm>
            <a:off x="4937760" y="2788920"/>
            <a:ext cx="3931920" cy="777240"/>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937760" y="2788920"/>
            <a:ext cx="45720" cy="77724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0" y="2788920"/>
            <a:ext cx="3657600" cy="777240"/>
          </a:xfrm>
          <a:prstGeom prst="rect">
            <a:avLst/>
          </a:prstGeom>
          <a:noFill/>
        </p:spPr>
        <p:txBody>
          <a:bodyPr wrap="square" lIns="0" rIns="0" tIns="0" bIns="0" anchor="ctr"/>
          <a:lstStyle/>
          <a:p>
            <a:pPr algn="l">
              <a:defRPr sz="1100" b="0" i="0">
                <a:solidFill>
                  <a:srgbClr val="2D2D2D"/>
                </a:solidFill>
                <a:latin typeface="Fidelity Sans"/>
              </a:defRPr>
              <a:lnSpc>
                <a:spcPts val="1500"/>
              </a:lnSpc>
            </a:pPr>
            <a:r>
              <a:t>Subverting expectations only works if the new direction is as interesting as the old one.</a:t>
            </a:r>
          </a:p>
        </p:txBody>
      </p:sp>
      <p:sp>
        <p:nvSpPr>
          <p:cNvPr id="28" name="Rectangle 27"/>
          <p:cNvSpPr/>
          <p:nvPr/>
        </p:nvSpPr>
        <p:spPr>
          <a:xfrm>
            <a:off x="274320" y="3657600"/>
            <a:ext cx="8595360" cy="127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GILMORE GIRLS: A NARRATIVE TIMELINE</a:t>
            </a:r>
          </a:p>
        </p:txBody>
      </p:sp>
      <p:sp>
        <p:nvSpPr>
          <p:cNvPr id="4" name="Rectangle 3"/>
          <p:cNvSpPr/>
          <p:nvPr/>
        </p:nvSpPr>
        <p:spPr>
          <a:xfrm>
            <a:off x="548640" y="2560320"/>
            <a:ext cx="8046720" cy="32004"/>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48056" y="2475280"/>
            <a:ext cx="201168" cy="20116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 y="502920"/>
            <a:ext cx="1005840" cy="274320"/>
          </a:xfrm>
          <a:prstGeom prst="rect">
            <a:avLst/>
          </a:prstGeom>
          <a:noFill/>
        </p:spPr>
        <p:txBody>
          <a:bodyPr wrap="square" lIns="0" rIns="0" tIns="0" bIns="0" anchor="t"/>
          <a:lstStyle/>
          <a:p>
            <a:pPr algn="ctr">
              <a:defRPr sz="900" b="1" i="0">
                <a:solidFill>
                  <a:srgbClr val="044014"/>
                </a:solidFill>
                <a:latin typeface="Fidelity Sans"/>
              </a:defRPr>
            </a:pPr>
            <a:r>
              <a:t>Oct 2000</a:t>
            </a:r>
          </a:p>
        </p:txBody>
      </p:sp>
      <p:sp>
        <p:nvSpPr>
          <p:cNvPr id="7" name="TextBox 6"/>
          <p:cNvSpPr txBox="1"/>
          <p:nvPr/>
        </p:nvSpPr>
        <p:spPr>
          <a:xfrm>
            <a:off x="45720" y="777240"/>
            <a:ext cx="1005840" cy="640080"/>
          </a:xfrm>
          <a:prstGeom prst="rect">
            <a:avLst/>
          </a:prstGeom>
          <a:noFill/>
        </p:spPr>
        <p:txBody>
          <a:bodyPr wrap="square" lIns="0" rIns="0" tIns="0" bIns="0" anchor="b"/>
          <a:lstStyle/>
          <a:p>
            <a:pPr algn="ctr">
              <a:defRPr sz="1100" b="1" i="0">
                <a:solidFill>
                  <a:srgbClr val="2D2D2D"/>
                </a:solidFill>
                <a:latin typeface="Fidelity Slab"/>
              </a:defRPr>
              <a:lnSpc>
                <a:spcPts val="1400"/>
              </a:lnSpc>
            </a:pPr>
            <a:r>
              <a:t>Pilot Airs</a:t>
            </a:r>
          </a:p>
        </p:txBody>
      </p:sp>
      <p:sp>
        <p:nvSpPr>
          <p:cNvPr id="8" name="Rectangle 7"/>
          <p:cNvSpPr/>
          <p:nvPr/>
        </p:nvSpPr>
        <p:spPr>
          <a:xfrm>
            <a:off x="539496" y="1463040"/>
            <a:ext cx="18288" cy="107899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 y="1463040"/>
            <a:ext cx="1005840" cy="457200"/>
          </a:xfrm>
          <a:prstGeom prst="rect">
            <a:avLst/>
          </a:prstGeom>
          <a:noFill/>
        </p:spPr>
        <p:txBody>
          <a:bodyPr wrap="square" lIns="0" rIns="0" tIns="0" bIns="0" anchor="t"/>
          <a:lstStyle/>
          <a:p>
            <a:pPr algn="ctr">
              <a:defRPr sz="700" b="0" i="0">
                <a:solidFill>
                  <a:srgbClr val="999999"/>
                </a:solidFill>
                <a:latin typeface="Fidelity Sans"/>
              </a:defRPr>
              <a:lnSpc>
                <a:spcPts val="900"/>
              </a:lnSpc>
            </a:pPr>
            <a:r>
              <a:t>WB debut; establishes the Friday dinner structure in 44 minutes</a:t>
            </a:r>
          </a:p>
        </p:txBody>
      </p:sp>
      <p:sp>
        <p:nvSpPr>
          <p:cNvPr id="10" name="Oval 9"/>
          <p:cNvSpPr/>
          <p:nvPr/>
        </p:nvSpPr>
        <p:spPr>
          <a:xfrm>
            <a:off x="2057400" y="2475280"/>
            <a:ext cx="201168" cy="20116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148840" y="2615184"/>
            <a:ext cx="18288" cy="25603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55064" y="2880360"/>
            <a:ext cx="1005840" cy="640080"/>
          </a:xfrm>
          <a:prstGeom prst="rect">
            <a:avLst/>
          </a:prstGeom>
          <a:noFill/>
        </p:spPr>
        <p:txBody>
          <a:bodyPr wrap="square" lIns="0" rIns="0" tIns="0" bIns="0" anchor="t"/>
          <a:lstStyle/>
          <a:p>
            <a:pPr algn="ctr">
              <a:defRPr sz="1100" b="1" i="0">
                <a:solidFill>
                  <a:srgbClr val="2D2D2D"/>
                </a:solidFill>
                <a:latin typeface="Fidelity Slab"/>
              </a:defRPr>
              <a:lnSpc>
                <a:spcPts val="1400"/>
              </a:lnSpc>
            </a:pPr>
            <a:r>
              <a:t>Jess Arrives</a:t>
            </a:r>
          </a:p>
        </p:txBody>
      </p:sp>
      <p:sp>
        <p:nvSpPr>
          <p:cNvPr id="13" name="TextBox 12"/>
          <p:cNvSpPr txBox="1"/>
          <p:nvPr/>
        </p:nvSpPr>
        <p:spPr>
          <a:xfrm>
            <a:off x="1655064" y="3520440"/>
            <a:ext cx="1005840" cy="274320"/>
          </a:xfrm>
          <a:prstGeom prst="rect">
            <a:avLst/>
          </a:prstGeom>
          <a:noFill/>
        </p:spPr>
        <p:txBody>
          <a:bodyPr wrap="square" lIns="0" rIns="0" tIns="0" bIns="0" anchor="t"/>
          <a:lstStyle/>
          <a:p>
            <a:pPr algn="ctr">
              <a:defRPr sz="900" b="1" i="0">
                <a:solidFill>
                  <a:srgbClr val="044014"/>
                </a:solidFill>
                <a:latin typeface="Fidelity Sans"/>
              </a:defRPr>
            </a:pPr>
            <a:r>
              <a:t>2001</a:t>
            </a:r>
          </a:p>
        </p:txBody>
      </p:sp>
      <p:sp>
        <p:nvSpPr>
          <p:cNvPr id="14" name="TextBox 13"/>
          <p:cNvSpPr txBox="1"/>
          <p:nvPr/>
        </p:nvSpPr>
        <p:spPr>
          <a:xfrm>
            <a:off x="1655064" y="3794760"/>
            <a:ext cx="1005840" cy="457200"/>
          </a:xfrm>
          <a:prstGeom prst="rect">
            <a:avLst/>
          </a:prstGeom>
          <a:noFill/>
        </p:spPr>
        <p:txBody>
          <a:bodyPr wrap="square" lIns="0" rIns="0" tIns="0" bIns="0" anchor="t"/>
          <a:lstStyle/>
          <a:p>
            <a:pPr algn="ctr">
              <a:defRPr sz="700" b="0" i="0">
                <a:solidFill>
                  <a:srgbClr val="999999"/>
                </a:solidFill>
                <a:latin typeface="Fidelity Sans"/>
              </a:defRPr>
              <a:lnSpc>
                <a:spcPts val="900"/>
              </a:lnSpc>
            </a:pPr>
            <a:r>
              <a:t>The first true narrative disruptor</a:t>
            </a:r>
          </a:p>
        </p:txBody>
      </p:sp>
      <p:sp>
        <p:nvSpPr>
          <p:cNvPr id="15" name="Oval 14"/>
          <p:cNvSpPr/>
          <p:nvPr/>
        </p:nvSpPr>
        <p:spPr>
          <a:xfrm>
            <a:off x="3666744" y="2475280"/>
            <a:ext cx="201168" cy="20116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64408" y="502920"/>
            <a:ext cx="1005840" cy="274320"/>
          </a:xfrm>
          <a:prstGeom prst="rect">
            <a:avLst/>
          </a:prstGeom>
          <a:noFill/>
        </p:spPr>
        <p:txBody>
          <a:bodyPr wrap="square" lIns="0" rIns="0" tIns="0" bIns="0" anchor="t"/>
          <a:lstStyle/>
          <a:p>
            <a:pPr algn="ctr">
              <a:defRPr sz="900" b="1" i="0">
                <a:solidFill>
                  <a:srgbClr val="044014"/>
                </a:solidFill>
                <a:latin typeface="Fidelity Sans"/>
              </a:defRPr>
            </a:pPr>
            <a:r>
              <a:t>2003</a:t>
            </a:r>
          </a:p>
        </p:txBody>
      </p:sp>
      <p:sp>
        <p:nvSpPr>
          <p:cNvPr id="17" name="TextBox 16"/>
          <p:cNvSpPr txBox="1"/>
          <p:nvPr/>
        </p:nvSpPr>
        <p:spPr>
          <a:xfrm>
            <a:off x="3264408" y="777240"/>
            <a:ext cx="1005840" cy="640080"/>
          </a:xfrm>
          <a:prstGeom prst="rect">
            <a:avLst/>
          </a:prstGeom>
          <a:noFill/>
        </p:spPr>
        <p:txBody>
          <a:bodyPr wrap="square" lIns="0" rIns="0" tIns="0" bIns="0" anchor="b"/>
          <a:lstStyle/>
          <a:p>
            <a:pPr algn="ctr">
              <a:defRPr sz="1100" b="1" i="0">
                <a:solidFill>
                  <a:srgbClr val="2D2D2D"/>
                </a:solidFill>
                <a:latin typeface="Fidelity Slab"/>
              </a:defRPr>
              <a:lnSpc>
                <a:spcPts val="1400"/>
              </a:lnSpc>
            </a:pPr>
            <a:r>
              <a:t>Rory Enters Yale</a:t>
            </a:r>
          </a:p>
        </p:txBody>
      </p:sp>
      <p:sp>
        <p:nvSpPr>
          <p:cNvPr id="18" name="Rectangle 17"/>
          <p:cNvSpPr/>
          <p:nvPr/>
        </p:nvSpPr>
        <p:spPr>
          <a:xfrm>
            <a:off x="3758184" y="1463040"/>
            <a:ext cx="18288" cy="107899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64408" y="1463040"/>
            <a:ext cx="1005840" cy="457200"/>
          </a:xfrm>
          <a:prstGeom prst="rect">
            <a:avLst/>
          </a:prstGeom>
          <a:noFill/>
        </p:spPr>
        <p:txBody>
          <a:bodyPr wrap="square" lIns="0" rIns="0" tIns="0" bIns="0" anchor="t"/>
          <a:lstStyle/>
          <a:p>
            <a:pPr algn="ctr">
              <a:defRPr sz="700" b="0" i="0">
                <a:solidFill>
                  <a:srgbClr val="999999"/>
                </a:solidFill>
                <a:latin typeface="Fidelity Sans"/>
              </a:defRPr>
              <a:lnSpc>
                <a:spcPts val="900"/>
              </a:lnSpc>
            </a:pPr>
            <a:r>
              <a:t>Setting shift tests the show's voice</a:t>
            </a:r>
          </a:p>
        </p:txBody>
      </p:sp>
      <p:sp>
        <p:nvSpPr>
          <p:cNvPr id="20" name="Oval 19"/>
          <p:cNvSpPr/>
          <p:nvPr/>
        </p:nvSpPr>
        <p:spPr>
          <a:xfrm>
            <a:off x="5276088" y="2475280"/>
            <a:ext cx="201168" cy="20116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67528" y="2615184"/>
            <a:ext cx="18288" cy="25603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73752" y="2880360"/>
            <a:ext cx="1005840" cy="640080"/>
          </a:xfrm>
          <a:prstGeom prst="rect">
            <a:avLst/>
          </a:prstGeom>
          <a:noFill/>
        </p:spPr>
        <p:txBody>
          <a:bodyPr wrap="square" lIns="0" rIns="0" tIns="0" bIns="0" anchor="t"/>
          <a:lstStyle/>
          <a:p>
            <a:pPr algn="ctr">
              <a:defRPr sz="1100" b="1" i="0">
                <a:solidFill>
                  <a:srgbClr val="2D2D2D"/>
                </a:solidFill>
                <a:latin typeface="Fidelity Slab"/>
              </a:defRPr>
              <a:lnSpc>
                <a:spcPts val="1400"/>
              </a:lnSpc>
            </a:pPr>
            <a:r>
              <a:t>Rory Drops Out</a:t>
            </a:r>
          </a:p>
        </p:txBody>
      </p:sp>
      <p:sp>
        <p:nvSpPr>
          <p:cNvPr id="23" name="TextBox 22"/>
          <p:cNvSpPr txBox="1"/>
          <p:nvPr/>
        </p:nvSpPr>
        <p:spPr>
          <a:xfrm>
            <a:off x="4873752" y="3520440"/>
            <a:ext cx="1005840" cy="274320"/>
          </a:xfrm>
          <a:prstGeom prst="rect">
            <a:avLst/>
          </a:prstGeom>
          <a:noFill/>
        </p:spPr>
        <p:txBody>
          <a:bodyPr wrap="square" lIns="0" rIns="0" tIns="0" bIns="0" anchor="t"/>
          <a:lstStyle/>
          <a:p>
            <a:pPr algn="ctr">
              <a:defRPr sz="900" b="1" i="0">
                <a:solidFill>
                  <a:srgbClr val="044014"/>
                </a:solidFill>
                <a:latin typeface="Fidelity Sans"/>
              </a:defRPr>
            </a:pPr>
            <a:r>
              <a:t>2005</a:t>
            </a:r>
          </a:p>
        </p:txBody>
      </p:sp>
      <p:sp>
        <p:nvSpPr>
          <p:cNvPr id="24" name="TextBox 23"/>
          <p:cNvSpPr txBox="1"/>
          <p:nvPr/>
        </p:nvSpPr>
        <p:spPr>
          <a:xfrm>
            <a:off x="4873752" y="3794760"/>
            <a:ext cx="1005840" cy="457200"/>
          </a:xfrm>
          <a:prstGeom prst="rect">
            <a:avLst/>
          </a:prstGeom>
          <a:noFill/>
        </p:spPr>
        <p:txBody>
          <a:bodyPr wrap="square" lIns="0" rIns="0" tIns="0" bIns="0" anchor="t"/>
          <a:lstStyle/>
          <a:p>
            <a:pPr algn="ctr">
              <a:defRPr sz="700" b="0" i="0">
                <a:solidFill>
                  <a:srgbClr val="999999"/>
                </a:solidFill>
                <a:latin typeface="Fidelity Sans"/>
              </a:defRPr>
              <a:lnSpc>
                <a:spcPts val="900"/>
              </a:lnSpc>
            </a:pPr>
            <a:r>
              <a:t>The most divisive arc</a:t>
            </a:r>
          </a:p>
        </p:txBody>
      </p:sp>
      <p:sp>
        <p:nvSpPr>
          <p:cNvPr id="25" name="Oval 24"/>
          <p:cNvSpPr/>
          <p:nvPr/>
        </p:nvSpPr>
        <p:spPr>
          <a:xfrm>
            <a:off x="6885432" y="2475280"/>
            <a:ext cx="201168" cy="201168"/>
          </a:xfrm>
          <a:prstGeom prst="ellipse">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83096" y="502920"/>
            <a:ext cx="1005840" cy="274320"/>
          </a:xfrm>
          <a:prstGeom prst="rect">
            <a:avLst/>
          </a:prstGeom>
          <a:noFill/>
        </p:spPr>
        <p:txBody>
          <a:bodyPr wrap="square" lIns="0" rIns="0" tIns="0" bIns="0" anchor="t"/>
          <a:lstStyle/>
          <a:p>
            <a:pPr algn="ctr">
              <a:defRPr sz="900" b="1" i="0">
                <a:solidFill>
                  <a:srgbClr val="044014"/>
                </a:solidFill>
                <a:latin typeface="Fidelity Sans"/>
              </a:defRPr>
            </a:pPr>
            <a:r>
              <a:t>2006</a:t>
            </a:r>
          </a:p>
        </p:txBody>
      </p:sp>
      <p:sp>
        <p:nvSpPr>
          <p:cNvPr id="27" name="TextBox 26"/>
          <p:cNvSpPr txBox="1"/>
          <p:nvPr/>
        </p:nvSpPr>
        <p:spPr>
          <a:xfrm>
            <a:off x="6483096" y="777240"/>
            <a:ext cx="1005840" cy="640080"/>
          </a:xfrm>
          <a:prstGeom prst="rect">
            <a:avLst/>
          </a:prstGeom>
          <a:noFill/>
        </p:spPr>
        <p:txBody>
          <a:bodyPr wrap="square" lIns="0" rIns="0" tIns="0" bIns="0" anchor="b"/>
          <a:lstStyle/>
          <a:p>
            <a:pPr algn="ctr">
              <a:defRPr sz="1100" b="1" i="0">
                <a:solidFill>
                  <a:srgbClr val="2D2D2D"/>
                </a:solidFill>
                <a:latin typeface="Fidelity Slab"/>
              </a:defRPr>
              <a:lnSpc>
                <a:spcPts val="1400"/>
              </a:lnSpc>
            </a:pPr>
            <a:r>
              <a:t>ASP Departs</a:t>
            </a:r>
          </a:p>
        </p:txBody>
      </p:sp>
      <p:sp>
        <p:nvSpPr>
          <p:cNvPr id="28" name="Rectangle 27"/>
          <p:cNvSpPr/>
          <p:nvPr/>
        </p:nvSpPr>
        <p:spPr>
          <a:xfrm>
            <a:off x="6976872" y="1463040"/>
            <a:ext cx="18288" cy="1078992"/>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83096" y="1463040"/>
            <a:ext cx="1005840" cy="457200"/>
          </a:xfrm>
          <a:prstGeom prst="rect">
            <a:avLst/>
          </a:prstGeom>
          <a:noFill/>
        </p:spPr>
        <p:txBody>
          <a:bodyPr wrap="square" lIns="0" rIns="0" tIns="0" bIns="0" anchor="t"/>
          <a:lstStyle/>
          <a:p>
            <a:pPr algn="ctr">
              <a:defRPr sz="700" b="0" i="0">
                <a:solidFill>
                  <a:srgbClr val="999999"/>
                </a:solidFill>
                <a:latin typeface="Fidelity Sans"/>
              </a:defRPr>
              <a:lnSpc>
                <a:spcPts val="900"/>
              </a:lnSpc>
            </a:pPr>
            <a:r>
              <a:t>Sherman-Palladino leaves after S6</a:t>
            </a:r>
          </a:p>
        </p:txBody>
      </p:sp>
      <p:sp>
        <p:nvSpPr>
          <p:cNvPr id="30" name="Oval 29"/>
          <p:cNvSpPr/>
          <p:nvPr/>
        </p:nvSpPr>
        <p:spPr>
          <a:xfrm>
            <a:off x="8494776" y="2475280"/>
            <a:ext cx="201168" cy="201168"/>
          </a:xfrm>
          <a:prstGeom prst="ellipse">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86216" y="2615184"/>
            <a:ext cx="18288" cy="256032"/>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92440" y="2880360"/>
            <a:ext cx="1005840" cy="640080"/>
          </a:xfrm>
          <a:prstGeom prst="rect">
            <a:avLst/>
          </a:prstGeom>
          <a:noFill/>
        </p:spPr>
        <p:txBody>
          <a:bodyPr wrap="square" lIns="0" rIns="0" tIns="0" bIns="0" anchor="t"/>
          <a:lstStyle/>
          <a:p>
            <a:pPr algn="ctr">
              <a:defRPr sz="1100" b="1" i="0">
                <a:solidFill>
                  <a:srgbClr val="2D2D2D"/>
                </a:solidFill>
                <a:latin typeface="Fidelity Slab"/>
              </a:defRPr>
              <a:lnSpc>
                <a:spcPts val="1400"/>
              </a:lnSpc>
            </a:pPr>
            <a:r>
              <a:t>Revival Airs</a:t>
            </a:r>
          </a:p>
        </p:txBody>
      </p:sp>
      <p:sp>
        <p:nvSpPr>
          <p:cNvPr id="33" name="TextBox 32"/>
          <p:cNvSpPr txBox="1"/>
          <p:nvPr/>
        </p:nvSpPr>
        <p:spPr>
          <a:xfrm>
            <a:off x="8092440" y="3520440"/>
            <a:ext cx="1005840" cy="274320"/>
          </a:xfrm>
          <a:prstGeom prst="rect">
            <a:avLst/>
          </a:prstGeom>
          <a:noFill/>
        </p:spPr>
        <p:txBody>
          <a:bodyPr wrap="square" lIns="0" rIns="0" tIns="0" bIns="0" anchor="t"/>
          <a:lstStyle/>
          <a:p>
            <a:pPr algn="ctr">
              <a:defRPr sz="900" b="1" i="0">
                <a:solidFill>
                  <a:srgbClr val="D4A843"/>
                </a:solidFill>
                <a:latin typeface="Fidelity Sans"/>
              </a:defRPr>
            </a:pPr>
            <a:r>
              <a:t>2016</a:t>
            </a:r>
          </a:p>
        </p:txBody>
      </p:sp>
      <p:sp>
        <p:nvSpPr>
          <p:cNvPr id="34" name="TextBox 33"/>
          <p:cNvSpPr txBox="1"/>
          <p:nvPr/>
        </p:nvSpPr>
        <p:spPr>
          <a:xfrm>
            <a:off x="8092440" y="3794760"/>
            <a:ext cx="1005840" cy="457200"/>
          </a:xfrm>
          <a:prstGeom prst="rect">
            <a:avLst/>
          </a:prstGeom>
          <a:noFill/>
        </p:spPr>
        <p:txBody>
          <a:bodyPr wrap="square" lIns="0" rIns="0" tIns="0" bIns="0" anchor="t"/>
          <a:lstStyle/>
          <a:p>
            <a:pPr algn="ctr">
              <a:defRPr sz="700" b="0" i="0">
                <a:solidFill>
                  <a:srgbClr val="999999"/>
                </a:solidFill>
                <a:latin typeface="Fidelity Sans"/>
              </a:defRPr>
              <a:lnSpc>
                <a:spcPts val="900"/>
              </a:lnSpc>
            </a:pPr>
            <a:r>
              <a:t>The final four words delivered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800" b="1" i="0">
                <a:solidFill>
                  <a:srgbClr val="999999"/>
                </a:solidFill>
                <a:latin typeface="Fidelity Sans"/>
              </a:defRPr>
            </a:pPr>
            <a:r>
              <a:t>CHARACTER AS STORYTELLING DEVICE</a:t>
            </a:r>
          </a:p>
        </p:txBody>
      </p:sp>
      <p:sp>
        <p:nvSpPr>
          <p:cNvPr id="4" name="Rectangle 3"/>
          <p:cNvSpPr/>
          <p:nvPr/>
        </p:nvSpPr>
        <p:spPr>
          <a:xfrm>
            <a:off x="274320" y="640080"/>
            <a:ext cx="2926080" cy="420624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640080"/>
            <a:ext cx="2926080" cy="457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822960"/>
            <a:ext cx="1188720" cy="1188720"/>
          </a:xfrm>
          <a:prstGeom prst="rect">
            <a:avLst/>
          </a:prstGeom>
          <a:solidFill>
            <a:srgbClr val="2A5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822960"/>
            <a:ext cx="1188720" cy="1188720"/>
          </a:xfrm>
          <a:prstGeom prst="rect">
            <a:avLst/>
          </a:prstGeom>
          <a:noFill/>
        </p:spPr>
        <p:txBody>
          <a:bodyPr wrap="square" lIns="0" rIns="0" tIns="0" bIns="0" anchor="ctr"/>
          <a:lstStyle/>
          <a:p>
            <a:pPr algn="ctr">
              <a:defRPr sz="1100" b="1" i="0">
                <a:solidFill>
                  <a:srgbClr val="3A6A3A"/>
                </a:solidFill>
                <a:latin typeface="Fidelity Sans"/>
              </a:defRPr>
            </a:pPr>
            <a:r>
              <a:t>IMG</a:t>
            </a:r>
          </a:p>
        </p:txBody>
      </p:sp>
      <p:sp>
        <p:nvSpPr>
          <p:cNvPr id="8" name="TextBox 7"/>
          <p:cNvSpPr txBox="1"/>
          <p:nvPr/>
        </p:nvSpPr>
        <p:spPr>
          <a:xfrm>
            <a:off x="457200" y="2148840"/>
            <a:ext cx="2560320" cy="457200"/>
          </a:xfrm>
          <a:prstGeom prst="rect">
            <a:avLst/>
          </a:prstGeom>
          <a:noFill/>
        </p:spPr>
        <p:txBody>
          <a:bodyPr wrap="square" lIns="0" rIns="0" tIns="0" bIns="0" anchor="t"/>
          <a:lstStyle/>
          <a:p>
            <a:pPr algn="l">
              <a:defRPr sz="2000" b="1" i="0">
                <a:solidFill>
                  <a:srgbClr val="FFFFFF"/>
                </a:solidFill>
                <a:latin typeface="Fidelity Slab"/>
              </a:defRPr>
              <a:lnSpc>
                <a:spcPts val="2500"/>
              </a:lnSpc>
            </a:pPr>
            <a:r>
              <a:t>Emily Gilmore</a:t>
            </a:r>
          </a:p>
        </p:txBody>
      </p:sp>
      <p:sp>
        <p:nvSpPr>
          <p:cNvPr id="9" name="TextBox 8"/>
          <p:cNvSpPr txBox="1"/>
          <p:nvPr/>
        </p:nvSpPr>
        <p:spPr>
          <a:xfrm>
            <a:off x="457200" y="2606040"/>
            <a:ext cx="2560320" cy="320040"/>
          </a:xfrm>
          <a:prstGeom prst="rect">
            <a:avLst/>
          </a:prstGeom>
          <a:noFill/>
        </p:spPr>
        <p:txBody>
          <a:bodyPr wrap="square" lIns="0" rIns="0" tIns="0" bIns="0" anchor="t"/>
          <a:lstStyle/>
          <a:p>
            <a:pPr algn="l">
              <a:defRPr sz="1200" b="0" i="1">
                <a:solidFill>
                  <a:srgbClr val="D4A843"/>
                </a:solidFill>
                <a:latin typeface="Fidelity Sans"/>
              </a:defRPr>
            </a:pPr>
            <a:r>
              <a:t>The Antagonist Who's Right</a:t>
            </a:r>
          </a:p>
        </p:txBody>
      </p:sp>
      <p:sp>
        <p:nvSpPr>
          <p:cNvPr id="10" name="Rectangle 9"/>
          <p:cNvSpPr/>
          <p:nvPr/>
        </p:nvSpPr>
        <p:spPr>
          <a:xfrm>
            <a:off x="457200" y="3063240"/>
            <a:ext cx="914400" cy="127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246120"/>
            <a:ext cx="2560320" cy="256032"/>
          </a:xfrm>
          <a:prstGeom prst="rect">
            <a:avLst/>
          </a:prstGeom>
          <a:noFill/>
        </p:spPr>
        <p:txBody>
          <a:bodyPr wrap="square" lIns="0" rIns="0" tIns="0" bIns="0" anchor="t"/>
          <a:lstStyle/>
          <a:p>
            <a:pPr algn="l">
              <a:defRPr sz="1000" b="0" i="0">
                <a:solidFill>
                  <a:srgbClr val="E8E0CC"/>
                </a:solidFill>
                <a:latin typeface="Fidelity Sans"/>
              </a:defRPr>
              <a:lnSpc>
                <a:spcPts val="1300"/>
              </a:lnSpc>
            </a:pPr>
            <a:r>
              <a:t>•  Exacting standards</a:t>
            </a:r>
          </a:p>
        </p:txBody>
      </p:sp>
      <p:sp>
        <p:nvSpPr>
          <p:cNvPr id="12" name="TextBox 11"/>
          <p:cNvSpPr txBox="1"/>
          <p:nvPr/>
        </p:nvSpPr>
        <p:spPr>
          <a:xfrm>
            <a:off x="457200" y="3538728"/>
            <a:ext cx="2560320" cy="256032"/>
          </a:xfrm>
          <a:prstGeom prst="rect">
            <a:avLst/>
          </a:prstGeom>
          <a:noFill/>
        </p:spPr>
        <p:txBody>
          <a:bodyPr wrap="square" lIns="0" rIns="0" tIns="0" bIns="0" anchor="t"/>
          <a:lstStyle/>
          <a:p>
            <a:pPr algn="l">
              <a:defRPr sz="1000" b="0" i="0">
                <a:solidFill>
                  <a:srgbClr val="E8E0CC"/>
                </a:solidFill>
                <a:latin typeface="Fidelity Sans"/>
              </a:defRPr>
              <a:lnSpc>
                <a:spcPts val="1300"/>
              </a:lnSpc>
            </a:pPr>
            <a:r>
              <a:t>•  Weaponized etiquette</a:t>
            </a:r>
          </a:p>
        </p:txBody>
      </p:sp>
      <p:sp>
        <p:nvSpPr>
          <p:cNvPr id="13" name="TextBox 12"/>
          <p:cNvSpPr txBox="1"/>
          <p:nvPr/>
        </p:nvSpPr>
        <p:spPr>
          <a:xfrm>
            <a:off x="457200" y="3831336"/>
            <a:ext cx="2560320" cy="256032"/>
          </a:xfrm>
          <a:prstGeom prst="rect">
            <a:avLst/>
          </a:prstGeom>
          <a:noFill/>
        </p:spPr>
        <p:txBody>
          <a:bodyPr wrap="square" lIns="0" rIns="0" tIns="0" bIns="0" anchor="t"/>
          <a:lstStyle/>
          <a:p>
            <a:pPr algn="l">
              <a:defRPr sz="1000" b="0" i="0">
                <a:solidFill>
                  <a:srgbClr val="E8E0CC"/>
                </a:solidFill>
                <a:latin typeface="Fidelity Sans"/>
              </a:defRPr>
              <a:lnSpc>
                <a:spcPts val="1300"/>
              </a:lnSpc>
            </a:pPr>
            <a:r>
              <a:t>•  Fierce loyalty masked as control</a:t>
            </a:r>
          </a:p>
        </p:txBody>
      </p:sp>
      <p:sp>
        <p:nvSpPr>
          <p:cNvPr id="14" name="TextBox 13"/>
          <p:cNvSpPr txBox="1"/>
          <p:nvPr/>
        </p:nvSpPr>
        <p:spPr>
          <a:xfrm>
            <a:off x="457200" y="4123944"/>
            <a:ext cx="2560320" cy="256032"/>
          </a:xfrm>
          <a:prstGeom prst="rect">
            <a:avLst/>
          </a:prstGeom>
          <a:noFill/>
        </p:spPr>
        <p:txBody>
          <a:bodyPr wrap="square" lIns="0" rIns="0" tIns="0" bIns="0" anchor="t"/>
          <a:lstStyle/>
          <a:p>
            <a:pPr algn="l">
              <a:defRPr sz="1000" b="0" i="0">
                <a:solidFill>
                  <a:srgbClr val="E8E0CC"/>
                </a:solidFill>
                <a:latin typeface="Fidelity Sans"/>
              </a:defRPr>
              <a:lnSpc>
                <a:spcPts val="1300"/>
              </a:lnSpc>
            </a:pPr>
            <a:r>
              <a:t>•  Devastating one-liners</a:t>
            </a:r>
          </a:p>
        </p:txBody>
      </p:sp>
      <p:sp>
        <p:nvSpPr>
          <p:cNvPr id="15" name="Rectangle 14"/>
          <p:cNvSpPr/>
          <p:nvPr/>
        </p:nvSpPr>
        <p:spPr>
          <a:xfrm>
            <a:off x="3474720" y="685800"/>
            <a:ext cx="5394960" cy="201168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74720" y="685800"/>
            <a:ext cx="54864" cy="201168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822960"/>
            <a:ext cx="4937760" cy="1737360"/>
          </a:xfrm>
          <a:prstGeom prst="rect">
            <a:avLst/>
          </a:prstGeom>
          <a:noFill/>
        </p:spPr>
        <p:txBody>
          <a:bodyPr wrap="square" lIns="0" rIns="0" tIns="0" bIns="0" anchor="t"/>
          <a:lstStyle/>
          <a:p>
            <a:pPr algn="l">
              <a:defRPr sz="1300" b="0" i="0">
                <a:solidFill>
                  <a:srgbClr val="2D2D2D"/>
                </a:solidFill>
                <a:latin typeface="Fidelity Sans"/>
              </a:defRPr>
              <a:lnSpc>
                <a:spcPts val="1900"/>
              </a:lnSpc>
            </a:pPr>
            <a:r>
              <a:t>Emily is the show's most complex character because she's simultaneously the obstacle and the mirror. Every criticism she levels at Lorelai is partially valid, and every act of control is rooted in genuine love. She makes the audience uncomfortable because she forces us to ask: what if the villain has a point?</a:t>
            </a:r>
          </a:p>
        </p:txBody>
      </p:sp>
      <p:sp>
        <p:nvSpPr>
          <p:cNvPr id="18" name="Rectangle 17"/>
          <p:cNvSpPr/>
          <p:nvPr/>
        </p:nvSpPr>
        <p:spPr>
          <a:xfrm>
            <a:off x="3474720" y="3291840"/>
            <a:ext cx="5394960" cy="128016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474720" y="3291840"/>
            <a:ext cx="54864" cy="128016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0" y="3291840"/>
            <a:ext cx="5394960" cy="274320"/>
          </a:xfrm>
          <a:prstGeom prst="rect">
            <a:avLst/>
          </a:prstGeom>
          <a:noFill/>
        </p:spPr>
        <p:txBody>
          <a:bodyPr wrap="square" lIns="0" rIns="0" tIns="0" bIns="0" anchor="t"/>
          <a:lstStyle/>
          <a:p>
            <a:pPr algn="l">
              <a:defRPr sz="800" b="1" i="0">
                <a:solidFill>
                  <a:srgbClr val="D4A843"/>
                </a:solidFill>
                <a:latin typeface="Fidelity Sans"/>
              </a:defRPr>
            </a:pPr>
            <a:r>
              <a:t>STRATEGY</a:t>
            </a:r>
          </a:p>
        </p:txBody>
      </p:sp>
      <p:sp>
        <p:nvSpPr>
          <p:cNvPr id="21" name="TextBox 20"/>
          <p:cNvSpPr txBox="1"/>
          <p:nvPr/>
        </p:nvSpPr>
        <p:spPr>
          <a:xfrm>
            <a:off x="3657600" y="3611880"/>
            <a:ext cx="5029200" cy="822960"/>
          </a:xfrm>
          <a:prstGeom prst="rect">
            <a:avLst/>
          </a:prstGeom>
          <a:noFill/>
        </p:spPr>
        <p:txBody>
          <a:bodyPr wrap="square" lIns="0" rIns="0" tIns="0" bIns="0" anchor="t"/>
          <a:lstStyle/>
          <a:p>
            <a:pPr algn="l">
              <a:defRPr sz="1200" b="0" i="0">
                <a:solidFill>
                  <a:srgbClr val="2D2D2D"/>
                </a:solidFill>
                <a:latin typeface="Fidelity Sans"/>
              </a:defRPr>
              <a:lnSpc>
                <a:spcPts val="1700"/>
              </a:lnSpc>
            </a:pPr>
            <a:r>
              <a:t>Use Emily's archetype when you need an antagonist audiences argue about, not root against.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800" b="1" i="0">
                <a:solidFill>
                  <a:srgbClr val="999999"/>
                </a:solidFill>
                <a:latin typeface="Fidelity Sans"/>
              </a:defRPr>
            </a:pPr>
            <a:r>
              <a:t>TWO MODELS OF STORYTELLING LEADERSHIP</a:t>
            </a:r>
          </a:p>
        </p:txBody>
      </p:sp>
      <p:sp>
        <p:nvSpPr>
          <p:cNvPr id="4" name="Rectangle 3"/>
          <p:cNvSpPr/>
          <p:nvPr/>
        </p:nvSpPr>
        <p:spPr>
          <a:xfrm>
            <a:off x="274320" y="640080"/>
            <a:ext cx="4160520" cy="13716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640080"/>
            <a:ext cx="4160520" cy="36576"/>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731520"/>
            <a:ext cx="822960" cy="822960"/>
          </a:xfrm>
          <a:prstGeom prst="rect">
            <a:avLst/>
          </a:prstGeom>
          <a:solidFill>
            <a:srgbClr val="2A5A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731520"/>
            <a:ext cx="822960" cy="822960"/>
          </a:xfrm>
          <a:prstGeom prst="rect">
            <a:avLst/>
          </a:prstGeom>
          <a:noFill/>
        </p:spPr>
        <p:txBody>
          <a:bodyPr wrap="square" lIns="0" rIns="0" tIns="0" bIns="0" anchor="ctr"/>
          <a:lstStyle/>
          <a:p>
            <a:pPr algn="ctr">
              <a:defRPr sz="900" b="1" i="0">
                <a:solidFill>
                  <a:srgbClr val="3A6A3A"/>
                </a:solidFill>
                <a:latin typeface="Fidelity Sans"/>
              </a:defRPr>
            </a:pPr>
            <a:r>
              <a:t>IMG</a:t>
            </a:r>
          </a:p>
        </p:txBody>
      </p:sp>
      <p:sp>
        <p:nvSpPr>
          <p:cNvPr id="8" name="TextBox 7"/>
          <p:cNvSpPr txBox="1"/>
          <p:nvPr/>
        </p:nvSpPr>
        <p:spPr>
          <a:xfrm>
            <a:off x="411480" y="1280160"/>
            <a:ext cx="3886200" cy="320040"/>
          </a:xfrm>
          <a:prstGeom prst="rect">
            <a:avLst/>
          </a:prstGeom>
          <a:noFill/>
        </p:spPr>
        <p:txBody>
          <a:bodyPr wrap="square" lIns="0" rIns="0" tIns="0" bIns="0" anchor="t"/>
          <a:lstStyle/>
          <a:p>
            <a:pPr algn="l">
              <a:defRPr sz="1600" b="1" i="0">
                <a:solidFill>
                  <a:srgbClr val="FFFFFF"/>
                </a:solidFill>
                <a:latin typeface="Fidelity Slab"/>
              </a:defRPr>
            </a:pPr>
            <a:r>
              <a:t>Lorelai Gilmore</a:t>
            </a:r>
          </a:p>
        </p:txBody>
      </p:sp>
      <p:sp>
        <p:nvSpPr>
          <p:cNvPr id="9" name="TextBox 8"/>
          <p:cNvSpPr txBox="1"/>
          <p:nvPr/>
        </p:nvSpPr>
        <p:spPr>
          <a:xfrm>
            <a:off x="411480" y="1600200"/>
            <a:ext cx="3886200" cy="274320"/>
          </a:xfrm>
          <a:prstGeom prst="rect">
            <a:avLst/>
          </a:prstGeom>
          <a:noFill/>
        </p:spPr>
        <p:txBody>
          <a:bodyPr wrap="square" lIns="0" rIns="0" tIns="0" bIns="0" anchor="t"/>
          <a:lstStyle/>
          <a:p>
            <a:pPr algn="l">
              <a:defRPr sz="1000" b="0" i="1">
                <a:solidFill>
                  <a:srgbClr val="D4A843"/>
                </a:solidFill>
                <a:latin typeface="Fidelity Sans"/>
              </a:defRPr>
            </a:pPr>
            <a:r>
              <a:t>The Improviser</a:t>
            </a:r>
          </a:p>
        </p:txBody>
      </p:sp>
      <p:sp>
        <p:nvSpPr>
          <p:cNvPr id="10" name="Rectangle 9"/>
          <p:cNvSpPr/>
          <p:nvPr/>
        </p:nvSpPr>
        <p:spPr>
          <a:xfrm>
            <a:off x="411480" y="2258568"/>
            <a:ext cx="54864" cy="54864"/>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194560"/>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Leads with charm and instinct</a:t>
            </a:r>
          </a:p>
        </p:txBody>
      </p:sp>
      <p:sp>
        <p:nvSpPr>
          <p:cNvPr id="12" name="Rectangle 11"/>
          <p:cNvSpPr/>
          <p:nvPr/>
        </p:nvSpPr>
        <p:spPr>
          <a:xfrm>
            <a:off x="411480" y="2514600"/>
            <a:ext cx="54864" cy="54864"/>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450592"/>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Avoids planning until forced</a:t>
            </a:r>
          </a:p>
        </p:txBody>
      </p:sp>
      <p:sp>
        <p:nvSpPr>
          <p:cNvPr id="14" name="Rectangle 13"/>
          <p:cNvSpPr/>
          <p:nvPr/>
        </p:nvSpPr>
        <p:spPr>
          <a:xfrm>
            <a:off x="411480" y="2770632"/>
            <a:ext cx="54864" cy="54864"/>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706624"/>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Turns every crisis into a bit</a:t>
            </a:r>
          </a:p>
        </p:txBody>
      </p:sp>
      <p:sp>
        <p:nvSpPr>
          <p:cNvPr id="16" name="Rectangle 15"/>
          <p:cNvSpPr/>
          <p:nvPr/>
        </p:nvSpPr>
        <p:spPr>
          <a:xfrm>
            <a:off x="411480" y="3026664"/>
            <a:ext cx="54864" cy="54864"/>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962656"/>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Builds loyalty through warmth</a:t>
            </a:r>
          </a:p>
        </p:txBody>
      </p:sp>
      <p:sp>
        <p:nvSpPr>
          <p:cNvPr id="18" name="Rectangle 17"/>
          <p:cNvSpPr/>
          <p:nvPr/>
        </p:nvSpPr>
        <p:spPr>
          <a:xfrm>
            <a:off x="411480" y="3401568"/>
            <a:ext cx="914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3538728"/>
            <a:ext cx="3886200" cy="1371600"/>
          </a:xfrm>
          <a:prstGeom prst="rect">
            <a:avLst/>
          </a:prstGeom>
          <a:noFill/>
        </p:spPr>
        <p:txBody>
          <a:bodyPr wrap="square" lIns="0" rIns="0" tIns="0" bIns="0" anchor="t"/>
          <a:lstStyle/>
          <a:p>
            <a:pPr algn="l">
              <a:defRPr sz="1000" b="0" i="0">
                <a:solidFill>
                  <a:srgbClr val="666666"/>
                </a:solidFill>
                <a:latin typeface="Fidelity Sans"/>
              </a:defRPr>
              <a:lnSpc>
                <a:spcPts val="1400"/>
              </a:lnSpc>
            </a:pPr>
            <a:r>
              <a:t>Lorelai's leadership style is performative spontaneity — she appears to wing it, but her improvisations are built on deep knowledge of her people.</a:t>
            </a:r>
          </a:p>
        </p:txBody>
      </p:sp>
      <p:sp>
        <p:nvSpPr>
          <p:cNvPr id="20" name="Rectangle 19"/>
          <p:cNvSpPr/>
          <p:nvPr/>
        </p:nvSpPr>
        <p:spPr>
          <a:xfrm>
            <a:off x="4709160" y="640080"/>
            <a:ext cx="4160520" cy="137160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09160" y="640080"/>
            <a:ext cx="4160520" cy="36576"/>
          </a:xfrm>
          <a:prstGeom prst="rect">
            <a:avLst/>
          </a:prstGeom>
          <a:solidFill>
            <a:srgbClr val="7AB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731520"/>
            <a:ext cx="822960" cy="822960"/>
          </a:xfrm>
          <a:prstGeom prst="rect">
            <a:avLst/>
          </a:prstGeom>
          <a:solidFill>
            <a:srgbClr val="03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731520"/>
            <a:ext cx="822960" cy="822960"/>
          </a:xfrm>
          <a:prstGeom prst="rect">
            <a:avLst/>
          </a:prstGeom>
          <a:noFill/>
        </p:spPr>
        <p:txBody>
          <a:bodyPr wrap="square" lIns="0" rIns="0" tIns="0" bIns="0" anchor="ctr"/>
          <a:lstStyle/>
          <a:p>
            <a:pPr algn="ctr">
              <a:defRPr sz="900" b="1" i="0">
                <a:solidFill>
                  <a:srgbClr val="2A5A7A"/>
                </a:solidFill>
                <a:latin typeface="Fidelity Sans"/>
              </a:defRPr>
            </a:pPr>
            <a:r>
              <a:t>IMG</a:t>
            </a:r>
          </a:p>
        </p:txBody>
      </p:sp>
      <p:sp>
        <p:nvSpPr>
          <p:cNvPr id="24" name="TextBox 23"/>
          <p:cNvSpPr txBox="1"/>
          <p:nvPr/>
        </p:nvSpPr>
        <p:spPr>
          <a:xfrm>
            <a:off x="4846320" y="1280160"/>
            <a:ext cx="3886200" cy="320040"/>
          </a:xfrm>
          <a:prstGeom prst="rect">
            <a:avLst/>
          </a:prstGeom>
          <a:noFill/>
        </p:spPr>
        <p:txBody>
          <a:bodyPr wrap="square" lIns="0" rIns="0" tIns="0" bIns="0" anchor="t"/>
          <a:lstStyle/>
          <a:p>
            <a:pPr algn="l">
              <a:defRPr sz="1600" b="1" i="0">
                <a:solidFill>
                  <a:srgbClr val="FFFFFF"/>
                </a:solidFill>
                <a:latin typeface="Fidelity Slab"/>
              </a:defRPr>
            </a:pPr>
            <a:r>
              <a:t>Emily Gilmore</a:t>
            </a:r>
          </a:p>
        </p:txBody>
      </p:sp>
      <p:sp>
        <p:nvSpPr>
          <p:cNvPr id="25" name="TextBox 24"/>
          <p:cNvSpPr txBox="1"/>
          <p:nvPr/>
        </p:nvSpPr>
        <p:spPr>
          <a:xfrm>
            <a:off x="4846320" y="1600200"/>
            <a:ext cx="3886200" cy="274320"/>
          </a:xfrm>
          <a:prstGeom prst="rect">
            <a:avLst/>
          </a:prstGeom>
          <a:noFill/>
        </p:spPr>
        <p:txBody>
          <a:bodyPr wrap="square" lIns="0" rIns="0" tIns="0" bIns="0" anchor="t"/>
          <a:lstStyle/>
          <a:p>
            <a:pPr algn="l">
              <a:defRPr sz="1000" b="0" i="1">
                <a:solidFill>
                  <a:srgbClr val="7AB8D4"/>
                </a:solidFill>
                <a:latin typeface="Fidelity Sans"/>
              </a:defRPr>
            </a:pPr>
            <a:r>
              <a:t>The Architect</a:t>
            </a:r>
          </a:p>
        </p:txBody>
      </p:sp>
      <p:sp>
        <p:nvSpPr>
          <p:cNvPr id="26" name="Rectangle 25"/>
          <p:cNvSpPr/>
          <p:nvPr/>
        </p:nvSpPr>
        <p:spPr>
          <a:xfrm>
            <a:off x="4846320" y="2258568"/>
            <a:ext cx="54864" cy="54864"/>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2194560"/>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Leads with structure and expectation</a:t>
            </a:r>
          </a:p>
        </p:txBody>
      </p:sp>
      <p:sp>
        <p:nvSpPr>
          <p:cNvPr id="28" name="Rectangle 27"/>
          <p:cNvSpPr/>
          <p:nvPr/>
        </p:nvSpPr>
        <p:spPr>
          <a:xfrm>
            <a:off x="4846320" y="2514600"/>
            <a:ext cx="54864" cy="54864"/>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0" y="2450592"/>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Plans every detail in advance</a:t>
            </a:r>
          </a:p>
        </p:txBody>
      </p:sp>
      <p:sp>
        <p:nvSpPr>
          <p:cNvPr id="30" name="Rectangle 29"/>
          <p:cNvSpPr/>
          <p:nvPr/>
        </p:nvSpPr>
        <p:spPr>
          <a:xfrm>
            <a:off x="4846320" y="2770632"/>
            <a:ext cx="54864" cy="54864"/>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0" y="2706624"/>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Controls environment to control outcomes</a:t>
            </a:r>
          </a:p>
        </p:txBody>
      </p:sp>
      <p:sp>
        <p:nvSpPr>
          <p:cNvPr id="32" name="Rectangle 31"/>
          <p:cNvSpPr/>
          <p:nvPr/>
        </p:nvSpPr>
        <p:spPr>
          <a:xfrm>
            <a:off x="4846320" y="3026664"/>
            <a:ext cx="54864" cy="54864"/>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0" y="2962656"/>
            <a:ext cx="3703320" cy="228600"/>
          </a:xfrm>
          <a:prstGeom prst="rect">
            <a:avLst/>
          </a:prstGeom>
          <a:noFill/>
        </p:spPr>
        <p:txBody>
          <a:bodyPr wrap="square" lIns="0" rIns="0" tIns="0" bIns="0" anchor="t"/>
          <a:lstStyle/>
          <a:p>
            <a:pPr algn="l">
              <a:defRPr sz="1000" b="0" i="0">
                <a:solidFill>
                  <a:srgbClr val="2D2D2D"/>
                </a:solidFill>
                <a:latin typeface="Fidelity Sans"/>
              </a:defRPr>
              <a:lnSpc>
                <a:spcPts val="1300"/>
              </a:lnSpc>
            </a:pPr>
            <a:r>
              <a:t>Builds loyalty through obligation</a:t>
            </a:r>
          </a:p>
        </p:txBody>
      </p:sp>
      <p:sp>
        <p:nvSpPr>
          <p:cNvPr id="34" name="Rectangle 33"/>
          <p:cNvSpPr/>
          <p:nvPr/>
        </p:nvSpPr>
        <p:spPr>
          <a:xfrm>
            <a:off x="4846320" y="3401568"/>
            <a:ext cx="9144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46320" y="3538728"/>
            <a:ext cx="3886200" cy="1371600"/>
          </a:xfrm>
          <a:prstGeom prst="rect">
            <a:avLst/>
          </a:prstGeom>
          <a:noFill/>
        </p:spPr>
        <p:txBody>
          <a:bodyPr wrap="square" lIns="0" rIns="0" tIns="0" bIns="0" anchor="t"/>
          <a:lstStyle/>
          <a:p>
            <a:pPr algn="l">
              <a:defRPr sz="1000" b="0" i="0">
                <a:solidFill>
                  <a:srgbClr val="666666"/>
                </a:solidFill>
                <a:latin typeface="Fidelity Sans"/>
              </a:defRPr>
              <a:lnSpc>
                <a:spcPts val="1400"/>
              </a:lnSpc>
            </a:pPr>
            <a:r>
              <a:t>Emily's leadership style is institutional — she believes that if the structure is right, the people within it will perform.</a:t>
            </a:r>
          </a:p>
        </p:txBody>
      </p:sp>
      <p:sp>
        <p:nvSpPr>
          <p:cNvPr id="36" name="Rectangle 35"/>
          <p:cNvSpPr/>
          <p:nvPr/>
        </p:nvSpPr>
        <p:spPr>
          <a:xfrm>
            <a:off x="4544568" y="640080"/>
            <a:ext cx="13716" cy="41148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82880"/>
            <a:ext cx="6400800" cy="365760"/>
          </a:xfrm>
          <a:prstGeom prst="rect">
            <a:avLst/>
          </a:prstGeom>
          <a:noFill/>
        </p:spPr>
        <p:txBody>
          <a:bodyPr wrap="square" lIns="0" rIns="0" tIns="0" bIns="0" anchor="t"/>
          <a:lstStyle/>
          <a:p>
            <a:pPr algn="l">
              <a:defRPr sz="1400" b="1" i="0">
                <a:solidFill>
                  <a:srgbClr val="999999"/>
                </a:solidFill>
                <a:latin typeface="Fidelity Sans"/>
              </a:defRPr>
            </a:pPr>
            <a:r>
              <a:t>THE COFFEE METAPHOR</a:t>
            </a:r>
          </a:p>
        </p:txBody>
      </p:sp>
      <p:sp>
        <p:nvSpPr>
          <p:cNvPr id="4" name="TextBox 3"/>
          <p:cNvSpPr txBox="1"/>
          <p:nvPr/>
        </p:nvSpPr>
        <p:spPr>
          <a:xfrm>
            <a:off x="457200" y="640080"/>
            <a:ext cx="8229600" cy="1097280"/>
          </a:xfrm>
          <a:prstGeom prst="rect">
            <a:avLst/>
          </a:prstGeom>
          <a:noFill/>
        </p:spPr>
        <p:txBody>
          <a:bodyPr wrap="square" lIns="0" rIns="0" tIns="0" bIns="0" anchor="t"/>
          <a:lstStyle/>
          <a:p>
            <a:pPr algn="l">
              <a:defRPr sz="2200" b="1" i="0">
                <a:solidFill>
                  <a:srgbClr val="1A1A1A"/>
                </a:solidFill>
                <a:latin typeface="Fidelity Slab"/>
              </a:defRPr>
              <a:lnSpc>
                <a:spcPts val="3000"/>
              </a:lnSpc>
            </a:pPr>
            <a:r>
              <a:t>Lorelai Gilmore drinks coffee the way other characters drink alcohol — compulsively, socially, and as a marker of identity.</a:t>
            </a:r>
          </a:p>
        </p:txBody>
      </p:sp>
      <p:sp>
        <p:nvSpPr>
          <p:cNvPr id="5" name="Rectangle 4"/>
          <p:cNvSpPr/>
          <p:nvPr/>
        </p:nvSpPr>
        <p:spPr>
          <a:xfrm>
            <a:off x="457200" y="1828800"/>
            <a:ext cx="22860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2057400"/>
            <a:ext cx="3840480" cy="274320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2057400"/>
            <a:ext cx="3840480" cy="4572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40280"/>
            <a:ext cx="3474720" cy="2468880"/>
          </a:xfrm>
          <a:prstGeom prst="rect">
            <a:avLst/>
          </a:prstGeom>
          <a:noFill/>
        </p:spPr>
        <p:txBody>
          <a:bodyPr wrap="square" lIns="0" rIns="0" tIns="0" bIns="0" anchor="t"/>
          <a:lstStyle/>
          <a:p>
            <a:pPr algn="l">
              <a:defRPr sz="1200" b="0" i="0">
                <a:solidFill>
                  <a:srgbClr val="2D2D2D"/>
                </a:solidFill>
                <a:latin typeface="Fidelity Sans"/>
              </a:defRPr>
              <a:lnSpc>
                <a:spcPts val="1700"/>
              </a:lnSpc>
            </a:pPr>
            <a:r>
              <a:t>But here's what's interesting from a storytelling perspective: the coffee isn't just a character quirk. It's a structural device. Coffee scenes happen at Luke's, which means they happen in the show's emotional center. Every major relationship has a coffee scene as a turning point — Luke and Lorelai's slow burn is literally measured in cups served.</a:t>
            </a:r>
          </a:p>
        </p:txBody>
      </p:sp>
      <p:sp>
        <p:nvSpPr>
          <p:cNvPr id="9" name="Rectangle 8"/>
          <p:cNvSpPr/>
          <p:nvPr/>
        </p:nvSpPr>
        <p:spPr>
          <a:xfrm>
            <a:off x="4572000" y="2057400"/>
            <a:ext cx="3840480" cy="2743200"/>
          </a:xfrm>
          <a:prstGeom prst="rect">
            <a:avLst/>
          </a:prstGeom>
          <a:solidFill>
            <a:srgbClr val="EAEE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0" y="2057400"/>
            <a:ext cx="3840480" cy="4572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0" y="2240280"/>
            <a:ext cx="3474720" cy="2468880"/>
          </a:xfrm>
          <a:prstGeom prst="rect">
            <a:avLst/>
          </a:prstGeom>
          <a:noFill/>
        </p:spPr>
        <p:txBody>
          <a:bodyPr wrap="square" lIns="0" rIns="0" tIns="0" bIns="0" anchor="t"/>
          <a:lstStyle/>
          <a:p>
            <a:pPr algn="l">
              <a:defRPr sz="1200" b="0" i="0">
                <a:solidFill>
                  <a:srgbClr val="2D2D2D"/>
                </a:solidFill>
                <a:latin typeface="Fidelity Sans"/>
              </a:defRPr>
              <a:lnSpc>
                <a:spcPts val="1700"/>
              </a:lnSpc>
            </a:pPr>
            <a:r>
              <a:t>The coffee is the show's love language, its nervous habit, and its clock all at once. When you're building a story, find your coffee. Find the small, repeatable, specific thing that your characters do together that can carry weight without ever calling attention to itself.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502920"/>
          </a:xfrm>
          <a:prstGeom prst="rect">
            <a:avLst/>
          </a:prstGeom>
          <a:noFill/>
        </p:spPr>
        <p:txBody>
          <a:bodyPr wrap="square" lIns="0" rIns="0" tIns="0" bIns="0" anchor="t"/>
          <a:lstStyle/>
          <a:p>
            <a:pPr algn="l">
              <a:defRPr sz="2200" b="1" i="0">
                <a:solidFill>
                  <a:srgbClr val="2D2D2D"/>
                </a:solidFill>
                <a:latin typeface="Fidelity Slab"/>
              </a:defRPr>
            </a:pPr>
            <a:r>
              <a:t>Unresolved Questions in Narrative Craft</a:t>
            </a:r>
          </a:p>
        </p:txBody>
      </p:sp>
      <p:sp>
        <p:nvSpPr>
          <p:cNvPr id="4" name="Rectangle 3"/>
          <p:cNvSpPr/>
          <p:nvPr/>
        </p:nvSpPr>
        <p:spPr>
          <a:xfrm>
            <a:off x="457200" y="914400"/>
            <a:ext cx="4000500" cy="1600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14400"/>
            <a:ext cx="4000500" cy="4572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543300" y="914400"/>
            <a:ext cx="914400" cy="1600200"/>
          </a:xfrm>
          <a:prstGeom prst="rect">
            <a:avLst/>
          </a:prstGeom>
          <a:noFill/>
        </p:spPr>
        <p:txBody>
          <a:bodyPr wrap="square" lIns="0" rIns="0" tIns="0" bIns="0" anchor="b"/>
          <a:lstStyle/>
          <a:p>
            <a:pPr algn="r">
              <a:defRPr sz="8000" b="1" i="0">
                <a:solidFill>
                  <a:srgbClr val="CCCCCC"/>
                </a:solidFill>
                <a:latin typeface="Fidelity Slab"/>
              </a:defRPr>
            </a:pPr>
            <a:r>
              <a:t>?</a:t>
            </a:r>
          </a:p>
        </p:txBody>
      </p:sp>
      <p:sp>
        <p:nvSpPr>
          <p:cNvPr id="7" name="TextBox 6"/>
          <p:cNvSpPr txBox="1"/>
          <p:nvPr/>
        </p:nvSpPr>
        <p:spPr>
          <a:xfrm>
            <a:off x="640080" y="1051560"/>
            <a:ext cx="365760" cy="365760"/>
          </a:xfrm>
          <a:prstGeom prst="rect">
            <a:avLst/>
          </a:prstGeom>
          <a:noFill/>
        </p:spPr>
        <p:txBody>
          <a:bodyPr wrap="square" lIns="0" rIns="0" tIns="0" bIns="0" anchor="t"/>
          <a:lstStyle/>
          <a:p>
            <a:pPr algn="l">
              <a:defRPr sz="2200" b="1" i="0">
                <a:solidFill>
                  <a:srgbClr val="044014"/>
                </a:solidFill>
                <a:latin typeface="Fidelity Slab"/>
              </a:defRPr>
            </a:pPr>
            <a:r>
              <a:t>1</a:t>
            </a:r>
          </a:p>
        </p:txBody>
      </p:sp>
      <p:sp>
        <p:nvSpPr>
          <p:cNvPr id="8" name="TextBox 7"/>
          <p:cNvSpPr txBox="1"/>
          <p:nvPr/>
        </p:nvSpPr>
        <p:spPr>
          <a:xfrm>
            <a:off x="640080" y="1463040"/>
            <a:ext cx="3543300" cy="868680"/>
          </a:xfrm>
          <a:prstGeom prst="rect">
            <a:avLst/>
          </a:prstGeom>
          <a:noFill/>
        </p:spPr>
        <p:txBody>
          <a:bodyPr wrap="square" lIns="0" rIns="0" tIns="0" bIns="0" anchor="t"/>
          <a:lstStyle/>
          <a:p>
            <a:pPr algn="l">
              <a:defRPr sz="1300" b="0" i="0">
                <a:solidFill>
                  <a:srgbClr val="2D2D2D"/>
                </a:solidFill>
                <a:latin typeface="Fidelity Sans"/>
              </a:defRPr>
              <a:lnSpc>
                <a:spcPts val="1800"/>
              </a:lnSpc>
            </a:pPr>
            <a:r>
              <a:t>Does the 'final four words' structure (planned ending held for years) improve or constrain a long-running story?</a:t>
            </a:r>
          </a:p>
        </p:txBody>
      </p:sp>
      <p:sp>
        <p:nvSpPr>
          <p:cNvPr id="9" name="Rectangle 8"/>
          <p:cNvSpPr/>
          <p:nvPr/>
        </p:nvSpPr>
        <p:spPr>
          <a:xfrm>
            <a:off x="4686300" y="914400"/>
            <a:ext cx="4000500" cy="1600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86300" y="914400"/>
            <a:ext cx="4000500" cy="4572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0" y="914400"/>
            <a:ext cx="914400" cy="1600200"/>
          </a:xfrm>
          <a:prstGeom prst="rect">
            <a:avLst/>
          </a:prstGeom>
          <a:noFill/>
        </p:spPr>
        <p:txBody>
          <a:bodyPr wrap="square" lIns="0" rIns="0" tIns="0" bIns="0" anchor="b"/>
          <a:lstStyle/>
          <a:p>
            <a:pPr algn="r">
              <a:defRPr sz="8000" b="1" i="0">
                <a:solidFill>
                  <a:srgbClr val="CCCCCC"/>
                </a:solidFill>
                <a:latin typeface="Fidelity Slab"/>
              </a:defRPr>
            </a:pPr>
            <a:r>
              <a:t>?</a:t>
            </a:r>
          </a:p>
        </p:txBody>
      </p:sp>
      <p:sp>
        <p:nvSpPr>
          <p:cNvPr id="12" name="TextBox 11"/>
          <p:cNvSpPr txBox="1"/>
          <p:nvPr/>
        </p:nvSpPr>
        <p:spPr>
          <a:xfrm>
            <a:off x="4869180" y="1051560"/>
            <a:ext cx="365760" cy="365760"/>
          </a:xfrm>
          <a:prstGeom prst="rect">
            <a:avLst/>
          </a:prstGeom>
          <a:noFill/>
        </p:spPr>
        <p:txBody>
          <a:bodyPr wrap="square" lIns="0" rIns="0" tIns="0" bIns="0" anchor="t"/>
          <a:lstStyle/>
          <a:p>
            <a:pPr algn="l">
              <a:defRPr sz="2200" b="1" i="0">
                <a:solidFill>
                  <a:srgbClr val="04547C"/>
                </a:solidFill>
                <a:latin typeface="Fidelity Slab"/>
              </a:defRPr>
            </a:pPr>
            <a:r>
              <a:t>2</a:t>
            </a:r>
          </a:p>
        </p:txBody>
      </p:sp>
      <p:sp>
        <p:nvSpPr>
          <p:cNvPr id="13" name="TextBox 12"/>
          <p:cNvSpPr txBox="1"/>
          <p:nvPr/>
        </p:nvSpPr>
        <p:spPr>
          <a:xfrm>
            <a:off x="4869180" y="1463040"/>
            <a:ext cx="3543300" cy="868680"/>
          </a:xfrm>
          <a:prstGeom prst="rect">
            <a:avLst/>
          </a:prstGeom>
          <a:noFill/>
        </p:spPr>
        <p:txBody>
          <a:bodyPr wrap="square" lIns="0" rIns="0" tIns="0" bIns="0" anchor="t"/>
          <a:lstStyle/>
          <a:p>
            <a:pPr algn="l">
              <a:defRPr sz="1300" b="0" i="0">
                <a:solidFill>
                  <a:srgbClr val="2D2D2D"/>
                </a:solidFill>
                <a:latin typeface="Fidelity Sans"/>
              </a:defRPr>
              <a:lnSpc>
                <a:spcPts val="1800"/>
              </a:lnSpc>
            </a:pPr>
            <a:r>
              <a:t>Can verbal density work outside of comedy-drama? Would a thriller sustain 300 wpm?</a:t>
            </a:r>
          </a:p>
        </p:txBody>
      </p:sp>
      <p:sp>
        <p:nvSpPr>
          <p:cNvPr id="14" name="Rectangle 13"/>
          <p:cNvSpPr/>
          <p:nvPr/>
        </p:nvSpPr>
        <p:spPr>
          <a:xfrm>
            <a:off x="457200" y="2697480"/>
            <a:ext cx="4000500" cy="1600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697480"/>
            <a:ext cx="4000500" cy="45720"/>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3300" y="2697480"/>
            <a:ext cx="914400" cy="1600200"/>
          </a:xfrm>
          <a:prstGeom prst="rect">
            <a:avLst/>
          </a:prstGeom>
          <a:noFill/>
        </p:spPr>
        <p:txBody>
          <a:bodyPr wrap="square" lIns="0" rIns="0" tIns="0" bIns="0" anchor="b"/>
          <a:lstStyle/>
          <a:p>
            <a:pPr algn="r">
              <a:defRPr sz="8000" b="1" i="0">
                <a:solidFill>
                  <a:srgbClr val="CCCCCC"/>
                </a:solidFill>
                <a:latin typeface="Fidelity Slab"/>
              </a:defRPr>
            </a:pPr>
            <a:r>
              <a:t>?</a:t>
            </a:r>
          </a:p>
        </p:txBody>
      </p:sp>
      <p:sp>
        <p:nvSpPr>
          <p:cNvPr id="17" name="TextBox 16"/>
          <p:cNvSpPr txBox="1"/>
          <p:nvPr/>
        </p:nvSpPr>
        <p:spPr>
          <a:xfrm>
            <a:off x="640080" y="2834640"/>
            <a:ext cx="365760" cy="365760"/>
          </a:xfrm>
          <a:prstGeom prst="rect">
            <a:avLst/>
          </a:prstGeom>
          <a:noFill/>
        </p:spPr>
        <p:txBody>
          <a:bodyPr wrap="square" lIns="0" rIns="0" tIns="0" bIns="0" anchor="t"/>
          <a:lstStyle/>
          <a:p>
            <a:pPr algn="l">
              <a:defRPr sz="2200" b="1" i="0">
                <a:solidFill>
                  <a:srgbClr val="5B2C8F"/>
                </a:solidFill>
                <a:latin typeface="Fidelity Slab"/>
              </a:defRPr>
            </a:pPr>
            <a:r>
              <a:t>3</a:t>
            </a:r>
          </a:p>
        </p:txBody>
      </p:sp>
      <p:sp>
        <p:nvSpPr>
          <p:cNvPr id="18" name="TextBox 17"/>
          <p:cNvSpPr txBox="1"/>
          <p:nvPr/>
        </p:nvSpPr>
        <p:spPr>
          <a:xfrm>
            <a:off x="640080" y="3246120"/>
            <a:ext cx="3543300" cy="868680"/>
          </a:xfrm>
          <a:prstGeom prst="rect">
            <a:avLst/>
          </a:prstGeom>
          <a:noFill/>
        </p:spPr>
        <p:txBody>
          <a:bodyPr wrap="square" lIns="0" rIns="0" tIns="0" bIns="0" anchor="t"/>
          <a:lstStyle/>
          <a:p>
            <a:pPr algn="l">
              <a:defRPr sz="1300" b="0" i="0">
                <a:solidFill>
                  <a:srgbClr val="2D2D2D"/>
                </a:solidFill>
                <a:latin typeface="Fidelity Sans"/>
              </a:defRPr>
              <a:lnSpc>
                <a:spcPts val="1800"/>
              </a:lnSpc>
            </a:pPr>
            <a:r>
              <a:t>Is Stars Hollow's insularity a feature or a bug for modern storytelling?</a:t>
            </a:r>
          </a:p>
        </p:txBody>
      </p:sp>
      <p:sp>
        <p:nvSpPr>
          <p:cNvPr id="19" name="Rectangle 18"/>
          <p:cNvSpPr/>
          <p:nvPr/>
        </p:nvSpPr>
        <p:spPr>
          <a:xfrm>
            <a:off x="4686300" y="2697480"/>
            <a:ext cx="4000500" cy="1600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86300" y="2697480"/>
            <a:ext cx="4000500" cy="4572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0" y="2697480"/>
            <a:ext cx="914400" cy="1600200"/>
          </a:xfrm>
          <a:prstGeom prst="rect">
            <a:avLst/>
          </a:prstGeom>
          <a:noFill/>
        </p:spPr>
        <p:txBody>
          <a:bodyPr wrap="square" lIns="0" rIns="0" tIns="0" bIns="0" anchor="b"/>
          <a:lstStyle/>
          <a:p>
            <a:pPr algn="r">
              <a:defRPr sz="8000" b="1" i="0">
                <a:solidFill>
                  <a:srgbClr val="CCCCCC"/>
                </a:solidFill>
                <a:latin typeface="Fidelity Slab"/>
              </a:defRPr>
            </a:pPr>
            <a:r>
              <a:t>?</a:t>
            </a:r>
          </a:p>
        </p:txBody>
      </p:sp>
      <p:sp>
        <p:nvSpPr>
          <p:cNvPr id="22" name="TextBox 21"/>
          <p:cNvSpPr txBox="1"/>
          <p:nvPr/>
        </p:nvSpPr>
        <p:spPr>
          <a:xfrm>
            <a:off x="4869180" y="2834640"/>
            <a:ext cx="365760" cy="365760"/>
          </a:xfrm>
          <a:prstGeom prst="rect">
            <a:avLst/>
          </a:prstGeom>
          <a:noFill/>
        </p:spPr>
        <p:txBody>
          <a:bodyPr wrap="square" lIns="0" rIns="0" tIns="0" bIns="0" anchor="t"/>
          <a:lstStyle/>
          <a:p>
            <a:pPr algn="l">
              <a:defRPr sz="2200" b="1" i="0">
                <a:solidFill>
                  <a:srgbClr val="D4A843"/>
                </a:solidFill>
                <a:latin typeface="Fidelity Slab"/>
              </a:defRPr>
            </a:pPr>
            <a:r>
              <a:t>4</a:t>
            </a:r>
          </a:p>
        </p:txBody>
      </p:sp>
      <p:sp>
        <p:nvSpPr>
          <p:cNvPr id="23" name="TextBox 22"/>
          <p:cNvSpPr txBox="1"/>
          <p:nvPr/>
        </p:nvSpPr>
        <p:spPr>
          <a:xfrm>
            <a:off x="4869180" y="3246120"/>
            <a:ext cx="3543300" cy="868680"/>
          </a:xfrm>
          <a:prstGeom prst="rect">
            <a:avLst/>
          </a:prstGeom>
          <a:noFill/>
        </p:spPr>
        <p:txBody>
          <a:bodyPr wrap="square" lIns="0" rIns="0" tIns="0" bIns="0" anchor="t"/>
          <a:lstStyle/>
          <a:p>
            <a:pPr algn="l">
              <a:defRPr sz="1300" b="0" i="0">
                <a:solidFill>
                  <a:srgbClr val="2D2D2D"/>
                </a:solidFill>
                <a:latin typeface="Fidelity Sans"/>
              </a:defRPr>
              <a:lnSpc>
                <a:spcPts val="1800"/>
              </a:lnSpc>
            </a:pPr>
            <a:r>
              <a:t>When does an ensemble become too large to sustain meaningful arcs?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502920"/>
          </a:xfrm>
          <a:prstGeom prst="rect">
            <a:avLst/>
          </a:prstGeom>
          <a:noFill/>
        </p:spPr>
        <p:txBody>
          <a:bodyPr wrap="square" lIns="0" rIns="0" tIns="0" bIns="0" anchor="t"/>
          <a:lstStyle/>
          <a:p>
            <a:pPr algn="l">
              <a:defRPr sz="2200" b="1" i="0">
                <a:solidFill>
                  <a:srgbClr val="2D2D2D"/>
                </a:solidFill>
                <a:latin typeface="Fidelity Slab"/>
              </a:defRPr>
            </a:pPr>
            <a:r>
              <a:t>Gilmore Girls by the Numbers</a:t>
            </a:r>
          </a:p>
        </p:txBody>
      </p:sp>
      <p:sp>
        <p:nvSpPr>
          <p:cNvPr id="4" name="Rectangle 3"/>
          <p:cNvSpPr/>
          <p:nvPr/>
        </p:nvSpPr>
        <p:spPr>
          <a:xfrm>
            <a:off x="457200" y="914400"/>
            <a:ext cx="2743200" cy="4572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914400"/>
            <a:ext cx="2523744" cy="457200"/>
          </a:xfrm>
          <a:prstGeom prst="rect">
            <a:avLst/>
          </a:prstGeom>
          <a:noFill/>
        </p:spPr>
        <p:txBody>
          <a:bodyPr wrap="square" lIns="0" rIns="0" tIns="0" bIns="0" anchor="ctr"/>
          <a:lstStyle/>
          <a:p>
            <a:pPr algn="l">
              <a:defRPr sz="1100" b="1" i="0">
                <a:solidFill>
                  <a:srgbClr val="FFFFFF"/>
                </a:solidFill>
                <a:latin typeface="Fidelity Sans"/>
              </a:defRPr>
            </a:pPr>
            <a:r>
              <a:t>Metric</a:t>
            </a:r>
          </a:p>
        </p:txBody>
      </p:sp>
      <p:sp>
        <p:nvSpPr>
          <p:cNvPr id="6" name="Rectangle 5"/>
          <p:cNvSpPr/>
          <p:nvPr/>
        </p:nvSpPr>
        <p:spPr>
          <a:xfrm>
            <a:off x="3200400" y="914400"/>
            <a:ext cx="2743200" cy="4572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10128" y="914400"/>
            <a:ext cx="2523744" cy="457200"/>
          </a:xfrm>
          <a:prstGeom prst="rect">
            <a:avLst/>
          </a:prstGeom>
          <a:noFill/>
        </p:spPr>
        <p:txBody>
          <a:bodyPr wrap="square" lIns="0" rIns="0" tIns="0" bIns="0" anchor="ctr"/>
          <a:lstStyle/>
          <a:p>
            <a:pPr algn="l">
              <a:defRPr sz="1100" b="1" i="0">
                <a:solidFill>
                  <a:srgbClr val="FFFFFF"/>
                </a:solidFill>
                <a:latin typeface="Fidelity Sans"/>
              </a:defRPr>
            </a:pPr>
            <a:r>
              <a:t>Value</a:t>
            </a:r>
          </a:p>
        </p:txBody>
      </p:sp>
      <p:sp>
        <p:nvSpPr>
          <p:cNvPr id="8" name="Rectangle 7"/>
          <p:cNvSpPr/>
          <p:nvPr/>
        </p:nvSpPr>
        <p:spPr>
          <a:xfrm>
            <a:off x="5943600" y="914400"/>
            <a:ext cx="2743200" cy="45720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53328" y="914400"/>
            <a:ext cx="2523744" cy="457200"/>
          </a:xfrm>
          <a:prstGeom prst="rect">
            <a:avLst/>
          </a:prstGeom>
          <a:noFill/>
        </p:spPr>
        <p:txBody>
          <a:bodyPr wrap="square" lIns="0" rIns="0" tIns="0" bIns="0" anchor="ctr"/>
          <a:lstStyle/>
          <a:p>
            <a:pPr algn="l">
              <a:defRPr sz="1100" b="1" i="0">
                <a:solidFill>
                  <a:srgbClr val="FFFFFF"/>
                </a:solidFill>
                <a:latin typeface="Fidelity Sans"/>
              </a:defRPr>
            </a:pPr>
            <a:r>
              <a:t>Context</a:t>
            </a:r>
          </a:p>
        </p:txBody>
      </p:sp>
      <p:sp>
        <p:nvSpPr>
          <p:cNvPr id="10" name="Rectangle 9"/>
          <p:cNvSpPr/>
          <p:nvPr/>
        </p:nvSpPr>
        <p:spPr>
          <a:xfrm>
            <a:off x="457200" y="1371600"/>
            <a:ext cx="2743200" cy="457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1371600"/>
            <a:ext cx="2523744" cy="457200"/>
          </a:xfrm>
          <a:prstGeom prst="rect">
            <a:avLst/>
          </a:prstGeom>
          <a:noFill/>
        </p:spPr>
        <p:txBody>
          <a:bodyPr wrap="square" lIns="0" rIns="0" tIns="0" bIns="0" anchor="ctr"/>
          <a:lstStyle/>
          <a:p>
            <a:pPr algn="l">
              <a:defRPr sz="1100" b="0" i="0">
                <a:solidFill>
                  <a:srgbClr val="2D2D2D"/>
                </a:solidFill>
                <a:latin typeface="Fidelity Sans"/>
              </a:defRPr>
            </a:pPr>
            <a:r>
              <a:t>Episodes</a:t>
            </a:r>
          </a:p>
        </p:txBody>
      </p:sp>
      <p:sp>
        <p:nvSpPr>
          <p:cNvPr id="12" name="Rectangle 11"/>
          <p:cNvSpPr/>
          <p:nvPr/>
        </p:nvSpPr>
        <p:spPr>
          <a:xfrm>
            <a:off x="3200400" y="1371600"/>
            <a:ext cx="2743200" cy="45720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0128" y="1371600"/>
            <a:ext cx="2523744" cy="457200"/>
          </a:xfrm>
          <a:prstGeom prst="rect">
            <a:avLst/>
          </a:prstGeom>
          <a:noFill/>
        </p:spPr>
        <p:txBody>
          <a:bodyPr wrap="square" lIns="0" rIns="0" tIns="0" bIns="0" anchor="ctr"/>
          <a:lstStyle/>
          <a:p>
            <a:pPr algn="l">
              <a:defRPr sz="1100" b="1" i="0">
                <a:solidFill>
                  <a:srgbClr val="044014"/>
                </a:solidFill>
                <a:latin typeface="Fidelity Sans"/>
              </a:defRPr>
            </a:pPr>
            <a:r>
              <a:t>153 + 4</a:t>
            </a:r>
          </a:p>
        </p:txBody>
      </p:sp>
      <p:sp>
        <p:nvSpPr>
          <p:cNvPr id="14" name="Rectangle 13"/>
          <p:cNvSpPr/>
          <p:nvPr/>
        </p:nvSpPr>
        <p:spPr>
          <a:xfrm>
            <a:off x="5943600" y="1371600"/>
            <a:ext cx="2743200" cy="457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53328" y="1371600"/>
            <a:ext cx="2523744" cy="457200"/>
          </a:xfrm>
          <a:prstGeom prst="rect">
            <a:avLst/>
          </a:prstGeom>
          <a:noFill/>
        </p:spPr>
        <p:txBody>
          <a:bodyPr wrap="square" lIns="0" rIns="0" tIns="0" bIns="0" anchor="ctr"/>
          <a:lstStyle/>
          <a:p>
            <a:pPr algn="l">
              <a:defRPr sz="1100" b="0" i="0">
                <a:solidFill>
                  <a:srgbClr val="2D2D2D"/>
                </a:solidFill>
                <a:latin typeface="Fidelity Sans"/>
              </a:defRPr>
            </a:pPr>
            <a:r>
              <a:t>7 seasons plus Netflix revival</a:t>
            </a:r>
          </a:p>
        </p:txBody>
      </p:sp>
      <p:sp>
        <p:nvSpPr>
          <p:cNvPr id="16" name="Rectangle 15"/>
          <p:cNvSpPr/>
          <p:nvPr/>
        </p:nvSpPr>
        <p:spPr>
          <a:xfrm>
            <a:off x="457200" y="1828800"/>
            <a:ext cx="2743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1828800"/>
            <a:ext cx="2523744" cy="457200"/>
          </a:xfrm>
          <a:prstGeom prst="rect">
            <a:avLst/>
          </a:prstGeom>
          <a:noFill/>
        </p:spPr>
        <p:txBody>
          <a:bodyPr wrap="square" lIns="0" rIns="0" tIns="0" bIns="0" anchor="ctr"/>
          <a:lstStyle/>
          <a:p>
            <a:pPr algn="l">
              <a:defRPr sz="1100" b="0" i="0">
                <a:solidFill>
                  <a:srgbClr val="2D2D2D"/>
                </a:solidFill>
                <a:latin typeface="Fidelity Sans"/>
              </a:defRPr>
            </a:pPr>
            <a:r>
              <a:t>Avg Script Length</a:t>
            </a:r>
          </a:p>
        </p:txBody>
      </p:sp>
      <p:sp>
        <p:nvSpPr>
          <p:cNvPr id="18" name="Rectangle 17"/>
          <p:cNvSpPr/>
          <p:nvPr/>
        </p:nvSpPr>
        <p:spPr>
          <a:xfrm>
            <a:off x="3200400" y="1828800"/>
            <a:ext cx="2743200" cy="45720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10128" y="1828800"/>
            <a:ext cx="2523744" cy="457200"/>
          </a:xfrm>
          <a:prstGeom prst="rect">
            <a:avLst/>
          </a:prstGeom>
          <a:noFill/>
        </p:spPr>
        <p:txBody>
          <a:bodyPr wrap="square" lIns="0" rIns="0" tIns="0" bIns="0" anchor="ctr"/>
          <a:lstStyle/>
          <a:p>
            <a:pPr algn="l">
              <a:defRPr sz="1100" b="1" i="0">
                <a:solidFill>
                  <a:srgbClr val="044014"/>
                </a:solidFill>
                <a:latin typeface="Fidelity Sans"/>
              </a:defRPr>
            </a:pPr>
            <a:r>
              <a:t>75-80 pages</a:t>
            </a:r>
          </a:p>
        </p:txBody>
      </p:sp>
      <p:sp>
        <p:nvSpPr>
          <p:cNvPr id="20" name="Rectangle 19"/>
          <p:cNvSpPr/>
          <p:nvPr/>
        </p:nvSpPr>
        <p:spPr>
          <a:xfrm>
            <a:off x="5943600" y="1828800"/>
            <a:ext cx="2743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1828800"/>
            <a:ext cx="2523744" cy="457200"/>
          </a:xfrm>
          <a:prstGeom prst="rect">
            <a:avLst/>
          </a:prstGeom>
          <a:noFill/>
        </p:spPr>
        <p:txBody>
          <a:bodyPr wrap="square" lIns="0" rIns="0" tIns="0" bIns="0" anchor="ctr"/>
          <a:lstStyle/>
          <a:p>
            <a:pPr algn="l">
              <a:defRPr sz="1100" b="0" i="0">
                <a:solidFill>
                  <a:srgbClr val="2D2D2D"/>
                </a:solidFill>
                <a:latin typeface="Fidelity Sans"/>
              </a:defRPr>
            </a:pPr>
            <a:r>
              <a:t>Standard TV: 45-50 pages</a:t>
            </a:r>
          </a:p>
        </p:txBody>
      </p:sp>
      <p:sp>
        <p:nvSpPr>
          <p:cNvPr id="22" name="Rectangle 21"/>
          <p:cNvSpPr/>
          <p:nvPr/>
        </p:nvSpPr>
        <p:spPr>
          <a:xfrm>
            <a:off x="457200" y="2286000"/>
            <a:ext cx="2743200" cy="457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2286000"/>
            <a:ext cx="2523744" cy="457200"/>
          </a:xfrm>
          <a:prstGeom prst="rect">
            <a:avLst/>
          </a:prstGeom>
          <a:noFill/>
        </p:spPr>
        <p:txBody>
          <a:bodyPr wrap="square" lIns="0" rIns="0" tIns="0" bIns="0" anchor="ctr"/>
          <a:lstStyle/>
          <a:p>
            <a:pPr algn="l">
              <a:defRPr sz="1100" b="0" i="0">
                <a:solidFill>
                  <a:srgbClr val="2D2D2D"/>
                </a:solidFill>
                <a:latin typeface="Fidelity Sans"/>
              </a:defRPr>
            </a:pPr>
            <a:r>
              <a:t>Dialogue Speed</a:t>
            </a:r>
          </a:p>
        </p:txBody>
      </p:sp>
      <p:sp>
        <p:nvSpPr>
          <p:cNvPr id="24" name="Rectangle 23"/>
          <p:cNvSpPr/>
          <p:nvPr/>
        </p:nvSpPr>
        <p:spPr>
          <a:xfrm>
            <a:off x="3200400" y="2286000"/>
            <a:ext cx="2743200" cy="45720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10128" y="2286000"/>
            <a:ext cx="2523744" cy="457200"/>
          </a:xfrm>
          <a:prstGeom prst="rect">
            <a:avLst/>
          </a:prstGeom>
          <a:noFill/>
        </p:spPr>
        <p:txBody>
          <a:bodyPr wrap="square" lIns="0" rIns="0" tIns="0" bIns="0" anchor="ctr"/>
          <a:lstStyle/>
          <a:p>
            <a:pPr algn="l">
              <a:defRPr sz="1100" b="1" i="0">
                <a:solidFill>
                  <a:srgbClr val="044014"/>
                </a:solidFill>
                <a:latin typeface="Fidelity Sans"/>
              </a:defRPr>
            </a:pPr>
            <a:r>
              <a:t>~300 wpm</a:t>
            </a:r>
          </a:p>
        </p:txBody>
      </p:sp>
      <p:sp>
        <p:nvSpPr>
          <p:cNvPr id="26" name="Rectangle 25"/>
          <p:cNvSpPr/>
          <p:nvPr/>
        </p:nvSpPr>
        <p:spPr>
          <a:xfrm>
            <a:off x="5943600" y="2286000"/>
            <a:ext cx="2743200" cy="457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53328" y="2286000"/>
            <a:ext cx="2523744" cy="457200"/>
          </a:xfrm>
          <a:prstGeom prst="rect">
            <a:avLst/>
          </a:prstGeom>
          <a:noFill/>
        </p:spPr>
        <p:txBody>
          <a:bodyPr wrap="square" lIns="0" rIns="0" tIns="0" bIns="0" anchor="ctr"/>
          <a:lstStyle/>
          <a:p>
            <a:pPr algn="l">
              <a:defRPr sz="1100" b="0" i="0">
                <a:solidFill>
                  <a:srgbClr val="2D2D2D"/>
                </a:solidFill>
                <a:latin typeface="Fidelity Sans"/>
              </a:defRPr>
            </a:pPr>
            <a:r>
              <a:t>TV average: ~120 wpm</a:t>
            </a:r>
          </a:p>
        </p:txBody>
      </p:sp>
      <p:sp>
        <p:nvSpPr>
          <p:cNvPr id="28" name="Rectangle 27"/>
          <p:cNvSpPr/>
          <p:nvPr/>
        </p:nvSpPr>
        <p:spPr>
          <a:xfrm>
            <a:off x="457200" y="2743200"/>
            <a:ext cx="2743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2743200"/>
            <a:ext cx="2523744" cy="457200"/>
          </a:xfrm>
          <a:prstGeom prst="rect">
            <a:avLst/>
          </a:prstGeom>
          <a:noFill/>
        </p:spPr>
        <p:txBody>
          <a:bodyPr wrap="square" lIns="0" rIns="0" tIns="0" bIns="0" anchor="ctr"/>
          <a:lstStyle/>
          <a:p>
            <a:pPr algn="l">
              <a:defRPr sz="1100" b="0" i="0">
                <a:solidFill>
                  <a:srgbClr val="2D2D2D"/>
                </a:solidFill>
                <a:latin typeface="Fidelity Sans"/>
              </a:defRPr>
            </a:pPr>
            <a:r>
              <a:t>Recurring Characters</a:t>
            </a:r>
          </a:p>
        </p:txBody>
      </p:sp>
      <p:sp>
        <p:nvSpPr>
          <p:cNvPr id="30" name="Rectangle 29"/>
          <p:cNvSpPr/>
          <p:nvPr/>
        </p:nvSpPr>
        <p:spPr>
          <a:xfrm>
            <a:off x="3200400" y="2743200"/>
            <a:ext cx="2743200" cy="45720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10128" y="2743200"/>
            <a:ext cx="2523744" cy="457200"/>
          </a:xfrm>
          <a:prstGeom prst="rect">
            <a:avLst/>
          </a:prstGeom>
          <a:noFill/>
        </p:spPr>
        <p:txBody>
          <a:bodyPr wrap="square" lIns="0" rIns="0" tIns="0" bIns="0" anchor="ctr"/>
          <a:lstStyle/>
          <a:p>
            <a:pPr algn="l">
              <a:defRPr sz="1100" b="1" i="0">
                <a:solidFill>
                  <a:srgbClr val="044014"/>
                </a:solidFill>
                <a:latin typeface="Fidelity Sans"/>
              </a:defRPr>
            </a:pPr>
            <a:r>
              <a:t>50+</a:t>
            </a:r>
          </a:p>
        </p:txBody>
      </p:sp>
      <p:sp>
        <p:nvSpPr>
          <p:cNvPr id="32" name="Rectangle 31"/>
          <p:cNvSpPr/>
          <p:nvPr/>
        </p:nvSpPr>
        <p:spPr>
          <a:xfrm>
            <a:off x="5943600" y="2743200"/>
            <a:ext cx="2743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053328" y="2743200"/>
            <a:ext cx="2523744" cy="457200"/>
          </a:xfrm>
          <a:prstGeom prst="rect">
            <a:avLst/>
          </a:prstGeom>
          <a:noFill/>
        </p:spPr>
        <p:txBody>
          <a:bodyPr wrap="square" lIns="0" rIns="0" tIns="0" bIns="0" anchor="ctr"/>
          <a:lstStyle/>
          <a:p>
            <a:pPr algn="l">
              <a:defRPr sz="1100" b="0" i="0">
                <a:solidFill>
                  <a:srgbClr val="2D2D2D"/>
                </a:solidFill>
                <a:latin typeface="Fidelity Sans"/>
              </a:defRPr>
            </a:pPr>
            <a:r>
              <a:t>Named characters with arcs</a:t>
            </a:r>
          </a:p>
        </p:txBody>
      </p:sp>
      <p:sp>
        <p:nvSpPr>
          <p:cNvPr id="34" name="Rectangle 33"/>
          <p:cNvSpPr/>
          <p:nvPr/>
        </p:nvSpPr>
        <p:spPr>
          <a:xfrm>
            <a:off x="457200" y="3200400"/>
            <a:ext cx="2743200" cy="457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6928" y="3200400"/>
            <a:ext cx="2523744" cy="457200"/>
          </a:xfrm>
          <a:prstGeom prst="rect">
            <a:avLst/>
          </a:prstGeom>
          <a:noFill/>
        </p:spPr>
        <p:txBody>
          <a:bodyPr wrap="square" lIns="0" rIns="0" tIns="0" bIns="0" anchor="ctr"/>
          <a:lstStyle/>
          <a:p>
            <a:pPr algn="l">
              <a:defRPr sz="1100" b="0" i="0">
                <a:solidFill>
                  <a:srgbClr val="2D2D2D"/>
                </a:solidFill>
                <a:latin typeface="Fidelity Sans"/>
              </a:defRPr>
            </a:pPr>
            <a:r>
              <a:t>Pop Culture Refs/Ep</a:t>
            </a:r>
          </a:p>
        </p:txBody>
      </p:sp>
      <p:sp>
        <p:nvSpPr>
          <p:cNvPr id="36" name="Rectangle 35"/>
          <p:cNvSpPr/>
          <p:nvPr/>
        </p:nvSpPr>
        <p:spPr>
          <a:xfrm>
            <a:off x="3200400" y="3200400"/>
            <a:ext cx="2743200" cy="45720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10128" y="3200400"/>
            <a:ext cx="2523744" cy="457200"/>
          </a:xfrm>
          <a:prstGeom prst="rect">
            <a:avLst/>
          </a:prstGeom>
          <a:noFill/>
        </p:spPr>
        <p:txBody>
          <a:bodyPr wrap="square" lIns="0" rIns="0" tIns="0" bIns="0" anchor="ctr"/>
          <a:lstStyle/>
          <a:p>
            <a:pPr algn="l">
              <a:defRPr sz="1100" b="1" i="0">
                <a:solidFill>
                  <a:srgbClr val="044014"/>
                </a:solidFill>
                <a:latin typeface="Fidelity Sans"/>
              </a:defRPr>
            </a:pPr>
            <a:r>
              <a:t>~30</a:t>
            </a:r>
          </a:p>
        </p:txBody>
      </p:sp>
      <p:sp>
        <p:nvSpPr>
          <p:cNvPr id="38" name="Rectangle 37"/>
          <p:cNvSpPr/>
          <p:nvPr/>
        </p:nvSpPr>
        <p:spPr>
          <a:xfrm>
            <a:off x="5943600" y="3200400"/>
            <a:ext cx="2743200" cy="4572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53328" y="3200400"/>
            <a:ext cx="2523744" cy="457200"/>
          </a:xfrm>
          <a:prstGeom prst="rect">
            <a:avLst/>
          </a:prstGeom>
          <a:noFill/>
        </p:spPr>
        <p:txBody>
          <a:bodyPr wrap="square" lIns="0" rIns="0" tIns="0" bIns="0" anchor="ctr"/>
          <a:lstStyle/>
          <a:p>
            <a:pPr algn="l">
              <a:defRPr sz="1100" b="0" i="0">
                <a:solidFill>
                  <a:srgbClr val="2D2D2D"/>
                </a:solidFill>
                <a:latin typeface="Fidelity Sans"/>
              </a:defRPr>
            </a:pPr>
            <a:r>
              <a:t>Verified by fan databases</a:t>
            </a:r>
          </a:p>
        </p:txBody>
      </p:sp>
      <p:sp>
        <p:nvSpPr>
          <p:cNvPr id="40" name="Rectangle 39"/>
          <p:cNvSpPr/>
          <p:nvPr/>
        </p:nvSpPr>
        <p:spPr>
          <a:xfrm>
            <a:off x="457200" y="3657600"/>
            <a:ext cx="2743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6928" y="3657600"/>
            <a:ext cx="2523744" cy="457200"/>
          </a:xfrm>
          <a:prstGeom prst="rect">
            <a:avLst/>
          </a:prstGeom>
          <a:noFill/>
        </p:spPr>
        <p:txBody>
          <a:bodyPr wrap="square" lIns="0" rIns="0" tIns="0" bIns="0" anchor="ctr"/>
          <a:lstStyle/>
          <a:p>
            <a:pPr algn="l">
              <a:defRPr sz="1100" b="0" i="0">
                <a:solidFill>
                  <a:srgbClr val="2D2D2D"/>
                </a:solidFill>
                <a:latin typeface="Fidelity Sans"/>
              </a:defRPr>
            </a:pPr>
            <a:r>
              <a:t>Friday Dinners</a:t>
            </a:r>
          </a:p>
        </p:txBody>
      </p:sp>
      <p:sp>
        <p:nvSpPr>
          <p:cNvPr id="42" name="Rectangle 41"/>
          <p:cNvSpPr/>
          <p:nvPr/>
        </p:nvSpPr>
        <p:spPr>
          <a:xfrm>
            <a:off x="3200400" y="3657600"/>
            <a:ext cx="2743200" cy="45720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10128" y="3657600"/>
            <a:ext cx="2523744" cy="457200"/>
          </a:xfrm>
          <a:prstGeom prst="rect">
            <a:avLst/>
          </a:prstGeom>
          <a:noFill/>
        </p:spPr>
        <p:txBody>
          <a:bodyPr wrap="square" lIns="0" rIns="0" tIns="0" bIns="0" anchor="ctr"/>
          <a:lstStyle/>
          <a:p>
            <a:pPr algn="l">
              <a:defRPr sz="1100" b="1" i="0">
                <a:solidFill>
                  <a:srgbClr val="044014"/>
                </a:solidFill>
                <a:latin typeface="Fidelity Sans"/>
              </a:defRPr>
            </a:pPr>
            <a:r>
              <a:t>~100</a:t>
            </a:r>
          </a:p>
        </p:txBody>
      </p:sp>
      <p:sp>
        <p:nvSpPr>
          <p:cNvPr id="44" name="Rectangle 43"/>
          <p:cNvSpPr/>
          <p:nvPr/>
        </p:nvSpPr>
        <p:spPr>
          <a:xfrm>
            <a:off x="5943600" y="3657600"/>
            <a:ext cx="2743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053328" y="3657600"/>
            <a:ext cx="2523744" cy="457200"/>
          </a:xfrm>
          <a:prstGeom prst="rect">
            <a:avLst/>
          </a:prstGeom>
          <a:noFill/>
        </p:spPr>
        <p:txBody>
          <a:bodyPr wrap="square" lIns="0" rIns="0" tIns="0" bIns="0" anchor="ctr"/>
          <a:lstStyle/>
          <a:p>
            <a:pPr algn="l">
              <a:defRPr sz="1100" b="0" i="0">
                <a:solidFill>
                  <a:srgbClr val="2D2D2D"/>
                </a:solidFill>
                <a:latin typeface="Fidelity Sans"/>
              </a:defRPr>
            </a:pPr>
            <a:r>
              <a:t>Central structural device</a:t>
            </a:r>
          </a:p>
        </p:txBody>
      </p:sp>
      <p:sp>
        <p:nvSpPr>
          <p:cNvPr id="46" name="Rectangle 45"/>
          <p:cNvSpPr/>
          <p:nvPr/>
        </p:nvSpPr>
        <p:spPr>
          <a:xfrm>
            <a:off x="457200" y="4114800"/>
            <a:ext cx="8229600" cy="12700"/>
          </a:xfrm>
          <a:prstGeom prst="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 y="4251960"/>
            <a:ext cx="7315200" cy="274320"/>
          </a:xfrm>
          <a:prstGeom prst="rect">
            <a:avLst/>
          </a:prstGeom>
          <a:noFill/>
        </p:spPr>
        <p:txBody>
          <a:bodyPr wrap="square" lIns="0" rIns="0" tIns="0" bIns="0" anchor="t"/>
          <a:lstStyle/>
          <a:p>
            <a:pPr algn="l">
              <a:defRPr sz="800" b="0" i="1">
                <a:solidFill>
                  <a:srgbClr val="999999"/>
                </a:solidFill>
                <a:latin typeface="Fidelity Sans"/>
              </a:defRPr>
            </a:pPr>
            <a:r>
              <a:t>Sources: Vanity Fair, The Gilmore Girls Companion, fan wikis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502920"/>
          </a:xfrm>
          <a:prstGeom prst="rect">
            <a:avLst/>
          </a:prstGeom>
          <a:noFill/>
        </p:spPr>
        <p:txBody>
          <a:bodyPr wrap="square" lIns="0" rIns="0" tIns="0" bIns="0" anchor="t"/>
          <a:lstStyle/>
          <a:p>
            <a:pPr algn="l">
              <a:defRPr sz="2200" b="1" i="0">
                <a:solidFill>
                  <a:srgbClr val="1A1A1A"/>
                </a:solidFill>
                <a:latin typeface="Fidelity Slab"/>
              </a:defRPr>
            </a:pPr>
            <a:r>
              <a:t>Key Takeaways for Storytellers</a:t>
            </a:r>
          </a:p>
        </p:txBody>
      </p:sp>
      <p:sp>
        <p:nvSpPr>
          <p:cNvPr id="4" name="TextBox 3"/>
          <p:cNvSpPr txBox="1"/>
          <p:nvPr/>
        </p:nvSpPr>
        <p:spPr>
          <a:xfrm>
            <a:off x="457200" y="731520"/>
            <a:ext cx="7315200" cy="274320"/>
          </a:xfrm>
          <a:prstGeom prst="rect">
            <a:avLst/>
          </a:prstGeom>
          <a:noFill/>
        </p:spPr>
        <p:txBody>
          <a:bodyPr wrap="square" lIns="0" rIns="0" tIns="0" bIns="0" anchor="t"/>
          <a:lstStyle/>
          <a:p>
            <a:pPr algn="l">
              <a:defRPr sz="1200" b="0" i="1">
                <a:solidFill>
                  <a:srgbClr val="666666"/>
                </a:solidFill>
                <a:latin typeface="Fidelity Sans"/>
              </a:defRPr>
            </a:pPr>
            <a:r>
              <a:t>Seven Lessons from Stars Hollow</a:t>
            </a:r>
          </a:p>
        </p:txBody>
      </p:sp>
      <p:sp>
        <p:nvSpPr>
          <p:cNvPr id="5" name="Rectangle 4"/>
          <p:cNvSpPr/>
          <p:nvPr/>
        </p:nvSpPr>
        <p:spPr>
          <a:xfrm>
            <a:off x="457200" y="1143000"/>
            <a:ext cx="2621280" cy="22860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143000"/>
            <a:ext cx="2621280" cy="4572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80160"/>
            <a:ext cx="2346960" cy="365760"/>
          </a:xfrm>
          <a:prstGeom prst="rect">
            <a:avLst/>
          </a:prstGeom>
          <a:noFill/>
        </p:spPr>
        <p:txBody>
          <a:bodyPr wrap="square" lIns="0" rIns="0" tIns="0" bIns="0" anchor="t"/>
          <a:lstStyle/>
          <a:p>
            <a:pPr algn="l">
              <a:defRPr sz="1400" b="1" i="0">
                <a:solidFill>
                  <a:srgbClr val="044014"/>
                </a:solidFill>
                <a:latin typeface="Fidelity Slab"/>
              </a:defRPr>
              <a:lnSpc>
                <a:spcPts val="1700"/>
              </a:lnSpc>
            </a:pPr>
            <a:r>
              <a:t>Pace &gt; Plot</a:t>
            </a:r>
          </a:p>
        </p:txBody>
      </p:sp>
      <p:sp>
        <p:nvSpPr>
          <p:cNvPr id="8" name="Rectangle 7"/>
          <p:cNvSpPr/>
          <p:nvPr/>
        </p:nvSpPr>
        <p:spPr>
          <a:xfrm>
            <a:off x="594360" y="1783080"/>
            <a:ext cx="54864" cy="54864"/>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737360"/>
            <a:ext cx="2209800" cy="411480"/>
          </a:xfrm>
          <a:prstGeom prst="rect">
            <a:avLst/>
          </a:prstGeom>
          <a:noFill/>
        </p:spPr>
        <p:txBody>
          <a:bodyPr wrap="square" lIns="0" rIns="0" tIns="0" bIns="0" anchor="t"/>
          <a:lstStyle/>
          <a:p>
            <a:pPr algn="l">
              <a:defRPr sz="1100" b="0" i="0">
                <a:solidFill>
                  <a:srgbClr val="2D2D2D"/>
                </a:solidFill>
                <a:latin typeface="Fidelity Sans"/>
              </a:defRPr>
              <a:lnSpc>
                <a:spcPts val="1400"/>
              </a:lnSpc>
            </a:pPr>
            <a:r>
              <a:t>Rhythm and velocity can compensate for thin plot if the character work is strong</a:t>
            </a:r>
          </a:p>
        </p:txBody>
      </p:sp>
      <p:sp>
        <p:nvSpPr>
          <p:cNvPr id="10" name="Rectangle 9"/>
          <p:cNvSpPr/>
          <p:nvPr/>
        </p:nvSpPr>
        <p:spPr>
          <a:xfrm>
            <a:off x="3261360" y="1143000"/>
            <a:ext cx="2621280" cy="22860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61360" y="1143000"/>
            <a:ext cx="2621280" cy="4572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8520" y="1280160"/>
            <a:ext cx="2346960" cy="365760"/>
          </a:xfrm>
          <a:prstGeom prst="rect">
            <a:avLst/>
          </a:prstGeom>
          <a:noFill/>
        </p:spPr>
        <p:txBody>
          <a:bodyPr wrap="square" lIns="0" rIns="0" tIns="0" bIns="0" anchor="t"/>
          <a:lstStyle/>
          <a:p>
            <a:pPr algn="l">
              <a:defRPr sz="1400" b="1" i="0">
                <a:solidFill>
                  <a:srgbClr val="04547C"/>
                </a:solidFill>
                <a:latin typeface="Fidelity Slab"/>
              </a:defRPr>
              <a:lnSpc>
                <a:spcPts val="1700"/>
              </a:lnSpc>
            </a:pPr>
            <a:r>
              <a:t>Build Recurring Structures</a:t>
            </a:r>
          </a:p>
        </p:txBody>
      </p:sp>
      <p:sp>
        <p:nvSpPr>
          <p:cNvPr id="13" name="Rectangle 12"/>
          <p:cNvSpPr/>
          <p:nvPr/>
        </p:nvSpPr>
        <p:spPr>
          <a:xfrm>
            <a:off x="3398520" y="1783080"/>
            <a:ext cx="54864" cy="54864"/>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35680" y="1737360"/>
            <a:ext cx="2209800" cy="411480"/>
          </a:xfrm>
          <a:prstGeom prst="rect">
            <a:avLst/>
          </a:prstGeom>
          <a:noFill/>
        </p:spPr>
        <p:txBody>
          <a:bodyPr wrap="square" lIns="0" rIns="0" tIns="0" bIns="0" anchor="t"/>
          <a:lstStyle/>
          <a:p>
            <a:pPr algn="l">
              <a:defRPr sz="1100" b="0" i="0">
                <a:solidFill>
                  <a:srgbClr val="2D2D2D"/>
                </a:solidFill>
                <a:latin typeface="Fidelity Sans"/>
              </a:defRPr>
              <a:lnSpc>
                <a:spcPts val="1400"/>
              </a:lnSpc>
            </a:pPr>
            <a:r>
              <a:t>Friday dinners, town meetings, and Luke's Diner aren't repetitive — they're load-bearing</a:t>
            </a:r>
          </a:p>
        </p:txBody>
      </p:sp>
      <p:sp>
        <p:nvSpPr>
          <p:cNvPr id="15" name="Rectangle 14"/>
          <p:cNvSpPr/>
          <p:nvPr/>
        </p:nvSpPr>
        <p:spPr>
          <a:xfrm>
            <a:off x="6065520" y="1143000"/>
            <a:ext cx="2621280" cy="228600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65520" y="1143000"/>
            <a:ext cx="2621280" cy="45720"/>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02680" y="1280160"/>
            <a:ext cx="2346960" cy="365760"/>
          </a:xfrm>
          <a:prstGeom prst="rect">
            <a:avLst/>
          </a:prstGeom>
          <a:noFill/>
        </p:spPr>
        <p:txBody>
          <a:bodyPr wrap="square" lIns="0" rIns="0" tIns="0" bIns="0" anchor="t"/>
          <a:lstStyle/>
          <a:p>
            <a:pPr algn="l">
              <a:defRPr sz="1400" b="1" i="0">
                <a:solidFill>
                  <a:srgbClr val="5B2C8F"/>
                </a:solidFill>
                <a:latin typeface="Fidelity Slab"/>
              </a:defRPr>
              <a:lnSpc>
                <a:spcPts val="1700"/>
              </a:lnSpc>
            </a:pPr>
            <a:r>
              <a:t>Trust Your Audience</a:t>
            </a:r>
          </a:p>
        </p:txBody>
      </p:sp>
      <p:sp>
        <p:nvSpPr>
          <p:cNvPr id="18" name="Rectangle 17"/>
          <p:cNvSpPr/>
          <p:nvPr/>
        </p:nvSpPr>
        <p:spPr>
          <a:xfrm>
            <a:off x="6202680" y="1783080"/>
            <a:ext cx="54864" cy="54864"/>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39840" y="1737360"/>
            <a:ext cx="2209800" cy="411480"/>
          </a:xfrm>
          <a:prstGeom prst="rect">
            <a:avLst/>
          </a:prstGeom>
          <a:noFill/>
        </p:spPr>
        <p:txBody>
          <a:bodyPr wrap="square" lIns="0" rIns="0" tIns="0" bIns="0" anchor="t"/>
          <a:lstStyle/>
          <a:p>
            <a:pPr algn="l">
              <a:defRPr sz="1100" b="0" i="0">
                <a:solidFill>
                  <a:srgbClr val="2D2D2D"/>
                </a:solidFill>
                <a:latin typeface="Fidelity Sans"/>
              </a:defRPr>
              <a:lnSpc>
                <a:spcPts val="1400"/>
              </a:lnSpc>
            </a:pPr>
            <a:r>
              <a:t>Don't explain the reference. The ones who get it feel like insiders.</a:t>
            </a:r>
          </a:p>
        </p:txBody>
      </p:sp>
      <p:sp>
        <p:nvSpPr>
          <p:cNvPr id="20" name="Rectangle 19"/>
          <p:cNvSpPr/>
          <p:nvPr/>
        </p:nvSpPr>
        <p:spPr>
          <a:xfrm>
            <a:off x="274320" y="3703320"/>
            <a:ext cx="8595360" cy="109728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74320" y="3703320"/>
            <a:ext cx="36576" cy="109728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776472"/>
            <a:ext cx="2743200" cy="182880"/>
          </a:xfrm>
          <a:prstGeom prst="rect">
            <a:avLst/>
          </a:prstGeom>
          <a:noFill/>
        </p:spPr>
        <p:txBody>
          <a:bodyPr wrap="square" lIns="0" rIns="0" tIns="0" bIns="0" anchor="t"/>
          <a:lstStyle/>
          <a:p>
            <a:pPr algn="l">
              <a:defRPr sz="800" b="1" i="0">
                <a:solidFill>
                  <a:srgbClr val="999999"/>
                </a:solidFill>
                <a:latin typeface="Fidelity Sans"/>
              </a:defRPr>
            </a:pPr>
            <a:r>
              <a:t>KEY TAKEAWAYS</a:t>
            </a:r>
          </a:p>
        </p:txBody>
      </p:sp>
      <p:sp>
        <p:nvSpPr>
          <p:cNvPr id="23" name="TextBox 22"/>
          <p:cNvSpPr txBox="1"/>
          <p:nvPr/>
        </p:nvSpPr>
        <p:spPr>
          <a:xfrm>
            <a:off x="457200" y="3995928"/>
            <a:ext cx="7772400" cy="182880"/>
          </a:xfrm>
          <a:prstGeom prst="rect">
            <a:avLst/>
          </a:prstGeom>
          <a:noFill/>
        </p:spPr>
        <p:txBody>
          <a:bodyPr wrap="square" lIns="0" rIns="0" tIns="0" bIns="0" anchor="t"/>
          <a:lstStyle/>
          <a:p>
            <a:pPr algn="l">
              <a:defRPr sz="900" b="0" i="0">
                <a:solidFill>
                  <a:srgbClr val="999999"/>
                </a:solidFill>
                <a:latin typeface="Fidelity Sans"/>
              </a:defRPr>
              <a:lnSpc>
                <a:spcPts val="1100"/>
              </a:lnSpc>
            </a:pPr>
            <a:r>
              <a:t>1.  Constraint creates drama — the best scenes happen when characters c...</a:t>
            </a:r>
          </a:p>
        </p:txBody>
      </p:sp>
      <p:sp>
        <p:nvSpPr>
          <p:cNvPr id="24" name="TextBox 23"/>
          <p:cNvSpPr txBox="1"/>
          <p:nvPr/>
        </p:nvSpPr>
        <p:spPr>
          <a:xfrm>
            <a:off x="457200" y="4178808"/>
            <a:ext cx="7772400" cy="182880"/>
          </a:xfrm>
          <a:prstGeom prst="rect">
            <a:avLst/>
          </a:prstGeom>
          <a:noFill/>
        </p:spPr>
        <p:txBody>
          <a:bodyPr wrap="square" lIns="0" rIns="0" tIns="0" bIns="0" anchor="t"/>
          <a:lstStyle/>
          <a:p>
            <a:pPr algn="l">
              <a:defRPr sz="900" b="0" i="0">
                <a:solidFill>
                  <a:srgbClr val="999999"/>
                </a:solidFill>
                <a:latin typeface="Fidelity Sans"/>
              </a:defRPr>
              <a:lnSpc>
                <a:spcPts val="1100"/>
              </a:lnSpc>
            </a:pPr>
            <a:r>
              <a:t>2.  Your antagonist should be partially right</a:t>
            </a:r>
          </a:p>
        </p:txBody>
      </p:sp>
      <p:sp>
        <p:nvSpPr>
          <p:cNvPr id="25" name="TextBox 24"/>
          <p:cNvSpPr txBox="1"/>
          <p:nvPr/>
        </p:nvSpPr>
        <p:spPr>
          <a:xfrm>
            <a:off x="457200" y="4361688"/>
            <a:ext cx="7772400" cy="182880"/>
          </a:xfrm>
          <a:prstGeom prst="rect">
            <a:avLst/>
          </a:prstGeom>
          <a:noFill/>
        </p:spPr>
        <p:txBody>
          <a:bodyPr wrap="square" lIns="0" rIns="0" tIns="0" bIns="0" anchor="t"/>
          <a:lstStyle/>
          <a:p>
            <a:pPr algn="l">
              <a:defRPr sz="900" b="0" i="0">
                <a:solidFill>
                  <a:srgbClr val="999999"/>
                </a:solidFill>
                <a:latin typeface="Fidelity Sans"/>
              </a:defRPr>
              <a:lnSpc>
                <a:spcPts val="1100"/>
              </a:lnSpc>
            </a:pPr>
            <a:r>
              <a:t>3.  Ensemble isn't decoration — every recurring character should serve ...</a:t>
            </a:r>
          </a:p>
        </p:txBody>
      </p:sp>
      <p:sp>
        <p:nvSpPr>
          <p:cNvPr id="26" name="TextBox 25"/>
          <p:cNvSpPr txBox="1"/>
          <p:nvPr/>
        </p:nvSpPr>
        <p:spPr>
          <a:xfrm>
            <a:off x="457200" y="4544568"/>
            <a:ext cx="7772400" cy="182880"/>
          </a:xfrm>
          <a:prstGeom prst="rect">
            <a:avLst/>
          </a:prstGeom>
          <a:noFill/>
        </p:spPr>
        <p:txBody>
          <a:bodyPr wrap="square" lIns="0" rIns="0" tIns="0" bIns="0" anchor="t"/>
          <a:lstStyle/>
          <a:p>
            <a:pPr algn="l">
              <a:defRPr sz="900" b="0" i="0">
                <a:solidFill>
                  <a:srgbClr val="999999"/>
                </a:solidFill>
                <a:latin typeface="Fidelity Sans"/>
              </a:defRPr>
              <a:lnSpc>
                <a:spcPts val="1100"/>
              </a:lnSpc>
            </a:pPr>
            <a:r>
              <a:t>4.  Know your ending, but hold it loosely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7315200" cy="502920"/>
          </a:xfrm>
          <a:prstGeom prst="rect">
            <a:avLst/>
          </a:prstGeom>
          <a:noFill/>
        </p:spPr>
        <p:txBody>
          <a:bodyPr wrap="square" lIns="0" rIns="0" tIns="0" bIns="0" anchor="t"/>
          <a:lstStyle/>
          <a:p>
            <a:pPr algn="l">
              <a:defRPr sz="2200" b="1" i="0">
                <a:solidFill>
                  <a:srgbClr val="1A1A1A"/>
                </a:solidFill>
                <a:latin typeface="Fidelity Slab"/>
              </a:defRPr>
            </a:pPr>
            <a:r>
              <a:t>Key Takeaways for Storytellers</a:t>
            </a:r>
          </a:p>
        </p:txBody>
      </p:sp>
      <p:sp>
        <p:nvSpPr>
          <p:cNvPr id="4" name="Rectangle 3"/>
          <p:cNvSpPr/>
          <p:nvPr/>
        </p:nvSpPr>
        <p:spPr>
          <a:xfrm>
            <a:off x="274320" y="868680"/>
            <a:ext cx="8595360" cy="822960"/>
          </a:xfrm>
          <a:prstGeom prst="rect">
            <a:avLst/>
          </a:prstGeom>
          <a:solidFill>
            <a:srgbClr val="F7F6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868680"/>
            <a:ext cx="36576" cy="82296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868680"/>
            <a:ext cx="2468880" cy="822960"/>
          </a:xfrm>
          <a:prstGeom prst="rect">
            <a:avLst/>
          </a:prstGeom>
          <a:noFill/>
        </p:spPr>
        <p:txBody>
          <a:bodyPr wrap="square" lIns="0" rIns="0" tIns="0" bIns="0" anchor="ctr"/>
          <a:lstStyle/>
          <a:p>
            <a:pPr algn="l">
              <a:defRPr sz="1000" b="1" i="0">
                <a:solidFill>
                  <a:srgbClr val="999999"/>
                </a:solidFill>
                <a:latin typeface="Fidelity Sans"/>
              </a:defRPr>
            </a:pPr>
            <a:r>
              <a:t>Pace &gt; Plot</a:t>
            </a:r>
          </a:p>
        </p:txBody>
      </p:sp>
      <p:sp>
        <p:nvSpPr>
          <p:cNvPr id="7" name="Rectangle 6"/>
          <p:cNvSpPr/>
          <p:nvPr/>
        </p:nvSpPr>
        <p:spPr>
          <a:xfrm>
            <a:off x="3246120" y="868680"/>
            <a:ext cx="36576" cy="82296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868680"/>
            <a:ext cx="2468880" cy="822960"/>
          </a:xfrm>
          <a:prstGeom prst="rect">
            <a:avLst/>
          </a:prstGeom>
          <a:noFill/>
        </p:spPr>
        <p:txBody>
          <a:bodyPr wrap="square" lIns="0" rIns="0" tIns="0" bIns="0" anchor="ctr"/>
          <a:lstStyle/>
          <a:p>
            <a:pPr algn="l">
              <a:defRPr sz="1000" b="1" i="0">
                <a:solidFill>
                  <a:srgbClr val="999999"/>
                </a:solidFill>
                <a:latin typeface="Fidelity Sans"/>
              </a:defRPr>
            </a:pPr>
            <a:r>
              <a:t>Build Recurring Structures</a:t>
            </a:r>
          </a:p>
        </p:txBody>
      </p:sp>
      <p:sp>
        <p:nvSpPr>
          <p:cNvPr id="9" name="Rectangle 8"/>
          <p:cNvSpPr/>
          <p:nvPr/>
        </p:nvSpPr>
        <p:spPr>
          <a:xfrm>
            <a:off x="6035040" y="868680"/>
            <a:ext cx="36576" cy="822960"/>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868680"/>
            <a:ext cx="2468880" cy="822960"/>
          </a:xfrm>
          <a:prstGeom prst="rect">
            <a:avLst/>
          </a:prstGeom>
          <a:noFill/>
        </p:spPr>
        <p:txBody>
          <a:bodyPr wrap="square" lIns="0" rIns="0" tIns="0" bIns="0" anchor="ctr"/>
          <a:lstStyle/>
          <a:p>
            <a:pPr algn="l">
              <a:defRPr sz="1000" b="1" i="0">
                <a:solidFill>
                  <a:srgbClr val="999999"/>
                </a:solidFill>
                <a:latin typeface="Fidelity Sans"/>
              </a:defRPr>
            </a:pPr>
            <a:r>
              <a:t>Trust Your Audience</a:t>
            </a:r>
          </a:p>
        </p:txBody>
      </p:sp>
      <p:sp>
        <p:nvSpPr>
          <p:cNvPr id="11" name="Rectangle 10"/>
          <p:cNvSpPr/>
          <p:nvPr/>
        </p:nvSpPr>
        <p:spPr>
          <a:xfrm>
            <a:off x="274320" y="1920240"/>
            <a:ext cx="8595360" cy="36576"/>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029968"/>
            <a:ext cx="2743200" cy="228600"/>
          </a:xfrm>
          <a:prstGeom prst="rect">
            <a:avLst/>
          </a:prstGeom>
          <a:noFill/>
        </p:spPr>
        <p:txBody>
          <a:bodyPr wrap="square" lIns="0" rIns="0" tIns="0" bIns="0" anchor="t"/>
          <a:lstStyle/>
          <a:p>
            <a:pPr algn="l">
              <a:defRPr sz="900" b="1" i="0">
                <a:solidFill>
                  <a:srgbClr val="044014"/>
                </a:solidFill>
                <a:latin typeface="Fidelity Sans"/>
              </a:defRPr>
            </a:pPr>
            <a:r>
              <a:t>KEY TAKEAWAYS</a:t>
            </a:r>
          </a:p>
        </p:txBody>
      </p:sp>
      <p:sp>
        <p:nvSpPr>
          <p:cNvPr id="13" name="Rectangle 12"/>
          <p:cNvSpPr/>
          <p:nvPr/>
        </p:nvSpPr>
        <p:spPr>
          <a:xfrm>
            <a:off x="457200" y="2286000"/>
            <a:ext cx="4023360" cy="64008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2286000"/>
            <a:ext cx="45720" cy="640080"/>
          </a:xfrm>
          <a:prstGeom prst="rect">
            <a:avLst/>
          </a:prstGeom>
          <a:solidFill>
            <a:srgbClr val="0440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286000"/>
            <a:ext cx="3703320" cy="640080"/>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Constraint creates drama — the best scenes happen when characters can't leave</a:t>
            </a:r>
          </a:p>
        </p:txBody>
      </p:sp>
      <p:sp>
        <p:nvSpPr>
          <p:cNvPr id="16" name="Rectangle 15"/>
          <p:cNvSpPr/>
          <p:nvPr/>
        </p:nvSpPr>
        <p:spPr>
          <a:xfrm>
            <a:off x="4663440" y="2286000"/>
            <a:ext cx="4023360" cy="64008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63440" y="2286000"/>
            <a:ext cx="45720" cy="640080"/>
          </a:xfrm>
          <a:prstGeom prst="rect">
            <a:avLst/>
          </a:prstGeom>
          <a:solidFill>
            <a:srgbClr val="0454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46320" y="2286000"/>
            <a:ext cx="3703320" cy="640080"/>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Your antagonist should be partially right</a:t>
            </a:r>
          </a:p>
        </p:txBody>
      </p:sp>
      <p:sp>
        <p:nvSpPr>
          <p:cNvPr id="19" name="Rectangle 18"/>
          <p:cNvSpPr/>
          <p:nvPr/>
        </p:nvSpPr>
        <p:spPr>
          <a:xfrm>
            <a:off x="457200" y="3035808"/>
            <a:ext cx="4023360" cy="64008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035808"/>
            <a:ext cx="45720" cy="640080"/>
          </a:xfrm>
          <a:prstGeom prst="rect">
            <a:avLst/>
          </a:prstGeom>
          <a:solidFill>
            <a:srgbClr val="5B2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3035808"/>
            <a:ext cx="3703320" cy="640080"/>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Ensemble isn't decoration — every recurring character should serve the story's spine</a:t>
            </a:r>
          </a:p>
        </p:txBody>
      </p:sp>
      <p:sp>
        <p:nvSpPr>
          <p:cNvPr id="22" name="Rectangle 21"/>
          <p:cNvSpPr/>
          <p:nvPr/>
        </p:nvSpPr>
        <p:spPr>
          <a:xfrm>
            <a:off x="4663440" y="3035808"/>
            <a:ext cx="4023360" cy="640080"/>
          </a:xfrm>
          <a:prstGeom prst="rect">
            <a:avLst/>
          </a:prstGeom>
          <a:solidFill>
            <a:srgbClr val="F0ED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63440" y="3035808"/>
            <a:ext cx="45720" cy="64008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3035808"/>
            <a:ext cx="3703320" cy="640080"/>
          </a:xfrm>
          <a:prstGeom prst="rect">
            <a:avLst/>
          </a:prstGeom>
          <a:noFill/>
        </p:spPr>
        <p:txBody>
          <a:bodyPr wrap="square" lIns="0" rIns="0" tIns="0" bIns="0" anchor="ctr"/>
          <a:lstStyle/>
          <a:p>
            <a:pPr algn="l">
              <a:defRPr sz="1200" b="0" i="0">
                <a:solidFill>
                  <a:srgbClr val="2D2D2D"/>
                </a:solidFill>
                <a:latin typeface="Fidelity Sans"/>
              </a:defRPr>
              <a:lnSpc>
                <a:spcPts val="1600"/>
              </a:lnSpc>
            </a:pPr>
            <a:r>
              <a:t>Know your ending, but hold it loosely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182880"/>
            <a:ext cx="7315200" cy="365760"/>
          </a:xfrm>
          <a:prstGeom prst="rect">
            <a:avLst/>
          </a:prstGeom>
          <a:noFill/>
        </p:spPr>
        <p:txBody>
          <a:bodyPr wrap="square" lIns="0" rIns="0" tIns="0" bIns="0" anchor="t"/>
          <a:lstStyle/>
          <a:p>
            <a:pPr algn="l">
              <a:defRPr sz="1800" b="1" i="0">
                <a:solidFill>
                  <a:srgbClr val="999999"/>
                </a:solidFill>
                <a:latin typeface="Fidelity Slab"/>
              </a:defRPr>
            </a:pPr>
            <a:r>
              <a:t>Further Reading &amp; References</a:t>
            </a:r>
          </a:p>
        </p:txBody>
      </p:sp>
      <p:sp>
        <p:nvSpPr>
          <p:cNvPr id="3" name="TextBox 2"/>
          <p:cNvSpPr txBox="1"/>
          <p:nvPr/>
        </p:nvSpPr>
        <p:spPr>
          <a:xfrm>
            <a:off x="457200" y="548640"/>
            <a:ext cx="2743200" cy="228600"/>
          </a:xfrm>
          <a:prstGeom prst="rect">
            <a:avLst/>
          </a:prstGeom>
          <a:noFill/>
        </p:spPr>
        <p:txBody>
          <a:bodyPr wrap="square" lIns="0" rIns="0" tIns="0" bIns="0" anchor="t"/>
          <a:lstStyle/>
          <a:p>
            <a:pPr algn="l">
              <a:defRPr sz="900" b="1" i="0">
                <a:solidFill>
                  <a:srgbClr val="CCCCCC"/>
                </a:solidFill>
                <a:latin typeface="Fidelity Sans"/>
              </a:defRPr>
            </a:pPr>
            <a:r>
              <a:t>Appendix A</a:t>
            </a:r>
          </a:p>
        </p:txBody>
      </p:sp>
      <p:sp>
        <p:nvSpPr>
          <p:cNvPr id="4" name="Rectangle 3"/>
          <p:cNvSpPr/>
          <p:nvPr/>
        </p:nvSpPr>
        <p:spPr>
          <a:xfrm>
            <a:off x="457200" y="822960"/>
            <a:ext cx="18288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05840"/>
            <a:ext cx="1645920" cy="274320"/>
          </a:xfrm>
          <a:prstGeom prst="rect">
            <a:avLst/>
          </a:prstGeom>
          <a:noFill/>
        </p:spPr>
        <p:txBody>
          <a:bodyPr wrap="square" lIns="0" rIns="0" tIns="0" bIns="0" anchor="t"/>
          <a:lstStyle/>
          <a:p>
            <a:pPr algn="l">
              <a:defRPr sz="1000" b="1" i="0">
                <a:solidFill>
                  <a:srgbClr val="999999"/>
                </a:solidFill>
                <a:latin typeface="Fidelity Sans"/>
              </a:defRPr>
            </a:pPr>
            <a:r>
              <a:t>Books</a:t>
            </a:r>
          </a:p>
        </p:txBody>
      </p:sp>
      <p:sp>
        <p:nvSpPr>
          <p:cNvPr id="6" name="Rectangle 5"/>
          <p:cNvSpPr/>
          <p:nvPr/>
        </p:nvSpPr>
        <p:spPr>
          <a:xfrm>
            <a:off x="457200" y="1280160"/>
            <a:ext cx="13716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86000" y="1005840"/>
            <a:ext cx="6400800" cy="914400"/>
          </a:xfrm>
          <a:prstGeom prst="rect">
            <a:avLst/>
          </a:prstGeom>
          <a:noFill/>
        </p:spPr>
        <p:txBody>
          <a:bodyPr wrap="square" lIns="0" rIns="0" tIns="0" bIns="0" anchor="t"/>
          <a:lstStyle/>
          <a:p>
            <a:pPr algn="l">
              <a:defRPr sz="1000" b="0" i="0">
                <a:solidFill>
                  <a:srgbClr val="666666"/>
                </a:solidFill>
                <a:latin typeface="Fidelity Sans"/>
              </a:defRPr>
              <a:lnSpc>
                <a:spcPts val="1400"/>
              </a:lnSpc>
            </a:pPr>
            <a:r>
              <a:t>The Gilmore Girls Companion (2010); Coffee at Luke's (2007); Feminist Subtext in Gilmore Girls (academic collection, 2019)</a:t>
            </a:r>
          </a:p>
        </p:txBody>
      </p:sp>
      <p:sp>
        <p:nvSpPr>
          <p:cNvPr id="8" name="TextBox 7"/>
          <p:cNvSpPr txBox="1"/>
          <p:nvPr/>
        </p:nvSpPr>
        <p:spPr>
          <a:xfrm>
            <a:off x="457200" y="2103120"/>
            <a:ext cx="1645920" cy="274320"/>
          </a:xfrm>
          <a:prstGeom prst="rect">
            <a:avLst/>
          </a:prstGeom>
          <a:noFill/>
        </p:spPr>
        <p:txBody>
          <a:bodyPr wrap="square" lIns="0" rIns="0" tIns="0" bIns="0" anchor="t"/>
          <a:lstStyle/>
          <a:p>
            <a:pPr algn="l">
              <a:defRPr sz="1000" b="1" i="0">
                <a:solidFill>
                  <a:srgbClr val="999999"/>
                </a:solidFill>
                <a:latin typeface="Fidelity Sans"/>
              </a:defRPr>
            </a:pPr>
            <a:r>
              <a:t>Key Episodes</a:t>
            </a:r>
          </a:p>
        </p:txBody>
      </p:sp>
      <p:sp>
        <p:nvSpPr>
          <p:cNvPr id="9" name="Rectangle 8"/>
          <p:cNvSpPr/>
          <p:nvPr/>
        </p:nvSpPr>
        <p:spPr>
          <a:xfrm>
            <a:off x="457200" y="2377440"/>
            <a:ext cx="13716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86000" y="2103120"/>
            <a:ext cx="6400800" cy="914400"/>
          </a:xfrm>
          <a:prstGeom prst="rect">
            <a:avLst/>
          </a:prstGeom>
          <a:noFill/>
        </p:spPr>
        <p:txBody>
          <a:bodyPr wrap="square" lIns="0" rIns="0" tIns="0" bIns="0" anchor="t"/>
          <a:lstStyle/>
          <a:p>
            <a:pPr algn="l">
              <a:defRPr sz="1000" b="0" i="0">
                <a:solidFill>
                  <a:srgbClr val="666666"/>
                </a:solidFill>
                <a:latin typeface="Fidelity Sans"/>
              </a:defRPr>
              <a:lnSpc>
                <a:spcPts val="1400"/>
              </a:lnSpc>
            </a:pPr>
            <a:r>
              <a:t>S1E1 Pilot — world-building; S2E5 Nick &amp; Nora — peak walk-and-talk; S5E13 Wedding Bell Blues — pressure cooker; S6E22 Partings — cost of lost voice</a:t>
            </a:r>
          </a:p>
        </p:txBody>
      </p:sp>
      <p:sp>
        <p:nvSpPr>
          <p:cNvPr id="11" name="TextBox 10"/>
          <p:cNvSpPr txBox="1"/>
          <p:nvPr/>
        </p:nvSpPr>
        <p:spPr>
          <a:xfrm>
            <a:off x="457200" y="3200400"/>
            <a:ext cx="1645920" cy="274320"/>
          </a:xfrm>
          <a:prstGeom prst="rect">
            <a:avLst/>
          </a:prstGeom>
          <a:noFill/>
        </p:spPr>
        <p:txBody>
          <a:bodyPr wrap="square" lIns="0" rIns="0" tIns="0" bIns="0" anchor="t"/>
          <a:lstStyle/>
          <a:p>
            <a:pPr algn="l">
              <a:defRPr sz="1000" b="1" i="0">
                <a:solidFill>
                  <a:srgbClr val="999999"/>
                </a:solidFill>
                <a:latin typeface="Fidelity Sans"/>
              </a:defRPr>
            </a:pPr>
            <a:r>
              <a:t>Related Shows</a:t>
            </a:r>
          </a:p>
        </p:txBody>
      </p:sp>
      <p:sp>
        <p:nvSpPr>
          <p:cNvPr id="12" name="Rectangle 11"/>
          <p:cNvSpPr/>
          <p:nvPr/>
        </p:nvSpPr>
        <p:spPr>
          <a:xfrm>
            <a:off x="457200" y="3474720"/>
            <a:ext cx="13716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86000" y="3200400"/>
            <a:ext cx="6400800" cy="914400"/>
          </a:xfrm>
          <a:prstGeom prst="rect">
            <a:avLst/>
          </a:prstGeom>
          <a:noFill/>
        </p:spPr>
        <p:txBody>
          <a:bodyPr wrap="square" lIns="0" rIns="0" tIns="0" bIns="0" anchor="t"/>
          <a:lstStyle/>
          <a:p>
            <a:pPr algn="l">
              <a:defRPr sz="1000" b="0" i="0">
                <a:solidFill>
                  <a:srgbClr val="666666"/>
                </a:solidFill>
                <a:latin typeface="Fidelity Sans"/>
              </a:defRPr>
              <a:lnSpc>
                <a:spcPts val="1400"/>
              </a:lnSpc>
            </a:pPr>
            <a:r>
              <a:t>The West Wing (pacing), Bunheads (same creator), The Marvelous Mrs. Maisel (spiritual successor), Succession (verbal density in drama)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44014"/>
        </a:solidFill>
        <a:effectLst/>
      </p:bgPr>
    </p:bg>
    <p:spTree>
      <p:nvGrpSpPr>
        <p:cNvPr id="1" name=""/>
        <p:cNvGrpSpPr/>
        <p:nvPr/>
      </p:nvGrpSpPr>
      <p:grpSpPr/>
      <p:sp>
        <p:nvSpPr>
          <p:cNvPr id="2" name="Rectangle 1"/>
          <p:cNvSpPr/>
          <p:nvPr/>
        </p:nvSpPr>
        <p:spPr>
          <a:xfrm>
            <a:off x="0" y="0"/>
            <a:ext cx="9144000" cy="36576"/>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1097280"/>
          </a:xfrm>
          <a:prstGeom prst="rect">
            <a:avLst/>
          </a:prstGeom>
          <a:noFill/>
        </p:spPr>
        <p:txBody>
          <a:bodyPr wrap="square" lIns="0" rIns="0" tIns="0" bIns="0" anchor="b"/>
          <a:lstStyle/>
          <a:p>
            <a:pPr algn="l">
              <a:defRPr sz="3600" b="1" i="0">
                <a:solidFill>
                  <a:srgbClr val="FFFFFF"/>
                </a:solidFill>
                <a:latin typeface="Fidelity Slab"/>
              </a:defRPr>
              <a:lnSpc>
                <a:spcPts val="4400"/>
              </a:lnSpc>
            </a:pPr>
            <a:r>
              <a:t>Where You Lead, I Will Follow</a:t>
            </a:r>
          </a:p>
        </p:txBody>
      </p:sp>
      <p:sp>
        <p:nvSpPr>
          <p:cNvPr id="4" name="Rectangle 3"/>
          <p:cNvSpPr/>
          <p:nvPr/>
        </p:nvSpPr>
        <p:spPr>
          <a:xfrm>
            <a:off x="731520" y="1965960"/>
            <a:ext cx="1828800" cy="38100"/>
          </a:xfrm>
          <a:prstGeom prst="rect">
            <a:avLst/>
          </a:prstGeom>
          <a:solidFill>
            <a:srgbClr val="D4A8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286000"/>
            <a:ext cx="7315200" cy="1645920"/>
          </a:xfrm>
          <a:prstGeom prst="rect">
            <a:avLst/>
          </a:prstGeom>
          <a:noFill/>
        </p:spPr>
        <p:txBody>
          <a:bodyPr wrap="square" lIns="0" rIns="0" tIns="0" bIns="0" anchor="t"/>
          <a:lstStyle/>
          <a:p>
            <a:pPr algn="l">
              <a:defRPr sz="1800" b="0" i="1">
                <a:solidFill>
                  <a:srgbClr val="E8E0CC"/>
                </a:solidFill>
                <a:latin typeface="Fidelity Slab"/>
              </a:defRPr>
              <a:lnSpc>
                <a:spcPts val="2600"/>
              </a:lnSpc>
            </a:pPr>
            <a:r>
              <a:t>The best stories don't tell you what to think. They walk fast enough that you have to run to keep up — and then you realize you've been somewhere important the whole time.</a:t>
            </a:r>
          </a:p>
        </p:txBody>
      </p:sp>
      <p:sp>
        <p:nvSpPr>
          <p:cNvPr id="6" name="TextBox 5"/>
          <p:cNvSpPr txBox="1"/>
          <p:nvPr/>
        </p:nvSpPr>
        <p:spPr>
          <a:xfrm>
            <a:off x="731520" y="4480560"/>
            <a:ext cx="7315200" cy="365760"/>
          </a:xfrm>
          <a:prstGeom prst="rect">
            <a:avLst/>
          </a:prstGeom>
          <a:noFill/>
        </p:spPr>
        <p:txBody>
          <a:bodyPr wrap="square" lIns="0" rIns="0" tIns="0" bIns="0" anchor="t"/>
          <a:lstStyle/>
          <a:p>
            <a:pPr algn="l">
              <a:defRPr sz="1000" b="0" i="0">
                <a:solidFill>
                  <a:srgbClr val="A8C4A0"/>
                </a:solidFill>
                <a:latin typeface="Fidelity Sans"/>
              </a:defRPr>
            </a:pPr>
            <a:r>
              <a:t>Stars Hollow Gazette | Friday Dinners by Appointment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