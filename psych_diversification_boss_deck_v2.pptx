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4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2286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defRPr sz="4000" b="1" i="0">
                <a:solidFill>
                  <a:srgbClr val="FFFFFF"/>
                </a:solidFill>
                <a:latin typeface="Fidelity Slab"/>
              </a:defRPr>
              <a:lnSpc>
                <a:spcPts val="5000"/>
              </a:lnSpc>
            </a:pPr>
            <a:r>
              <a:t>Psychological Diversification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017520"/>
            <a:ext cx="18288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400" b="0" i="0">
                <a:solidFill>
                  <a:srgbClr val="E8E0CC"/>
                </a:solidFill>
                <a:latin typeface="Fidelity Sans"/>
              </a:defRPr>
              <a:lnSpc>
                <a:spcPts val="2000"/>
              </a:lnSpc>
            </a:pPr>
            <a:r>
              <a:t>Applying the logic of portfolio diversification to the customer experience, so the relationship survives what the market can’t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000" b="0" i="0">
                <a:solidFill>
                  <a:srgbClr val="A8C4A0"/>
                </a:solidFill>
                <a:latin typeface="Fidelity Sans"/>
              </a:defRPr>
            </a:pPr>
            <a:r>
              <a:t>Behavioral Science &amp;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09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000" b="0" i="0">
                <a:solidFill>
                  <a:srgbClr val="A8C4A0"/>
                </a:solidFill>
                <a:latin typeface="Fidelity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200" b="1" i="0">
                <a:solidFill>
                  <a:srgbClr val="2D2D2D"/>
                </a:solidFill>
                <a:latin typeface="Fidelity Slab"/>
              </a:defRPr>
            </a:pPr>
            <a:r>
              <a:t>Why This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529840" cy="54864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143000"/>
            <a:ext cx="384048" cy="384048"/>
          </a:xfrm>
          <a:prstGeom prst="ellipse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400" b="1" i="0">
                <a:solidFill>
                  <a:srgbClr val="FFFFFF"/>
                </a:solidFill>
                <a:latin typeface="Fidelity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21640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600" b="1" i="0">
                <a:solidFill>
                  <a:srgbClr val="2D2D2D"/>
                </a:solidFill>
                <a:latin typeface="Fidelity Slab"/>
              </a:defRPr>
              <a:lnSpc>
                <a:spcPts val="2100"/>
              </a:lnSpc>
            </a:pPr>
            <a:r>
              <a:t>Concentrated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1011936" cy="25400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216408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200" b="0" i="0">
                <a:solidFill>
                  <a:srgbClr val="666666"/>
                </a:solidFill>
                <a:latin typeface="Fidelity Sans"/>
              </a:defRPr>
              <a:lnSpc>
                <a:spcPts val="1700"/>
              </a:lnSpc>
            </a:pPr>
            <a:r>
              <a:t>Customer relationships are fragile because they’re concentrated in one or two psychological dimensions, both of which track the stock market.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9900" y="12070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600" b="1" i="0">
                <a:solidFill>
                  <a:srgbClr val="D4A843"/>
                </a:solidFill>
                <a:latin typeface="Fidelity Slab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07080" y="914400"/>
            <a:ext cx="2529840" cy="54864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89960" y="1143000"/>
            <a:ext cx="384048" cy="384048"/>
          </a:xfrm>
          <a:prstGeom prst="ellipse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9960" y="11430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400" b="1" i="0">
                <a:solidFill>
                  <a:srgbClr val="FFFFFF"/>
                </a:solidFill>
                <a:latin typeface="Fidelity San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9960" y="1691640"/>
            <a:ext cx="21640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600" b="1" i="0">
                <a:solidFill>
                  <a:srgbClr val="2D2D2D"/>
                </a:solidFill>
                <a:latin typeface="Fidelity Slab"/>
              </a:defRPr>
              <a:lnSpc>
                <a:spcPts val="2100"/>
              </a:lnSpc>
            </a:pPr>
            <a:r>
              <a:t>Correlated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89960" y="2286000"/>
            <a:ext cx="1011936" cy="25400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9960" y="2514600"/>
            <a:ext cx="216408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200" b="0" i="0">
                <a:solidFill>
                  <a:srgbClr val="666666"/>
                </a:solidFill>
                <a:latin typeface="Fidelity Sans"/>
              </a:defRPr>
              <a:lnSpc>
                <a:spcPts val="1700"/>
              </a:lnSpc>
            </a:pPr>
            <a:r>
              <a:t>When the market drops, every dimension of the relationship fails at once. The only intervention is an expensive human on the phone.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9780" y="12070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600" b="1" i="0">
                <a:solidFill>
                  <a:srgbClr val="D4A843"/>
                </a:solidFill>
                <a:latin typeface="Fidelity Slab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6960" y="914400"/>
            <a:ext cx="2529840" cy="54864"/>
          </a:xfrm>
          <a:prstGeom prst="rect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39840" y="1143000"/>
            <a:ext cx="384048" cy="384048"/>
          </a:xfrm>
          <a:prstGeom prst="ellipse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9840" y="11430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400" b="1" i="0">
                <a:solidFill>
                  <a:srgbClr val="FFFFFF"/>
                </a:solidFill>
                <a:latin typeface="Fidelity San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9840" y="1691640"/>
            <a:ext cx="21640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600" b="1" i="0">
                <a:solidFill>
                  <a:srgbClr val="2D2D2D"/>
                </a:solidFill>
                <a:latin typeface="Fidelity Slab"/>
              </a:defRPr>
              <a:lnSpc>
                <a:spcPts val="2100"/>
              </a:lnSpc>
            </a:pPr>
            <a:r>
              <a:t>Fixable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39840" y="2286000"/>
            <a:ext cx="1011936" cy="25400"/>
          </a:xfrm>
          <a:prstGeom prst="rect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9840" y="2514600"/>
            <a:ext cx="216408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200" b="0" i="0">
                <a:solidFill>
                  <a:srgbClr val="666666"/>
                </a:solidFill>
                <a:latin typeface="Fidelity Sans"/>
              </a:defRPr>
              <a:lnSpc>
                <a:spcPts val="1700"/>
              </a:lnSpc>
            </a:pPr>
            <a:r>
              <a:t>We can build resilience into the relationship before the downturn. Preventive care instead of the emergency room.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400" b="1" i="0">
                <a:solidFill>
                  <a:srgbClr val="999999"/>
                </a:solidFill>
                <a:latin typeface="Fidelity Sans"/>
              </a:defRPr>
            </a:pPr>
            <a:r>
              <a:t>THE CONCENTRATION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500" b="1" i="0">
                <a:solidFill>
                  <a:srgbClr val="044014"/>
                </a:solidFill>
                <a:latin typeface="Fidelity Slab"/>
              </a:defRPr>
            </a:pPr>
            <a:r>
              <a:t>What We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640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500" b="1" i="0">
                <a:solidFill>
                  <a:srgbClr val="04547C"/>
                </a:solidFill>
                <a:latin typeface="Fidelity Slab"/>
              </a:defRPr>
            </a:pPr>
            <a:r>
              <a:t>What We Miss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371600" cy="25400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37760" y="1024128"/>
            <a:ext cx="1371600" cy="25400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4297680" cy="749808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4864" cy="749808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1188720"/>
            <a:ext cx="4160520" cy="749808"/>
          </a:xfrm>
          <a:prstGeom prst="rect">
            <a:avLst/>
          </a:prstGeom>
          <a:solidFill>
            <a:srgbClr val="EA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188720"/>
            <a:ext cx="54864" cy="749808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38862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The risk tolerance questionnaire is a Security/Maximization instrument wearing a regulatory compliance costume.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188720"/>
            <a:ext cx="374904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Investment experience questions hint at Growth, but we file them as risk-capacity qualifiers.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029968"/>
            <a:ext cx="4297680" cy="749808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029968"/>
            <a:ext cx="54864" cy="749808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60" y="2029968"/>
            <a:ext cx="4160520" cy="749808"/>
          </a:xfrm>
          <a:prstGeom prst="rect">
            <a:avLst/>
          </a:prstGeom>
          <a:solidFill>
            <a:srgbClr val="EA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09160" y="2029968"/>
            <a:ext cx="54864" cy="749808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029968"/>
            <a:ext cx="38862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It asks: “How much volatility can you stomach?” Which is really: “How much do you need safety vs. growth?”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029968"/>
            <a:ext cx="374904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Self-directed vs. managed preference is literally an Agency question, asked once at account opening and never revisited.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871216"/>
            <a:ext cx="4297680" cy="749808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871216"/>
            <a:ext cx="54864" cy="749808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09160" y="2871216"/>
            <a:ext cx="4160520" cy="749808"/>
          </a:xfrm>
          <a:prstGeom prst="rect">
            <a:avLst/>
          </a:prstGeom>
          <a:solidFill>
            <a:srgbClr val="EA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09160" y="2871216"/>
            <a:ext cx="54864" cy="749808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871216"/>
            <a:ext cx="38862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That’s two dimensions. Customers have at least five.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2871216"/>
            <a:ext cx="374904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Account purpose flirts with Identity, but gets collapsed into a single allocation target.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400" b="1" i="0">
                <a:solidFill>
                  <a:srgbClr val="999999"/>
                </a:solidFill>
                <a:latin typeface="Fidelity Sans"/>
              </a:defRPr>
            </a:pPr>
            <a:r>
              <a:t>HOW FINANCIAL DIVERSIFICATION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500" b="1" i="0">
                <a:solidFill>
                  <a:srgbClr val="044014"/>
                </a:solidFill>
                <a:latin typeface="Fidelity Slab"/>
              </a:defRPr>
            </a:pPr>
            <a:r>
              <a:t>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640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500" b="1" i="0">
                <a:solidFill>
                  <a:srgbClr val="04547C"/>
                </a:solidFill>
                <a:latin typeface="Fidelity Slab"/>
              </a:defRPr>
            </a:pPr>
            <a:r>
              <a:t>Beta: The Key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371600" cy="25400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37760" y="1024128"/>
            <a:ext cx="1371600" cy="25400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4297680" cy="749808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4864" cy="749808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1188720"/>
            <a:ext cx="4160520" cy="749808"/>
          </a:xfrm>
          <a:prstGeom prst="rect">
            <a:avLst/>
          </a:prstGeom>
          <a:solidFill>
            <a:srgbClr val="EA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188720"/>
            <a:ext cx="54864" cy="749808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38862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You don’t hold bonds because bonds are exciting. You hold them because when equities crash, bonds don’t crash with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188720"/>
            <a:ext cx="374904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Beta measures how much an asset moves relative to the overall market. Market = 1.0 by definition.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029968"/>
            <a:ext cx="4297680" cy="749808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029968"/>
            <a:ext cx="54864" cy="749808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60" y="2029968"/>
            <a:ext cx="4160520" cy="749808"/>
          </a:xfrm>
          <a:prstGeom prst="rect">
            <a:avLst/>
          </a:prstGeom>
          <a:solidFill>
            <a:srgbClr val="EA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09160" y="2029968"/>
            <a:ext cx="54864" cy="749808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029968"/>
            <a:ext cx="38862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A diversified portfolio holds a mix so that when one part drops, others hold steady or rise.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029968"/>
            <a:ext cx="374904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High-beta assets (growth stocks) amplify swings. Low-beta assets (utilities) dampen them. Zero-beta assets ignore the market entirely.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871216"/>
            <a:ext cx="4297680" cy="749808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871216"/>
            <a:ext cx="54864" cy="749808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09160" y="2871216"/>
            <a:ext cx="4160520" cy="749808"/>
          </a:xfrm>
          <a:prstGeom prst="rect">
            <a:avLst/>
          </a:prstGeom>
          <a:solidFill>
            <a:srgbClr val="EA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09160" y="2871216"/>
            <a:ext cx="54864" cy="749808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871216"/>
            <a:ext cx="38862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Nobody would put a client in 100% high-beta equities. That would be malpractice.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2871216"/>
            <a:ext cx="374904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Negative-beta assets (treasuries in a crash) move opposite to it. These are the shock absorbers.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400" b="1" i="0">
                <a:solidFill>
                  <a:srgbClr val="999999"/>
                </a:solidFill>
                <a:latin typeface="Fidelity Sans"/>
              </a:defRPr>
            </a:pPr>
            <a:r>
              <a:t>THE PSYCHOLOGICAL PORTFOLIO: CONCENTRATED VS. DIVERSIFIED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500" b="1" i="0">
                <a:solidFill>
                  <a:srgbClr val="044014"/>
                </a:solidFill>
                <a:latin typeface="Fidelity Slab"/>
              </a:defRPr>
            </a:pPr>
            <a:r>
              <a:t>What We Serve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640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500" b="1" i="0">
                <a:solidFill>
                  <a:srgbClr val="04547C"/>
                </a:solidFill>
                <a:latin typeface="Fidelity Slab"/>
              </a:defRPr>
            </a:pPr>
            <a:r>
              <a:t>What Customers Also Need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371600" cy="25400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37760" y="1024128"/>
            <a:ext cx="1371600" cy="25400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4297680" cy="749808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4864" cy="749808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1188720"/>
            <a:ext cx="4160520" cy="749808"/>
          </a:xfrm>
          <a:prstGeom prst="rect">
            <a:avLst/>
          </a:prstGeom>
          <a:solidFill>
            <a:srgbClr val="EA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188720"/>
            <a:ext cx="54864" cy="749808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38862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SECURITY: “I need my money to be safe.”  β ≈ 1.4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188720"/>
            <a:ext cx="374904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AGENCY: “I need to feel like it’s mine.”  β ≈ −1.0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029968"/>
            <a:ext cx="4297680" cy="749808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029968"/>
            <a:ext cx="54864" cy="749808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60" y="2029968"/>
            <a:ext cx="4160520" cy="749808"/>
          </a:xfrm>
          <a:prstGeom prst="rect">
            <a:avLst/>
          </a:prstGeom>
          <a:solidFill>
            <a:srgbClr val="EA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09160" y="2029968"/>
            <a:ext cx="54864" cy="749808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029968"/>
            <a:ext cx="38862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MAXIMIZATION: “I need it to grow.”  β ≈ 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029968"/>
            <a:ext cx="374904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GROWTH: “I need to be getting smarter.”  β ≈ −0.3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871216"/>
            <a:ext cx="4297680" cy="749808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871216"/>
            <a:ext cx="54864" cy="749808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09160" y="2871216"/>
            <a:ext cx="4160520" cy="749808"/>
          </a:xfrm>
          <a:prstGeom prst="rect">
            <a:avLst/>
          </a:prstGeom>
          <a:solidFill>
            <a:srgbClr val="EA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09160" y="2871216"/>
            <a:ext cx="54864" cy="749808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871216"/>
            <a:ext cx="38862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Both track market performance.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2871216"/>
            <a:ext cx="374904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IDENTITY: “I need it to reflect who I am.”  β ≈ 0.7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712464"/>
            <a:ext cx="4297680" cy="749808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712464"/>
            <a:ext cx="54864" cy="749808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09160" y="3712464"/>
            <a:ext cx="4160520" cy="749808"/>
          </a:xfrm>
          <a:prstGeom prst="rect">
            <a:avLst/>
          </a:prstGeom>
          <a:solidFill>
            <a:srgbClr val="EA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09160" y="3712464"/>
            <a:ext cx="54864" cy="749808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712464"/>
            <a:ext cx="38862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Both fail simultaneously in downturns.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712464"/>
            <a:ext cx="374904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These hold steady, or improve, in downturns. Betas are illustrative, not empirical.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400" b="1" i="0">
                <a:solidFill>
                  <a:srgbClr val="999999"/>
                </a:solidFill>
                <a:latin typeface="Fidelity Sans"/>
              </a:defRPr>
            </a:pPr>
            <a:r>
              <a:t>SAME LOGIC, DIFFERENT ASSET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500" b="1" i="0">
                <a:solidFill>
                  <a:srgbClr val="044014"/>
                </a:solidFill>
                <a:latin typeface="Fidelity Slab"/>
              </a:defRPr>
            </a:pPr>
            <a:r>
              <a:t>Financial Diversification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640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500" b="1" i="0">
                <a:solidFill>
                  <a:srgbClr val="04547C"/>
                </a:solidFill>
                <a:latin typeface="Fidelity Slab"/>
              </a:defRPr>
            </a:pPr>
            <a:r>
              <a:t>Psychological Diversification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371600" cy="25400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37760" y="1024128"/>
            <a:ext cx="1371600" cy="25400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4297680" cy="749808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4864" cy="749808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1188720"/>
            <a:ext cx="4160520" cy="749808"/>
          </a:xfrm>
          <a:prstGeom prst="rect">
            <a:avLst/>
          </a:prstGeom>
          <a:solidFill>
            <a:srgbClr val="EA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188720"/>
            <a:ext cx="54864" cy="749808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38862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Hold uncorrelated assets so when one fails, others hold steady.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188720"/>
            <a:ext cx="374904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Serve uncorrelated needs so when one fails, others hold steady.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029968"/>
            <a:ext cx="4297680" cy="749808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029968"/>
            <a:ext cx="54864" cy="749808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60" y="2029968"/>
            <a:ext cx="4160520" cy="749808"/>
          </a:xfrm>
          <a:prstGeom prst="rect">
            <a:avLst/>
          </a:prstGeom>
          <a:solidFill>
            <a:srgbClr val="EA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09160" y="2029968"/>
            <a:ext cx="54864" cy="749808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029968"/>
            <a:ext cx="38862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High-beta equities for growth; low-beta bonds for stability.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029968"/>
            <a:ext cx="374904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Security/Maximization are high-beta; Agency/Growth are low or negative.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871216"/>
            <a:ext cx="4297680" cy="749808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871216"/>
            <a:ext cx="54864" cy="749808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09160" y="2871216"/>
            <a:ext cx="4160520" cy="749808"/>
          </a:xfrm>
          <a:prstGeom prst="rect">
            <a:avLst/>
          </a:prstGeom>
          <a:solidFill>
            <a:srgbClr val="EA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09160" y="2871216"/>
            <a:ext cx="54864" cy="749808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871216"/>
            <a:ext cx="38862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Nobody holds bonds for the returns. You hold them for what they don’t lose.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2871216"/>
            <a:ext cx="374904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Nobody invests in Agency for “returns.” You invest for what it doesn’t lose.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712464"/>
            <a:ext cx="4297680" cy="749808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712464"/>
            <a:ext cx="54864" cy="749808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09160" y="3712464"/>
            <a:ext cx="4160520" cy="749808"/>
          </a:xfrm>
          <a:prstGeom prst="rect">
            <a:avLst/>
          </a:prstGeom>
          <a:solidFill>
            <a:srgbClr val="EA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09160" y="3712464"/>
            <a:ext cx="54864" cy="749808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712464"/>
            <a:ext cx="38862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100% in correlated assets would be malpractice.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712464"/>
            <a:ext cx="374904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200" b="0" i="0">
                <a:solidFill>
                  <a:srgbClr val="2D2D2D"/>
                </a:solidFill>
                <a:latin typeface="Fidelity Sans"/>
              </a:defRPr>
              <a:lnSpc>
                <a:spcPts val="1600"/>
              </a:lnSpc>
            </a:pPr>
            <a:r>
              <a:t>100% in correlated needs is the same problem.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2200" b="1" i="0">
                <a:solidFill>
                  <a:srgbClr val="2D2D2D"/>
                </a:solidFill>
                <a:latin typeface="Fidelity Slab"/>
              </a:defRPr>
            </a:pPr>
            <a:r>
              <a:t>Three Intervention Levers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529840" cy="54864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143000"/>
            <a:ext cx="384048" cy="384048"/>
          </a:xfrm>
          <a:prstGeom prst="ellipse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400" b="1" i="0">
                <a:solidFill>
                  <a:srgbClr val="FFFFFF"/>
                </a:solidFill>
                <a:latin typeface="Fidelity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21640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600" b="1" i="0">
                <a:solidFill>
                  <a:srgbClr val="2D2D2D"/>
                </a:solidFill>
                <a:latin typeface="Fidelity Slab"/>
              </a:defRPr>
              <a:lnSpc>
                <a:spcPts val="2100"/>
              </a:lnSpc>
            </a:pPr>
            <a:r>
              <a:t>Live Channel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1011936" cy="25400"/>
          </a:xfrm>
          <a:prstGeom prst="rect">
            <a:avLst/>
          </a:prstGeom>
          <a:solidFill>
            <a:srgbClr val="044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216408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200" b="0" i="0">
                <a:solidFill>
                  <a:srgbClr val="666666"/>
                </a:solidFill>
                <a:latin typeface="Fidelity Sans"/>
              </a:defRPr>
              <a:lnSpc>
                <a:spcPts val="1700"/>
              </a:lnSpc>
            </a:pPr>
            <a:r>
              <a:t>Give advisors the psychological profile so they’re informed, not guessing. The vocabulary for what they already do intuitively.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9900" y="12070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600" b="1" i="0">
                <a:solidFill>
                  <a:srgbClr val="D4A843"/>
                </a:solidFill>
                <a:latin typeface="Fidelity Slab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07080" y="914400"/>
            <a:ext cx="2529840" cy="54864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89960" y="1143000"/>
            <a:ext cx="384048" cy="384048"/>
          </a:xfrm>
          <a:prstGeom prst="ellipse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9960" y="11430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400" b="1" i="0">
                <a:solidFill>
                  <a:srgbClr val="FFFFFF"/>
                </a:solidFill>
                <a:latin typeface="Fidelity San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9960" y="1691640"/>
            <a:ext cx="21640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600" b="1" i="0">
                <a:solidFill>
                  <a:srgbClr val="2D2D2D"/>
                </a:solidFill>
                <a:latin typeface="Fidelity Slab"/>
              </a:defRPr>
              <a:lnSpc>
                <a:spcPts val="2100"/>
              </a:lnSpc>
            </a:pPr>
            <a:r>
              <a:t>Digital Experience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89960" y="2286000"/>
            <a:ext cx="1011936" cy="25400"/>
          </a:xfrm>
          <a:prstGeom prst="rect">
            <a:avLst/>
          </a:prstGeom>
          <a:solidFill>
            <a:srgbClr val="045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9960" y="2514600"/>
            <a:ext cx="216408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200" b="0" i="0">
                <a:solidFill>
                  <a:srgbClr val="666666"/>
                </a:solidFill>
                <a:latin typeface="Fidelity Sans"/>
              </a:defRPr>
              <a:lnSpc>
                <a:spcPts val="1700"/>
              </a:lnSpc>
            </a:pPr>
            <a:r>
              <a:t>A profile-aware platform surfaces different emphasis and framing by need. Henry sees sector analysis. Maria sees “on track.” Same data, different surface.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9780" y="12070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600" b="1" i="0">
                <a:solidFill>
                  <a:srgbClr val="D4A843"/>
                </a:solidFill>
                <a:latin typeface="Fidelity Slab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6960" y="914400"/>
            <a:ext cx="2529840" cy="54864"/>
          </a:xfrm>
          <a:prstGeom prst="rect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39840" y="1143000"/>
            <a:ext cx="384048" cy="384048"/>
          </a:xfrm>
          <a:prstGeom prst="ellipse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9840" y="11430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400" b="1" i="0">
                <a:solidFill>
                  <a:srgbClr val="FFFFFF"/>
                </a:solidFill>
                <a:latin typeface="Fidelity San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9840" y="1691640"/>
            <a:ext cx="21640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600" b="1" i="0">
                <a:solidFill>
                  <a:srgbClr val="2D2D2D"/>
                </a:solidFill>
                <a:latin typeface="Fidelity Slab"/>
              </a:defRPr>
              <a:lnSpc>
                <a:spcPts val="2100"/>
              </a:lnSpc>
            </a:pPr>
            <a:r>
              <a:t>Portfolio Structure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39840" y="2286000"/>
            <a:ext cx="1011936" cy="25400"/>
          </a:xfrm>
          <a:prstGeom prst="rect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9840" y="2514600"/>
            <a:ext cx="216408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200" b="0" i="0">
                <a:solidFill>
                  <a:srgbClr val="666666"/>
                </a:solidFill>
                <a:latin typeface="Fidelity Sans"/>
              </a:defRPr>
              <a:lnSpc>
                <a:spcPts val="1700"/>
              </a:lnSpc>
            </a:pPr>
            <a:r>
              <a:t>The portfolio itself becomes the intervention. Core allocation for Security/Maximization. Purpose-built sleeves for Growth, Agency, and Identity.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4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defRPr sz="3600" b="1" i="0">
                <a:solidFill>
                  <a:srgbClr val="FFFFFF"/>
                </a:solidFill>
                <a:latin typeface="Fidelity Slab"/>
              </a:defRPr>
              <a:lnSpc>
                <a:spcPts val="4400"/>
              </a:lnSpc>
            </a:pPr>
            <a:r>
              <a:t>Psychological Diversification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65960"/>
            <a:ext cx="18288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731520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800" b="0" i="1">
                <a:solidFill>
                  <a:srgbClr val="E8E0CC"/>
                </a:solidFill>
                <a:latin typeface="Fidelity Slab"/>
              </a:defRPr>
              <a:lnSpc>
                <a:spcPts val="2600"/>
              </a:lnSpc>
            </a:pPr>
            <a:r>
              <a:t>We can’t control whether your customers’ money goes down in a downturn. But we can control how far their experience falls.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