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3.xml" ContentType="application/vnd.openxmlformats-officedocument.drawingml.chart+xml"/>
  <Override PartName="/ppt/charts/chart2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9.xml" ContentType="application/vnd.openxmlformats-officedocument.drawingml.chart+xml"/>
  <Override PartName="/ppt/charts/chart30.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ser>
          <c:idx val="1"/>
          <c:order val="1"/>
          <c:tx>
            <c:strRef>
              <c:f>Sheet1!$C$1</c:f>
              <c:strCache>
                <c:ptCount val="1"/>
                <c:pt idx="0">
                  <c:v>Treatment</c:v>
                </c:pt>
              </c:strCache>
            </c:strRef>
          </c:tx>
          <c:spPr>
            <a:solidFill>
              <a:srgbClr val="2D6A4F"/>
            </a:solidFill>
            <a:ln w="25400" cap="flat">
              <a:solidFill>
                <a:srgbClr val="2D6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A4F"/>
              </a:solidFill>
              <a:ln w="9525" cap="flat">
                <a:solidFill>
                  <a:srgbClr val="2D6A4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7</c:v>
                </c:pt>
                <c:pt idx="1">
                  <c:v>8</c:v>
                </c:pt>
                <c:pt idx="2">
                  <c:v>7</c:v>
                </c:pt>
                <c:pt idx="3">
                  <c:v>8</c:v>
                </c:pt>
                <c:pt idx="4">
                  <c:v>7</c:v>
                </c:pt>
                <c:pt idx="5">
                  <c:v>7</c:v>
                </c:pt>
                <c:pt idx="6">
                  <c:v>7</c:v>
                </c:pt>
                <c:pt idx="7">
                  <c:v>8</c:v>
                </c:pt>
                <c:pt idx="8">
                  <c:v>8</c:v>
                </c:pt>
                <c:pt idx="9">
                  <c:v>8</c:v>
                </c:pt>
                <c:pt idx="10">
                  <c:v>8</c:v>
                </c:pt>
                <c:pt idx="11">
                  <c:v>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10</c:v>
                </c:pt>
                <c:pt idx="4">
                  <c:v>10</c:v>
                </c:pt>
                <c:pt idx="5">
                  <c:v>9</c:v>
                </c:pt>
                <c:pt idx="6">
                  <c:v>9</c:v>
                </c:pt>
                <c:pt idx="7">
                  <c:v>9</c:v>
                </c:pt>
                <c:pt idx="8">
                  <c:v>10</c:v>
                </c:pt>
                <c:pt idx="9">
                  <c:v>10</c:v>
                </c:pt>
                <c:pt idx="10">
                  <c:v>10</c:v>
                </c:pt>
                <c:pt idx="11">
                  <c:v>10</c:v>
                </c:pt>
              </c:numCache>
            </c:numRef>
          </c:val>
          <c:smooth val="0"/>
        </c:ser>
        <c:ser>
          <c:idx val="1"/>
          <c:order val="1"/>
          <c:tx>
            <c:strRef>
              <c:f>Sheet1!$C$1</c:f>
              <c:strCache>
                <c:ptCount val="1"/>
                <c:pt idx="0">
                  <c:v>Treatment</c:v>
                </c:pt>
              </c:strCache>
            </c:strRef>
          </c:tx>
          <c:spPr>
            <a:solidFill>
              <a:srgbClr val="D4A843"/>
            </a:solidFill>
            <a:ln w="25400" cap="flat">
              <a:solidFill>
                <a:srgbClr val="D4A8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843"/>
              </a:solidFill>
              <a:ln w="9525" cap="flat">
                <a:solidFill>
                  <a:srgbClr val="D4A84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9</c:v>
                </c:pt>
                <c:pt idx="1">
                  <c:v>9</c:v>
                </c:pt>
                <c:pt idx="2">
                  <c:v>8</c:v>
                </c:pt>
                <c:pt idx="3">
                  <c:v>8</c:v>
                </c:pt>
                <c:pt idx="4">
                  <c:v>8</c:v>
                </c:pt>
                <c:pt idx="5">
                  <c:v>7</c:v>
                </c:pt>
                <c:pt idx="6">
                  <c:v>8</c:v>
                </c:pt>
                <c:pt idx="7">
                  <c:v>9</c:v>
                </c:pt>
                <c:pt idx="8">
                  <c:v>9</c:v>
                </c:pt>
                <c:pt idx="9">
                  <c:v>9</c:v>
                </c:pt>
                <c:pt idx="10">
                  <c:v>9</c:v>
                </c:pt>
                <c:pt idx="11">
                  <c:v>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3</c:v>
                </c:pt>
                <c:pt idx="1">
                  <c:v>3</c:v>
                </c:pt>
                <c:pt idx="2">
                  <c:v>3</c:v>
                </c:pt>
                <c:pt idx="3">
                  <c:v>3</c:v>
                </c:pt>
                <c:pt idx="4">
                  <c:v>4</c:v>
                </c:pt>
                <c:pt idx="5">
                  <c:v>5</c:v>
                </c:pt>
                <c:pt idx="6">
                  <c:v>4</c:v>
                </c:pt>
                <c:pt idx="7">
                  <c:v>4</c:v>
                </c:pt>
                <c:pt idx="8">
                  <c:v>4</c:v>
                </c:pt>
                <c:pt idx="9">
                  <c:v>4</c:v>
                </c:pt>
                <c:pt idx="10">
                  <c:v>4</c:v>
                </c:pt>
                <c:pt idx="11">
                  <c:v>3</c:v>
                </c:pt>
              </c:numCache>
            </c:numRef>
          </c:val>
          <c:smooth val="0"/>
        </c:ser>
        <c:ser>
          <c:idx val="1"/>
          <c:order val="1"/>
          <c:tx>
            <c:strRef>
              <c:f>Sheet1!$C$1</c:f>
              <c:strCache>
                <c:ptCount val="1"/>
                <c:pt idx="0">
                  <c:v>Treatment</c:v>
                </c:pt>
              </c:strCache>
            </c:strRef>
          </c:tx>
          <c:spPr>
            <a:solidFill>
              <a:srgbClr val="3880F3"/>
            </a:solidFill>
            <a:ln w="25400" cap="flat">
              <a:solidFill>
                <a:srgbClr val="3880F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80F3"/>
              </a:solidFill>
              <a:ln w="9525" cap="flat">
                <a:solidFill>
                  <a:srgbClr val="3880F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3</c:v>
                </c:pt>
                <c:pt idx="1">
                  <c:v>3</c:v>
                </c:pt>
                <c:pt idx="2">
                  <c:v>4</c:v>
                </c:pt>
                <c:pt idx="3">
                  <c:v>4</c:v>
                </c:pt>
                <c:pt idx="4">
                  <c:v>7</c:v>
                </c:pt>
                <c:pt idx="5">
                  <c:v>8</c:v>
                </c:pt>
                <c:pt idx="6">
                  <c:v>8</c:v>
                </c:pt>
                <c:pt idx="7">
                  <c:v>6</c:v>
                </c:pt>
                <c:pt idx="8">
                  <c:v>5</c:v>
                </c:pt>
                <c:pt idx="9">
                  <c:v>4</c:v>
                </c:pt>
                <c:pt idx="10">
                  <c:v>6</c:v>
                </c:pt>
                <c:pt idx="11">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10</c:v>
                </c:pt>
                <c:pt idx="4">
                  <c:v>9</c:v>
                </c:pt>
                <c:pt idx="5">
                  <c:v>9</c:v>
                </c:pt>
                <c:pt idx="6">
                  <c:v>9</c:v>
                </c:pt>
                <c:pt idx="7">
                  <c:v>9</c:v>
                </c:pt>
                <c:pt idx="8">
                  <c:v>10</c:v>
                </c:pt>
                <c:pt idx="9">
                  <c:v>10</c:v>
                </c:pt>
                <c:pt idx="10">
                  <c:v>10</c:v>
                </c:pt>
                <c:pt idx="11">
                  <c:v>10</c:v>
                </c:pt>
              </c:numCache>
            </c:numRef>
          </c:val>
          <c:smooth val="0"/>
        </c:ser>
        <c:ser>
          <c:idx val="1"/>
          <c:order val="1"/>
          <c:tx>
            <c:strRef>
              <c:f>Sheet1!$C$1</c:f>
              <c:strCache>
                <c:ptCount val="1"/>
                <c:pt idx="0">
                  <c:v>Treatment</c:v>
                </c:pt>
              </c:strCache>
            </c:strRef>
          </c:tx>
          <c:spPr>
            <a:solidFill>
              <a:srgbClr val="8B3A0F"/>
            </a:solidFill>
            <a:ln w="25400" cap="flat">
              <a:solidFill>
                <a:srgbClr val="8B3A0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3A0F"/>
              </a:solidFill>
              <a:ln w="9525" cap="flat">
                <a:solidFill>
                  <a:srgbClr val="8B3A0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5</c:v>
                </c:pt>
                <c:pt idx="1">
                  <c:v>6</c:v>
                </c:pt>
                <c:pt idx="2">
                  <c:v>6</c:v>
                </c:pt>
                <c:pt idx="3">
                  <c:v>6</c:v>
                </c:pt>
                <c:pt idx="4">
                  <c:v>5</c:v>
                </c:pt>
                <c:pt idx="5">
                  <c:v>4</c:v>
                </c:pt>
                <c:pt idx="6">
                  <c:v>4</c:v>
                </c:pt>
                <c:pt idx="7">
                  <c:v>6</c:v>
                </c:pt>
                <c:pt idx="8">
                  <c:v>7</c:v>
                </c:pt>
                <c:pt idx="9">
                  <c:v>7</c:v>
                </c:pt>
                <c:pt idx="10">
                  <c:v>7</c:v>
                </c:pt>
                <c:pt idx="11">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100</c:v>
                </c:pt>
              </c:numCache>
            </c:numRef>
          </c:val>
        </c:ser>
        <c:ser>
          <c:idx val="1"/>
          <c:order val="1"/>
          <c:tx>
            <c:strRef>
              <c:f>Sheet1!$C$1</c:f>
              <c:strCache>
                <c:ptCount val="1"/>
                <c:pt idx="0">
                  <c:v>NA</c:v>
                </c:pt>
              </c:strCache>
            </c:strRef>
          </c:tx>
          <c:spPr>
            <a:solidFill>
              <a:srgbClr val="E5E1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100</c:v>
                </c:pt>
                <c:pt idx="1">
                  <c:v>100</c:v>
                </c:pt>
                <c:pt idx="2">
                  <c:v>100</c:v>
                </c:pt>
                <c:pt idx="3">
                  <c:v>100</c:v>
                </c:pt>
                <c:pt idx="4">
                  <c:v>100</c:v>
                </c:pt>
                <c:pt idx="5">
                  <c:v>100</c:v>
                </c:pt>
                <c:pt idx="6">
                  <c:v>100</c:v>
                </c:pt>
                <c:pt idx="7">
                  <c:v>100</c:v>
                </c:pt>
                <c:pt idx="8">
                  <c:v>100</c:v>
                </c:pt>
                <c:pt idx="9">
                  <c:v>100</c:v>
                </c:pt>
                <c:pt idx="10">
                  <c:v>100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0</c:v>
                </c:pt>
                <c:pt idx="1">
                  <c:v>0</c:v>
                </c:pt>
                <c:pt idx="2">
                  <c:v>0</c:v>
                </c:pt>
                <c:pt idx="3">
                  <c:v>0</c:v>
                </c:pt>
                <c:pt idx="4">
                  <c:v>0</c:v>
                </c:pt>
                <c:pt idx="5">
                  <c:v>0</c:v>
                </c:pt>
                <c:pt idx="6">
                  <c:v>0</c:v>
                </c:pt>
                <c:pt idx="7">
                  <c:v>0</c:v>
                </c:pt>
                <c:pt idx="8">
                  <c:v>10</c:v>
                </c:pt>
                <c:pt idx="9">
                  <c:v>0</c:v>
                </c:pt>
                <c:pt idx="10">
                  <c:v>0</c:v>
                </c:pt>
                <c:pt idx="11">
                  <c:v>80</c:v>
                </c:pt>
              </c:numCache>
            </c:numRef>
          </c:val>
        </c:ser>
        <c:ser>
          <c:idx val="1"/>
          <c:order val="1"/>
          <c:tx>
            <c:strRef>
              <c:f>Sheet1!$C$1</c:f>
              <c:strCache>
                <c:ptCount val="1"/>
                <c:pt idx="0">
                  <c:v>Other</c:v>
                </c:pt>
              </c:strCache>
            </c:strRef>
          </c:tx>
          <c:spPr>
            <a:solidFill>
              <a:srgbClr val="8B3A0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20</c:v>
                </c:pt>
              </c:numCache>
            </c:numRef>
          </c:val>
        </c:ser>
        <c:ser>
          <c:idx val="2"/>
          <c:order val="2"/>
          <c:tx>
            <c:strRef>
              <c:f>Sheet1!$D$1</c:f>
              <c:strCache>
                <c:ptCount val="1"/>
                <c:pt idx="0">
                  <c:v>NA</c:v>
                </c:pt>
              </c:strCache>
            </c:strRef>
          </c:tx>
          <c:spPr>
            <a:solidFill>
              <a:srgbClr val="E5E1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Sheet1!$D$2:$D$13</c:f>
              <c:numCache>
                <c:formatCode>General</c:formatCode>
                <c:ptCount val="12"/>
                <c:pt idx="0">
                  <c:v>100</c:v>
                </c:pt>
                <c:pt idx="1">
                  <c:v>100</c:v>
                </c:pt>
                <c:pt idx="2">
                  <c:v>100</c:v>
                </c:pt>
                <c:pt idx="3">
                  <c:v>100</c:v>
                </c:pt>
                <c:pt idx="4">
                  <c:v>100</c:v>
                </c:pt>
                <c:pt idx="5">
                  <c:v>100</c:v>
                </c:pt>
                <c:pt idx="6">
                  <c:v>100</c:v>
                </c:pt>
                <c:pt idx="7">
                  <c:v>100</c:v>
                </c:pt>
                <c:pt idx="8">
                  <c:v>90</c:v>
                </c:pt>
                <c:pt idx="9">
                  <c:v>100</c:v>
                </c:pt>
                <c:pt idx="10">
                  <c:v>100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9</c:v>
                </c:pt>
                <c:pt idx="1">
                  <c:v>9</c:v>
                </c:pt>
                <c:pt idx="2">
                  <c:v>9</c:v>
                </c:pt>
                <c:pt idx="3">
                  <c:v>9</c:v>
                </c:pt>
                <c:pt idx="4">
                  <c:v>9</c:v>
                </c:pt>
                <c:pt idx="5">
                  <c:v>9</c:v>
                </c:pt>
                <c:pt idx="6">
                  <c:v>9</c:v>
                </c:pt>
                <c:pt idx="7">
                  <c:v>9</c:v>
                </c:pt>
                <c:pt idx="8">
                  <c:v>9</c:v>
                </c:pt>
                <c:pt idx="9">
                  <c:v>9</c:v>
                </c:pt>
                <c:pt idx="10">
                  <c:v>9</c:v>
                </c:pt>
                <c:pt idx="11">
                  <c:v>9</c:v>
                </c:pt>
              </c:numCache>
            </c:numRef>
          </c:val>
          <c:smooth val="0"/>
        </c:ser>
        <c:ser>
          <c:idx val="1"/>
          <c:order val="1"/>
          <c:tx>
            <c:strRef>
              <c:f>Sheet1!$C$1</c:f>
              <c:strCache>
                <c:ptCount val="1"/>
                <c:pt idx="0">
                  <c:v>Treatment</c:v>
                </c:pt>
              </c:strCache>
            </c:strRef>
          </c:tx>
          <c:spPr>
            <a:solidFill>
              <a:srgbClr val="2D6A4F"/>
            </a:solidFill>
            <a:ln w="25400" cap="flat">
              <a:solidFill>
                <a:srgbClr val="2D6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A4F"/>
              </a:solidFill>
              <a:ln w="9525" cap="flat">
                <a:solidFill>
                  <a:srgbClr val="2D6A4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8</c:v>
                </c:pt>
                <c:pt idx="1">
                  <c:v>8</c:v>
                </c:pt>
                <c:pt idx="2">
                  <c:v>8</c:v>
                </c:pt>
                <c:pt idx="3">
                  <c:v>8</c:v>
                </c:pt>
                <c:pt idx="4">
                  <c:v>8</c:v>
                </c:pt>
                <c:pt idx="5">
                  <c:v>8</c:v>
                </c:pt>
                <c:pt idx="6">
                  <c:v>8</c:v>
                </c:pt>
                <c:pt idx="7">
                  <c:v>8</c:v>
                </c:pt>
                <c:pt idx="8">
                  <c:v>8</c:v>
                </c:pt>
                <c:pt idx="9">
                  <c:v>8</c:v>
                </c:pt>
                <c:pt idx="10">
                  <c:v>8</c:v>
                </c:pt>
                <c:pt idx="11">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5</c:v>
                </c:pt>
              </c:numCache>
            </c:numRef>
          </c:val>
          <c:smooth val="0"/>
        </c:ser>
        <c:ser>
          <c:idx val="1"/>
          <c:order val="1"/>
          <c:tx>
            <c:strRef>
              <c:f>Sheet1!$C$1</c:f>
              <c:strCache>
                <c:ptCount val="1"/>
                <c:pt idx="0">
                  <c:v>Treatment</c:v>
                </c:pt>
              </c:strCache>
            </c:strRef>
          </c:tx>
          <c:spPr>
            <a:solidFill>
              <a:srgbClr val="D4A843"/>
            </a:solidFill>
            <a:ln w="25400" cap="flat">
              <a:solidFill>
                <a:srgbClr val="D4A8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843"/>
              </a:solidFill>
              <a:ln w="9525" cap="flat">
                <a:solidFill>
                  <a:srgbClr val="D4A84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4</c:v>
                </c:pt>
                <c:pt idx="1">
                  <c:v>4</c:v>
                </c:pt>
                <c:pt idx="2">
                  <c:v>4</c:v>
                </c:pt>
                <c:pt idx="3">
                  <c:v>5</c:v>
                </c:pt>
                <c:pt idx="4">
                  <c:v>5</c:v>
                </c:pt>
                <c:pt idx="5">
                  <c:v>5</c:v>
                </c:pt>
                <c:pt idx="6">
                  <c:v>5</c:v>
                </c:pt>
                <c:pt idx="7">
                  <c:v>6</c:v>
                </c:pt>
                <c:pt idx="8">
                  <c:v>6</c:v>
                </c:pt>
                <c:pt idx="9">
                  <c:v>6</c:v>
                </c:pt>
                <c:pt idx="10">
                  <c:v>6</c:v>
                </c:pt>
                <c:pt idx="11">
                  <c:v>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3</c:v>
                </c:pt>
                <c:pt idx="1">
                  <c:v>3</c:v>
                </c:pt>
                <c:pt idx="2">
                  <c:v>3</c:v>
                </c:pt>
                <c:pt idx="3">
                  <c:v>3</c:v>
                </c:pt>
                <c:pt idx="4">
                  <c:v>3</c:v>
                </c:pt>
                <c:pt idx="5">
                  <c:v>3</c:v>
                </c:pt>
                <c:pt idx="6">
                  <c:v>3</c:v>
                </c:pt>
                <c:pt idx="7">
                  <c:v>3</c:v>
                </c:pt>
                <c:pt idx="8">
                  <c:v>3</c:v>
                </c:pt>
                <c:pt idx="9">
                  <c:v>3</c:v>
                </c:pt>
                <c:pt idx="10">
                  <c:v>3</c:v>
                </c:pt>
                <c:pt idx="11">
                  <c:v>3</c:v>
                </c:pt>
              </c:numCache>
            </c:numRef>
          </c:val>
          <c:smooth val="0"/>
        </c:ser>
        <c:ser>
          <c:idx val="1"/>
          <c:order val="1"/>
          <c:tx>
            <c:strRef>
              <c:f>Sheet1!$C$1</c:f>
              <c:strCache>
                <c:ptCount val="1"/>
                <c:pt idx="0">
                  <c:v>Treatment</c:v>
                </c:pt>
              </c:strCache>
            </c:strRef>
          </c:tx>
          <c:spPr>
            <a:solidFill>
              <a:srgbClr val="3880F3"/>
            </a:solidFill>
            <a:ln w="25400" cap="flat">
              <a:solidFill>
                <a:srgbClr val="3880F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80F3"/>
              </a:solidFill>
              <a:ln w="9525" cap="flat">
                <a:solidFill>
                  <a:srgbClr val="3880F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2</c:v>
                </c:pt>
                <c:pt idx="1">
                  <c:v>2</c:v>
                </c:pt>
                <c:pt idx="2">
                  <c:v>2</c:v>
                </c:pt>
                <c:pt idx="3">
                  <c:v>2</c:v>
                </c:pt>
                <c:pt idx="4">
                  <c:v>4</c:v>
                </c:pt>
                <c:pt idx="5">
                  <c:v>5</c:v>
                </c:pt>
                <c:pt idx="6">
                  <c:v>4</c:v>
                </c:pt>
                <c:pt idx="7">
                  <c:v>3</c:v>
                </c:pt>
                <c:pt idx="8">
                  <c:v>3</c:v>
                </c:pt>
                <c:pt idx="9">
                  <c:v>3</c:v>
                </c:pt>
                <c:pt idx="10">
                  <c:v>3</c:v>
                </c:pt>
                <c:pt idx="11">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9</c:v>
                </c:pt>
                <c:pt idx="1">
                  <c:v>9</c:v>
                </c:pt>
                <c:pt idx="2">
                  <c:v>9</c:v>
                </c:pt>
                <c:pt idx="3">
                  <c:v>9</c:v>
                </c:pt>
                <c:pt idx="4">
                  <c:v>9</c:v>
                </c:pt>
                <c:pt idx="5">
                  <c:v>9</c:v>
                </c:pt>
                <c:pt idx="6">
                  <c:v>9</c:v>
                </c:pt>
                <c:pt idx="7">
                  <c:v>9</c:v>
                </c:pt>
                <c:pt idx="8">
                  <c:v>9</c:v>
                </c:pt>
                <c:pt idx="9">
                  <c:v>9</c:v>
                </c:pt>
                <c:pt idx="10">
                  <c:v>9</c:v>
                </c:pt>
                <c:pt idx="11">
                  <c:v>9</c:v>
                </c:pt>
              </c:numCache>
            </c:numRef>
          </c:val>
          <c:smooth val="0"/>
        </c:ser>
        <c:ser>
          <c:idx val="1"/>
          <c:order val="1"/>
          <c:tx>
            <c:strRef>
              <c:f>Sheet1!$C$1</c:f>
              <c:strCache>
                <c:ptCount val="1"/>
                <c:pt idx="0">
                  <c:v>Treatment</c:v>
                </c:pt>
              </c:strCache>
            </c:strRef>
          </c:tx>
          <c:spPr>
            <a:solidFill>
              <a:srgbClr val="8B3A0F"/>
            </a:solidFill>
            <a:ln w="25400" cap="flat">
              <a:solidFill>
                <a:srgbClr val="8B3A0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3A0F"/>
              </a:solidFill>
              <a:ln w="9525" cap="flat">
                <a:solidFill>
                  <a:srgbClr val="8B3A0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7</c:v>
                </c:pt>
                <c:pt idx="1">
                  <c:v>8</c:v>
                </c:pt>
                <c:pt idx="2">
                  <c:v>8</c:v>
                </c:pt>
                <c:pt idx="3">
                  <c:v>8</c:v>
                </c:pt>
                <c:pt idx="4">
                  <c:v>8</c:v>
                </c:pt>
                <c:pt idx="5">
                  <c:v>8</c:v>
                </c:pt>
                <c:pt idx="6">
                  <c:v>8</c:v>
                </c:pt>
                <c:pt idx="7">
                  <c:v>8</c:v>
                </c:pt>
                <c:pt idx="8">
                  <c:v>9</c:v>
                </c:pt>
                <c:pt idx="9">
                  <c:v>9</c:v>
                </c:pt>
                <c:pt idx="10">
                  <c:v>9</c:v>
                </c:pt>
                <c:pt idx="11">
                  <c:v>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100</c:v>
                </c:pt>
                <c:pt idx="1">
                  <c:v>100</c:v>
                </c:pt>
                <c:pt idx="2">
                  <c:v>100</c:v>
                </c:pt>
                <c:pt idx="3">
                  <c:v>100</c:v>
                </c:pt>
                <c:pt idx="4">
                  <c:v>100</c:v>
                </c:pt>
                <c:pt idx="5">
                  <c:v>100</c:v>
                </c:pt>
                <c:pt idx="6">
                  <c:v>90</c:v>
                </c:pt>
                <c:pt idx="7">
                  <c:v>100</c:v>
                </c:pt>
                <c:pt idx="8">
                  <c:v>100</c:v>
                </c:pt>
                <c:pt idx="9">
                  <c:v>100</c:v>
                </c:pt>
                <c:pt idx="10">
                  <c:v>100</c:v>
                </c:pt>
                <c:pt idx="11">
                  <c:v>100</c:v>
                </c:pt>
              </c:numCache>
            </c:numRef>
          </c:val>
        </c:ser>
        <c:ser>
          <c:idx val="1"/>
          <c:order val="1"/>
          <c:tx>
            <c:strRef>
              <c:f>Sheet1!$C$1</c:f>
              <c:strCache>
                <c:ptCount val="1"/>
                <c:pt idx="0">
                  <c:v>NA</c:v>
                </c:pt>
              </c:strCache>
            </c:strRef>
          </c:tx>
          <c:spPr>
            <a:solidFill>
              <a:srgbClr val="E5E1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0</c:v>
                </c:pt>
                <c:pt idx="1">
                  <c:v>0</c:v>
                </c:pt>
                <c:pt idx="2">
                  <c:v>0</c:v>
                </c:pt>
                <c:pt idx="3">
                  <c:v>0</c:v>
                </c:pt>
                <c:pt idx="4">
                  <c:v>0</c:v>
                </c:pt>
                <c:pt idx="5">
                  <c:v>0</c:v>
                </c:pt>
                <c:pt idx="6">
                  <c:v>10</c:v>
                </c:pt>
                <c:pt idx="7">
                  <c:v>0</c:v>
                </c:pt>
                <c:pt idx="8">
                  <c:v>0</c:v>
                </c:pt>
                <c:pt idx="9">
                  <c:v>0</c:v>
                </c:pt>
                <c:pt idx="10">
                  <c:v>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100</c:v>
                </c:pt>
                <c:pt idx="1">
                  <c:v>100</c:v>
                </c:pt>
                <c:pt idx="2">
                  <c:v>100</c:v>
                </c:pt>
                <c:pt idx="3">
                  <c:v>100</c:v>
                </c:pt>
                <c:pt idx="4">
                  <c:v>90</c:v>
                </c:pt>
                <c:pt idx="5">
                  <c:v>60</c:v>
                </c:pt>
                <c:pt idx="6">
                  <c:v>80</c:v>
                </c:pt>
                <c:pt idx="7">
                  <c:v>90</c:v>
                </c:pt>
                <c:pt idx="8">
                  <c:v>80</c:v>
                </c:pt>
                <c:pt idx="9">
                  <c:v>80</c:v>
                </c:pt>
                <c:pt idx="10">
                  <c:v>80</c:v>
                </c:pt>
                <c:pt idx="11">
                  <c:v>80</c:v>
                </c:pt>
              </c:numCache>
            </c:numRef>
          </c:val>
        </c:ser>
        <c:ser>
          <c:idx val="1"/>
          <c:order val="1"/>
          <c:tx>
            <c:strRef>
              <c:f>Sheet1!$C$1</c:f>
              <c:strCache>
                <c:ptCount val="1"/>
                <c:pt idx="0">
                  <c:v>Core</c:v>
                </c:pt>
              </c:strCache>
            </c:strRef>
          </c:tx>
          <c:spPr>
            <a:solidFill>
              <a:srgbClr val="5B2C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0</c:v>
                </c:pt>
                <c:pt idx="1">
                  <c:v>0</c:v>
                </c:pt>
                <c:pt idx="2">
                  <c:v>0</c:v>
                </c:pt>
                <c:pt idx="3">
                  <c:v>0</c:v>
                </c:pt>
                <c:pt idx="4">
                  <c:v>10</c:v>
                </c:pt>
                <c:pt idx="5">
                  <c:v>30</c:v>
                </c:pt>
                <c:pt idx="6">
                  <c:v>20</c:v>
                </c:pt>
                <c:pt idx="7">
                  <c:v>10</c:v>
                </c:pt>
                <c:pt idx="8">
                  <c:v>20</c:v>
                </c:pt>
                <c:pt idx="9">
                  <c:v>20</c:v>
                </c:pt>
                <c:pt idx="10">
                  <c:v>20</c:v>
                </c:pt>
                <c:pt idx="11">
                  <c:v>20</c:v>
                </c:pt>
              </c:numCache>
            </c:numRef>
          </c:val>
        </c:ser>
        <c:ser>
          <c:idx val="2"/>
          <c:order val="2"/>
          <c:tx>
            <c:strRef>
              <c:f>Sheet1!$D$1</c:f>
              <c:strCache>
                <c:ptCount val="1"/>
                <c:pt idx="0">
                  <c:v>Other</c:v>
                </c:pt>
              </c:strCache>
            </c:strRef>
          </c:tx>
          <c:spPr>
            <a:solidFill>
              <a:srgbClr val="8B3A0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Sheet1!$D$2:$D$13</c:f>
              <c:numCache>
                <c:formatCode>General</c:formatCode>
                <c:ptCount val="12"/>
                <c:pt idx="0">
                  <c:v>0</c:v>
                </c:pt>
                <c:pt idx="1">
                  <c:v>0</c:v>
                </c:pt>
                <c:pt idx="2">
                  <c:v>0</c:v>
                </c:pt>
                <c:pt idx="3">
                  <c:v>0</c:v>
                </c:pt>
                <c:pt idx="4">
                  <c:v>0</c:v>
                </c:pt>
                <c:pt idx="5">
                  <c:v>10</c:v>
                </c:pt>
                <c:pt idx="6">
                  <c:v>0</c:v>
                </c:pt>
                <c:pt idx="7">
                  <c:v>0</c:v>
                </c:pt>
                <c:pt idx="8">
                  <c:v>0</c:v>
                </c:pt>
                <c:pt idx="9">
                  <c:v>0</c:v>
                </c:pt>
                <c:pt idx="10">
                  <c:v>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9</c:v>
                </c:pt>
                <c:pt idx="1">
                  <c:v>9</c:v>
                </c:pt>
                <c:pt idx="2">
                  <c:v>9</c:v>
                </c:pt>
                <c:pt idx="3">
                  <c:v>9</c:v>
                </c:pt>
                <c:pt idx="4">
                  <c:v>9</c:v>
                </c:pt>
                <c:pt idx="5">
                  <c:v>9</c:v>
                </c:pt>
                <c:pt idx="6">
                  <c:v>9</c:v>
                </c:pt>
                <c:pt idx="7">
                  <c:v>9</c:v>
                </c:pt>
                <c:pt idx="8">
                  <c:v>9</c:v>
                </c:pt>
                <c:pt idx="9">
                  <c:v>9</c:v>
                </c:pt>
                <c:pt idx="10">
                  <c:v>9</c:v>
                </c:pt>
                <c:pt idx="11">
                  <c:v>9</c:v>
                </c:pt>
              </c:numCache>
            </c:numRef>
          </c:val>
          <c:smooth val="0"/>
        </c:ser>
        <c:ser>
          <c:idx val="1"/>
          <c:order val="1"/>
          <c:tx>
            <c:strRef>
              <c:f>Sheet1!$C$1</c:f>
              <c:strCache>
                <c:ptCount val="1"/>
                <c:pt idx="0">
                  <c:v>Treatment</c:v>
                </c:pt>
              </c:strCache>
            </c:strRef>
          </c:tx>
          <c:spPr>
            <a:solidFill>
              <a:srgbClr val="2D6A4F"/>
            </a:solidFill>
            <a:ln w="25400" cap="flat">
              <a:solidFill>
                <a:srgbClr val="2D6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A4F"/>
              </a:solidFill>
              <a:ln w="9525" cap="flat">
                <a:solidFill>
                  <a:srgbClr val="2D6A4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8</c:v>
                </c:pt>
                <c:pt idx="1">
                  <c:v>9</c:v>
                </c:pt>
                <c:pt idx="2">
                  <c:v>9</c:v>
                </c:pt>
                <c:pt idx="3">
                  <c:v>9</c:v>
                </c:pt>
                <c:pt idx="4">
                  <c:v>9</c:v>
                </c:pt>
                <c:pt idx="5">
                  <c:v>9</c:v>
                </c:pt>
                <c:pt idx="6">
                  <c:v>9</c:v>
                </c:pt>
                <c:pt idx="7">
                  <c:v>9</c:v>
                </c:pt>
                <c:pt idx="8">
                  <c:v>9</c:v>
                </c:pt>
                <c:pt idx="9">
                  <c:v>9</c:v>
                </c:pt>
                <c:pt idx="10">
                  <c:v>9</c:v>
                </c:pt>
                <c:pt idx="11">
                  <c:v>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6</c:v>
                </c:pt>
                <c:pt idx="1">
                  <c:v>6</c:v>
                </c:pt>
                <c:pt idx="2">
                  <c:v>6</c:v>
                </c:pt>
                <c:pt idx="3">
                  <c:v>6</c:v>
                </c:pt>
                <c:pt idx="4">
                  <c:v>6</c:v>
                </c:pt>
                <c:pt idx="5">
                  <c:v>6</c:v>
                </c:pt>
                <c:pt idx="6">
                  <c:v>6</c:v>
                </c:pt>
                <c:pt idx="7">
                  <c:v>6</c:v>
                </c:pt>
                <c:pt idx="8">
                  <c:v>6</c:v>
                </c:pt>
                <c:pt idx="9">
                  <c:v>6</c:v>
                </c:pt>
                <c:pt idx="10">
                  <c:v>6</c:v>
                </c:pt>
                <c:pt idx="11">
                  <c:v>6</c:v>
                </c:pt>
              </c:numCache>
            </c:numRef>
          </c:val>
          <c:smooth val="0"/>
        </c:ser>
        <c:ser>
          <c:idx val="1"/>
          <c:order val="1"/>
          <c:tx>
            <c:strRef>
              <c:f>Sheet1!$C$1</c:f>
              <c:strCache>
                <c:ptCount val="1"/>
                <c:pt idx="0">
                  <c:v>Treatment</c:v>
                </c:pt>
              </c:strCache>
            </c:strRef>
          </c:tx>
          <c:spPr>
            <a:solidFill>
              <a:srgbClr val="D4A843"/>
            </a:solidFill>
            <a:ln w="25400" cap="flat">
              <a:solidFill>
                <a:srgbClr val="D4A8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843"/>
              </a:solidFill>
              <a:ln w="9525" cap="flat">
                <a:solidFill>
                  <a:srgbClr val="D4A84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6</c:v>
                </c:pt>
                <c:pt idx="1">
                  <c:v>6</c:v>
                </c:pt>
                <c:pt idx="2">
                  <c:v>6</c:v>
                </c:pt>
                <c:pt idx="3">
                  <c:v>6</c:v>
                </c:pt>
                <c:pt idx="4">
                  <c:v>6</c:v>
                </c:pt>
                <c:pt idx="5">
                  <c:v>6</c:v>
                </c:pt>
                <c:pt idx="6">
                  <c:v>6</c:v>
                </c:pt>
                <c:pt idx="7">
                  <c:v>7</c:v>
                </c:pt>
                <c:pt idx="8">
                  <c:v>7</c:v>
                </c:pt>
                <c:pt idx="9">
                  <c:v>7</c:v>
                </c:pt>
                <c:pt idx="10">
                  <c:v>7</c:v>
                </c:pt>
                <c:pt idx="11">
                  <c:v>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6</c:v>
                </c:pt>
                <c:pt idx="1">
                  <c:v>6</c:v>
                </c:pt>
                <c:pt idx="2">
                  <c:v>6</c:v>
                </c:pt>
                <c:pt idx="3">
                  <c:v>6</c:v>
                </c:pt>
                <c:pt idx="4">
                  <c:v>6</c:v>
                </c:pt>
                <c:pt idx="5">
                  <c:v>6</c:v>
                </c:pt>
                <c:pt idx="6">
                  <c:v>6</c:v>
                </c:pt>
                <c:pt idx="7">
                  <c:v>6</c:v>
                </c:pt>
                <c:pt idx="8">
                  <c:v>6</c:v>
                </c:pt>
                <c:pt idx="9">
                  <c:v>6</c:v>
                </c:pt>
                <c:pt idx="10">
                  <c:v>6</c:v>
                </c:pt>
                <c:pt idx="11">
                  <c:v>6</c:v>
                </c:pt>
              </c:numCache>
            </c:numRef>
          </c:val>
          <c:smooth val="0"/>
        </c:ser>
        <c:ser>
          <c:idx val="1"/>
          <c:order val="1"/>
          <c:tx>
            <c:strRef>
              <c:f>Sheet1!$C$1</c:f>
              <c:strCache>
                <c:ptCount val="1"/>
                <c:pt idx="0">
                  <c:v>Treatment</c:v>
                </c:pt>
              </c:strCache>
            </c:strRef>
          </c:tx>
          <c:spPr>
            <a:solidFill>
              <a:srgbClr val="3880F3"/>
            </a:solidFill>
            <a:ln w="25400" cap="flat">
              <a:solidFill>
                <a:srgbClr val="3880F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80F3"/>
              </a:solidFill>
              <a:ln w="9525" cap="flat">
                <a:solidFill>
                  <a:srgbClr val="3880F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7</c:v>
                </c:pt>
                <c:pt idx="1">
                  <c:v>6</c:v>
                </c:pt>
                <c:pt idx="2">
                  <c:v>6</c:v>
                </c:pt>
                <c:pt idx="3">
                  <c:v>6</c:v>
                </c:pt>
                <c:pt idx="4">
                  <c:v>8</c:v>
                </c:pt>
                <c:pt idx="5">
                  <c:v>8</c:v>
                </c:pt>
                <c:pt idx="6">
                  <c:v>7</c:v>
                </c:pt>
                <c:pt idx="7">
                  <c:v>6</c:v>
                </c:pt>
                <c:pt idx="8">
                  <c:v>6</c:v>
                </c:pt>
                <c:pt idx="9">
                  <c:v>6</c:v>
                </c:pt>
                <c:pt idx="10">
                  <c:v>6</c:v>
                </c:pt>
                <c:pt idx="11">
                  <c:v>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9</c:v>
                </c:pt>
                <c:pt idx="1">
                  <c:v>9</c:v>
                </c:pt>
                <c:pt idx="2">
                  <c:v>9</c:v>
                </c:pt>
                <c:pt idx="3">
                  <c:v>9</c:v>
                </c:pt>
                <c:pt idx="4">
                  <c:v>9</c:v>
                </c:pt>
                <c:pt idx="5">
                  <c:v>9</c:v>
                </c:pt>
                <c:pt idx="6">
                  <c:v>9</c:v>
                </c:pt>
                <c:pt idx="7">
                  <c:v>9</c:v>
                </c:pt>
                <c:pt idx="8">
                  <c:v>9</c:v>
                </c:pt>
                <c:pt idx="9">
                  <c:v>9</c:v>
                </c:pt>
                <c:pt idx="10">
                  <c:v>9</c:v>
                </c:pt>
                <c:pt idx="11">
                  <c:v>9</c:v>
                </c:pt>
              </c:numCache>
            </c:numRef>
          </c:val>
          <c:smooth val="0"/>
        </c:ser>
        <c:ser>
          <c:idx val="1"/>
          <c:order val="1"/>
          <c:tx>
            <c:strRef>
              <c:f>Sheet1!$C$1</c:f>
              <c:strCache>
                <c:ptCount val="1"/>
                <c:pt idx="0">
                  <c:v>Treatment</c:v>
                </c:pt>
              </c:strCache>
            </c:strRef>
          </c:tx>
          <c:spPr>
            <a:solidFill>
              <a:srgbClr val="8B3A0F"/>
            </a:solidFill>
            <a:ln w="25400" cap="flat">
              <a:solidFill>
                <a:srgbClr val="8B3A0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3A0F"/>
              </a:solidFill>
              <a:ln w="9525" cap="flat">
                <a:solidFill>
                  <a:srgbClr val="8B3A0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8</c:v>
                </c:pt>
                <c:pt idx="1">
                  <c:v>8</c:v>
                </c:pt>
                <c:pt idx="2">
                  <c:v>9</c:v>
                </c:pt>
                <c:pt idx="3">
                  <c:v>9</c:v>
                </c:pt>
                <c:pt idx="4">
                  <c:v>9</c:v>
                </c:pt>
                <c:pt idx="5">
                  <c:v>8</c:v>
                </c:pt>
                <c:pt idx="6">
                  <c:v>9</c:v>
                </c:pt>
                <c:pt idx="7">
                  <c:v>9</c:v>
                </c:pt>
                <c:pt idx="8">
                  <c:v>9</c:v>
                </c:pt>
                <c:pt idx="9">
                  <c:v>9</c:v>
                </c:pt>
                <c:pt idx="10">
                  <c:v>9</c:v>
                </c:pt>
                <c:pt idx="11">
                  <c:v>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100</c:v>
                </c:pt>
                <c:pt idx="1">
                  <c:v>30</c:v>
                </c:pt>
                <c:pt idx="2">
                  <c:v>70</c:v>
                </c:pt>
                <c:pt idx="3">
                  <c:v>100</c:v>
                </c:pt>
                <c:pt idx="4">
                  <c:v>30</c:v>
                </c:pt>
                <c:pt idx="5">
                  <c:v>80</c:v>
                </c:pt>
                <c:pt idx="6">
                  <c:v>90</c:v>
                </c:pt>
                <c:pt idx="7">
                  <c:v>50</c:v>
                </c:pt>
                <c:pt idx="8">
                  <c:v>80</c:v>
                </c:pt>
                <c:pt idx="9">
                  <c:v>80</c:v>
                </c:pt>
                <c:pt idx="10">
                  <c:v>50</c:v>
                </c:pt>
                <c:pt idx="11">
                  <c:v>90</c:v>
                </c:pt>
              </c:numCache>
            </c:numRef>
          </c:val>
        </c:ser>
        <c:ser>
          <c:idx val="1"/>
          <c:order val="1"/>
          <c:tx>
            <c:strRef>
              <c:f>Sheet1!$C$1</c:f>
              <c:strCache>
                <c:ptCount val="1"/>
                <c:pt idx="0">
                  <c:v>Core</c:v>
                </c:pt>
              </c:strCache>
            </c:strRef>
          </c:tx>
          <c:spPr>
            <a:solidFill>
              <a:srgbClr val="5B2C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0</c:v>
                </c:pt>
                <c:pt idx="1">
                  <c:v>70</c:v>
                </c:pt>
                <c:pt idx="2">
                  <c:v>30</c:v>
                </c:pt>
                <c:pt idx="3">
                  <c:v>0</c:v>
                </c:pt>
                <c:pt idx="4">
                  <c:v>70</c:v>
                </c:pt>
                <c:pt idx="5">
                  <c:v>20</c:v>
                </c:pt>
                <c:pt idx="6">
                  <c:v>10</c:v>
                </c:pt>
                <c:pt idx="7">
                  <c:v>50</c:v>
                </c:pt>
                <c:pt idx="8">
                  <c:v>20</c:v>
                </c:pt>
                <c:pt idx="9">
                  <c:v>20</c:v>
                </c:pt>
                <c:pt idx="10">
                  <c:v>50</c:v>
                </c:pt>
                <c:pt idx="11">
                  <c:v>10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100</c:v>
                </c:pt>
                <c:pt idx="1">
                  <c:v>50</c:v>
                </c:pt>
                <c:pt idx="2">
                  <c:v>60</c:v>
                </c:pt>
                <c:pt idx="3">
                  <c:v>60</c:v>
                </c:pt>
                <c:pt idx="4">
                  <c:v>0</c:v>
                </c:pt>
                <c:pt idx="5">
                  <c:v>30</c:v>
                </c:pt>
                <c:pt idx="6">
                  <c:v>80</c:v>
                </c:pt>
                <c:pt idx="7">
                  <c:v>100</c:v>
                </c:pt>
                <c:pt idx="8">
                  <c:v>50</c:v>
                </c:pt>
                <c:pt idx="9">
                  <c:v>60</c:v>
                </c:pt>
                <c:pt idx="10">
                  <c:v>50</c:v>
                </c:pt>
                <c:pt idx="11">
                  <c:v>100</c:v>
                </c:pt>
              </c:numCache>
            </c:numRef>
          </c:val>
        </c:ser>
        <c:ser>
          <c:idx val="1"/>
          <c:order val="1"/>
          <c:tx>
            <c:strRef>
              <c:f>Sheet1!$C$1</c:f>
              <c:strCache>
                <c:ptCount val="1"/>
                <c:pt idx="0">
                  <c:v>Core</c:v>
                </c:pt>
              </c:strCache>
            </c:strRef>
          </c:tx>
          <c:spPr>
            <a:solidFill>
              <a:srgbClr val="5B2C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0</c:v>
                </c:pt>
                <c:pt idx="1">
                  <c:v>20</c:v>
                </c:pt>
                <c:pt idx="2">
                  <c:v>20</c:v>
                </c:pt>
                <c:pt idx="3">
                  <c:v>30</c:v>
                </c:pt>
                <c:pt idx="4">
                  <c:v>0</c:v>
                </c:pt>
                <c:pt idx="5">
                  <c:v>10</c:v>
                </c:pt>
                <c:pt idx="6">
                  <c:v>20</c:v>
                </c:pt>
                <c:pt idx="7">
                  <c:v>0</c:v>
                </c:pt>
                <c:pt idx="8">
                  <c:v>50</c:v>
                </c:pt>
                <c:pt idx="9">
                  <c:v>10</c:v>
                </c:pt>
                <c:pt idx="10">
                  <c:v>0</c:v>
                </c:pt>
                <c:pt idx="11">
                  <c:v>0</c:v>
                </c:pt>
              </c:numCache>
            </c:numRef>
          </c:val>
        </c:ser>
        <c:ser>
          <c:idx val="2"/>
          <c:order val="2"/>
          <c:tx>
            <c:strRef>
              <c:f>Sheet1!$D$1</c:f>
              <c:strCache>
                <c:ptCount val="1"/>
                <c:pt idx="0">
                  <c:v>CPN</c:v>
                </c:pt>
              </c:strCache>
            </c:strRef>
          </c:tx>
          <c:spPr>
            <a:solidFill>
              <a:srgbClr val="3880F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Sheet1!$D$2:$D$13</c:f>
              <c:numCache>
                <c:formatCode>General</c:formatCode>
                <c:ptCount val="12"/>
                <c:pt idx="0">
                  <c:v>0</c:v>
                </c:pt>
                <c:pt idx="1">
                  <c:v>0</c:v>
                </c:pt>
                <c:pt idx="2">
                  <c:v>0</c:v>
                </c:pt>
                <c:pt idx="3">
                  <c:v>0</c:v>
                </c:pt>
                <c:pt idx="4">
                  <c:v>30</c:v>
                </c:pt>
                <c:pt idx="5">
                  <c:v>40</c:v>
                </c:pt>
                <c:pt idx="6">
                  <c:v>0</c:v>
                </c:pt>
                <c:pt idx="7">
                  <c:v>0</c:v>
                </c:pt>
                <c:pt idx="8">
                  <c:v>0</c:v>
                </c:pt>
                <c:pt idx="9">
                  <c:v>0</c:v>
                </c:pt>
                <c:pt idx="10">
                  <c:v>0</c:v>
                </c:pt>
                <c:pt idx="11">
                  <c:v>0</c:v>
                </c:pt>
              </c:numCache>
            </c:numRef>
          </c:val>
        </c:ser>
        <c:ser>
          <c:idx val="3"/>
          <c:order val="3"/>
          <c:tx>
            <c:strRef>
              <c:f>Sheet1!$E$1</c:f>
              <c:strCache>
                <c:ptCount val="1"/>
                <c:pt idx="0">
                  <c:v>Both</c:v>
                </c:pt>
              </c:strCache>
            </c:strRef>
          </c:tx>
          <c:spPr>
            <a:solidFill>
              <a:srgbClr val="D4A8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Sheet1!$E$2:$E$13</c:f>
              <c:numCache>
                <c:formatCode>General</c:formatCode>
                <c:ptCount val="12"/>
                <c:pt idx="0">
                  <c:v>0</c:v>
                </c:pt>
                <c:pt idx="1">
                  <c:v>30</c:v>
                </c:pt>
                <c:pt idx="2">
                  <c:v>20</c:v>
                </c:pt>
                <c:pt idx="3">
                  <c:v>10</c:v>
                </c:pt>
                <c:pt idx="4">
                  <c:v>70</c:v>
                </c:pt>
                <c:pt idx="5">
                  <c:v>20</c:v>
                </c:pt>
                <c:pt idx="6">
                  <c:v>0</c:v>
                </c:pt>
                <c:pt idx="7">
                  <c:v>0</c:v>
                </c:pt>
                <c:pt idx="8">
                  <c:v>0</c:v>
                </c:pt>
                <c:pt idx="9">
                  <c:v>30</c:v>
                </c:pt>
                <c:pt idx="10">
                  <c:v>50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8</c:v>
                </c:pt>
                <c:pt idx="1">
                  <c:v>8</c:v>
                </c:pt>
                <c:pt idx="2">
                  <c:v>8</c:v>
                </c:pt>
                <c:pt idx="3">
                  <c:v>8</c:v>
                </c:pt>
                <c:pt idx="4">
                  <c:v>8</c:v>
                </c:pt>
                <c:pt idx="5">
                  <c:v>8</c:v>
                </c:pt>
                <c:pt idx="6">
                  <c:v>8</c:v>
                </c:pt>
                <c:pt idx="7">
                  <c:v>8</c:v>
                </c:pt>
                <c:pt idx="8">
                  <c:v>8</c:v>
                </c:pt>
                <c:pt idx="9">
                  <c:v>8</c:v>
                </c:pt>
                <c:pt idx="10">
                  <c:v>8</c:v>
                </c:pt>
                <c:pt idx="11">
                  <c:v>8</c:v>
                </c:pt>
              </c:numCache>
            </c:numRef>
          </c:val>
          <c:smooth val="0"/>
        </c:ser>
        <c:ser>
          <c:idx val="1"/>
          <c:order val="1"/>
          <c:tx>
            <c:strRef>
              <c:f>Sheet1!$C$1</c:f>
              <c:strCache>
                <c:ptCount val="1"/>
                <c:pt idx="0">
                  <c:v>Treatment</c:v>
                </c:pt>
              </c:strCache>
            </c:strRef>
          </c:tx>
          <c:spPr>
            <a:solidFill>
              <a:srgbClr val="2D6A4F"/>
            </a:solidFill>
            <a:ln w="25400" cap="flat">
              <a:solidFill>
                <a:srgbClr val="2D6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A4F"/>
              </a:solidFill>
              <a:ln w="9525" cap="flat">
                <a:solidFill>
                  <a:srgbClr val="2D6A4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8</c:v>
                </c:pt>
                <c:pt idx="1">
                  <c:v>6</c:v>
                </c:pt>
                <c:pt idx="2">
                  <c:v>6</c:v>
                </c:pt>
                <c:pt idx="3">
                  <c:v>7</c:v>
                </c:pt>
                <c:pt idx="4">
                  <c:v>7</c:v>
                </c:pt>
                <c:pt idx="5">
                  <c:v>7</c:v>
                </c:pt>
                <c:pt idx="6">
                  <c:v>7</c:v>
                </c:pt>
                <c:pt idx="7">
                  <c:v>7</c:v>
                </c:pt>
                <c:pt idx="8">
                  <c:v>7</c:v>
                </c:pt>
                <c:pt idx="9">
                  <c:v>7</c:v>
                </c:pt>
                <c:pt idx="10">
                  <c:v>7</c:v>
                </c:pt>
                <c:pt idx="11">
                  <c:v>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4</c:v>
                </c:pt>
                <c:pt idx="1">
                  <c:v>4</c:v>
                </c:pt>
                <c:pt idx="2">
                  <c:v>4</c:v>
                </c:pt>
                <c:pt idx="3">
                  <c:v>4</c:v>
                </c:pt>
                <c:pt idx="4">
                  <c:v>4</c:v>
                </c:pt>
                <c:pt idx="5">
                  <c:v>4</c:v>
                </c:pt>
                <c:pt idx="6">
                  <c:v>4</c:v>
                </c:pt>
                <c:pt idx="7">
                  <c:v>4</c:v>
                </c:pt>
                <c:pt idx="8">
                  <c:v>4</c:v>
                </c:pt>
                <c:pt idx="9">
                  <c:v>4</c:v>
                </c:pt>
                <c:pt idx="10">
                  <c:v>4</c:v>
                </c:pt>
                <c:pt idx="11">
                  <c:v>4</c:v>
                </c:pt>
              </c:numCache>
            </c:numRef>
          </c:val>
          <c:smooth val="0"/>
        </c:ser>
        <c:ser>
          <c:idx val="1"/>
          <c:order val="1"/>
          <c:tx>
            <c:strRef>
              <c:f>Sheet1!$C$1</c:f>
              <c:strCache>
                <c:ptCount val="1"/>
                <c:pt idx="0">
                  <c:v>Treatment</c:v>
                </c:pt>
              </c:strCache>
            </c:strRef>
          </c:tx>
          <c:spPr>
            <a:solidFill>
              <a:srgbClr val="D4A843"/>
            </a:solidFill>
            <a:ln w="25400" cap="flat">
              <a:solidFill>
                <a:srgbClr val="D4A8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843"/>
              </a:solidFill>
              <a:ln w="9525" cap="flat">
                <a:solidFill>
                  <a:srgbClr val="D4A84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3</c:v>
                </c:pt>
                <c:pt idx="1">
                  <c:v>3</c:v>
                </c:pt>
                <c:pt idx="2">
                  <c:v>3</c:v>
                </c:pt>
                <c:pt idx="3">
                  <c:v>3</c:v>
                </c:pt>
                <c:pt idx="4">
                  <c:v>3</c:v>
                </c:pt>
                <c:pt idx="5">
                  <c:v>3</c:v>
                </c:pt>
                <c:pt idx="6">
                  <c:v>3</c:v>
                </c:pt>
                <c:pt idx="7">
                  <c:v>4</c:v>
                </c:pt>
                <c:pt idx="8">
                  <c:v>4</c:v>
                </c:pt>
                <c:pt idx="9">
                  <c:v>3</c:v>
                </c:pt>
                <c:pt idx="10">
                  <c:v>3</c:v>
                </c:pt>
                <c:pt idx="11">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3</c:v>
                </c:pt>
                <c:pt idx="1">
                  <c:v>3</c:v>
                </c:pt>
                <c:pt idx="2">
                  <c:v>3</c:v>
                </c:pt>
                <c:pt idx="3">
                  <c:v>3</c:v>
                </c:pt>
                <c:pt idx="4">
                  <c:v>3</c:v>
                </c:pt>
                <c:pt idx="5">
                  <c:v>4</c:v>
                </c:pt>
                <c:pt idx="6">
                  <c:v>4</c:v>
                </c:pt>
                <c:pt idx="7">
                  <c:v>4</c:v>
                </c:pt>
                <c:pt idx="8">
                  <c:v>4</c:v>
                </c:pt>
                <c:pt idx="9">
                  <c:v>4</c:v>
                </c:pt>
                <c:pt idx="10">
                  <c:v>4</c:v>
                </c:pt>
                <c:pt idx="11">
                  <c:v>4</c:v>
                </c:pt>
              </c:numCache>
            </c:numRef>
          </c:val>
          <c:smooth val="0"/>
        </c:ser>
        <c:ser>
          <c:idx val="1"/>
          <c:order val="1"/>
          <c:tx>
            <c:strRef>
              <c:f>Sheet1!$C$1</c:f>
              <c:strCache>
                <c:ptCount val="1"/>
                <c:pt idx="0">
                  <c:v>Treatment</c:v>
                </c:pt>
              </c:strCache>
            </c:strRef>
          </c:tx>
          <c:spPr>
            <a:solidFill>
              <a:srgbClr val="3880F3"/>
            </a:solidFill>
            <a:ln w="25400" cap="flat">
              <a:solidFill>
                <a:srgbClr val="3880F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80F3"/>
              </a:solidFill>
              <a:ln w="9525" cap="flat">
                <a:solidFill>
                  <a:srgbClr val="3880F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2</c:v>
                </c:pt>
                <c:pt idx="1">
                  <c:v>3</c:v>
                </c:pt>
                <c:pt idx="2">
                  <c:v>3</c:v>
                </c:pt>
                <c:pt idx="3">
                  <c:v>3</c:v>
                </c:pt>
                <c:pt idx="4">
                  <c:v>6</c:v>
                </c:pt>
                <c:pt idx="5">
                  <c:v>8</c:v>
                </c:pt>
                <c:pt idx="6">
                  <c:v>6</c:v>
                </c:pt>
                <c:pt idx="7">
                  <c:v>6</c:v>
                </c:pt>
                <c:pt idx="8">
                  <c:v>6</c:v>
                </c:pt>
                <c:pt idx="9">
                  <c:v>6</c:v>
                </c:pt>
                <c:pt idx="10">
                  <c:v>7</c:v>
                </c:pt>
                <c:pt idx="11">
                  <c:v>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7</c:v>
                </c:pt>
                <c:pt idx="1">
                  <c:v>7</c:v>
                </c:pt>
                <c:pt idx="2">
                  <c:v>7</c:v>
                </c:pt>
                <c:pt idx="3">
                  <c:v>7</c:v>
                </c:pt>
                <c:pt idx="4">
                  <c:v>7</c:v>
                </c:pt>
                <c:pt idx="5">
                  <c:v>7</c:v>
                </c:pt>
                <c:pt idx="6">
                  <c:v>7</c:v>
                </c:pt>
                <c:pt idx="7">
                  <c:v>7</c:v>
                </c:pt>
                <c:pt idx="8">
                  <c:v>7</c:v>
                </c:pt>
                <c:pt idx="9">
                  <c:v>7</c:v>
                </c:pt>
                <c:pt idx="10">
                  <c:v>7</c:v>
                </c:pt>
                <c:pt idx="11">
                  <c:v>7</c:v>
                </c:pt>
              </c:numCache>
            </c:numRef>
          </c:val>
          <c:smooth val="0"/>
        </c:ser>
        <c:ser>
          <c:idx val="1"/>
          <c:order val="1"/>
          <c:tx>
            <c:strRef>
              <c:f>Sheet1!$C$1</c:f>
              <c:strCache>
                <c:ptCount val="1"/>
                <c:pt idx="0">
                  <c:v>Treatment</c:v>
                </c:pt>
              </c:strCache>
            </c:strRef>
          </c:tx>
          <c:spPr>
            <a:solidFill>
              <a:srgbClr val="8B3A0F"/>
            </a:solidFill>
            <a:ln w="25400" cap="flat">
              <a:solidFill>
                <a:srgbClr val="8B3A0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3A0F"/>
              </a:solidFill>
              <a:ln w="9525" cap="flat">
                <a:solidFill>
                  <a:srgbClr val="8B3A0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7</c:v>
                </c:pt>
                <c:pt idx="1">
                  <c:v>5</c:v>
                </c:pt>
                <c:pt idx="2">
                  <c:v>5</c:v>
                </c:pt>
                <c:pt idx="3">
                  <c:v>6</c:v>
                </c:pt>
                <c:pt idx="4">
                  <c:v>5</c:v>
                </c:pt>
                <c:pt idx="5">
                  <c:v>5</c:v>
                </c:pt>
                <c:pt idx="6">
                  <c:v>5</c:v>
                </c:pt>
                <c:pt idx="7">
                  <c:v>6</c:v>
                </c:pt>
                <c:pt idx="8">
                  <c:v>5</c:v>
                </c:pt>
                <c:pt idx="9">
                  <c:v>5</c:v>
                </c:pt>
                <c:pt idx="10">
                  <c:v>4</c:v>
                </c:pt>
                <c:pt idx="11">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0</c:v>
                </c:pt>
                <c:pt idx="1">
                  <c:v>100</c:v>
                </c:pt>
                <c:pt idx="2">
                  <c:v>0</c:v>
                </c:pt>
                <c:pt idx="3">
                  <c:v>90</c:v>
                </c:pt>
                <c:pt idx="4">
                  <c:v>10</c:v>
                </c:pt>
                <c:pt idx="5">
                  <c:v>10</c:v>
                </c:pt>
                <c:pt idx="6">
                  <c:v>80</c:v>
                </c:pt>
                <c:pt idx="7">
                  <c:v>20</c:v>
                </c:pt>
                <c:pt idx="8">
                  <c:v>80</c:v>
                </c:pt>
                <c:pt idx="9">
                  <c:v>10</c:v>
                </c:pt>
                <c:pt idx="10">
                  <c:v>60</c:v>
                </c:pt>
                <c:pt idx="11">
                  <c:v>40</c:v>
                </c:pt>
              </c:numCache>
            </c:numRef>
          </c:val>
        </c:ser>
        <c:ser>
          <c:idx val="1"/>
          <c:order val="1"/>
          <c:tx>
            <c:strRef>
              <c:f>Sheet1!$C$1</c:f>
              <c:strCache>
                <c:ptCount val="1"/>
                <c:pt idx="0">
                  <c:v>Home</c:v>
                </c:pt>
              </c:strCache>
            </c:strRef>
          </c:tx>
          <c:spPr>
            <a:solidFill>
              <a:srgbClr val="8B3A0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100</c:v>
                </c:pt>
                <c:pt idx="1">
                  <c:v>0</c:v>
                </c:pt>
                <c:pt idx="2">
                  <c:v>100</c:v>
                </c:pt>
                <c:pt idx="3">
                  <c:v>10</c:v>
                </c:pt>
                <c:pt idx="4">
                  <c:v>90</c:v>
                </c:pt>
                <c:pt idx="5">
                  <c:v>90</c:v>
                </c:pt>
                <c:pt idx="6">
                  <c:v>20</c:v>
                </c:pt>
                <c:pt idx="7">
                  <c:v>80</c:v>
                </c:pt>
                <c:pt idx="8">
                  <c:v>20</c:v>
                </c:pt>
                <c:pt idx="9">
                  <c:v>90</c:v>
                </c:pt>
                <c:pt idx="10">
                  <c:v>40</c:v>
                </c:pt>
                <c:pt idx="11">
                  <c:v>60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100</c:v>
                </c:pt>
                <c:pt idx="1">
                  <c:v>0</c:v>
                </c:pt>
                <c:pt idx="2">
                  <c:v>20</c:v>
                </c:pt>
                <c:pt idx="3">
                  <c:v>60</c:v>
                </c:pt>
                <c:pt idx="4">
                  <c:v>0</c:v>
                </c:pt>
                <c:pt idx="5">
                  <c:v>0</c:v>
                </c:pt>
                <c:pt idx="6">
                  <c:v>0</c:v>
                </c:pt>
                <c:pt idx="7">
                  <c:v>90</c:v>
                </c:pt>
                <c:pt idx="8">
                  <c:v>0</c:v>
                </c:pt>
                <c:pt idx="9">
                  <c:v>0</c:v>
                </c:pt>
                <c:pt idx="10">
                  <c:v>0</c:v>
                </c:pt>
                <c:pt idx="11">
                  <c:v>0</c:v>
                </c:pt>
              </c:numCache>
            </c:numRef>
          </c:val>
        </c:ser>
        <c:ser>
          <c:idx val="1"/>
          <c:order val="1"/>
          <c:tx>
            <c:strRef>
              <c:f>Sheet1!$C$1</c:f>
              <c:strCache>
                <c:ptCount val="1"/>
                <c:pt idx="0">
                  <c:v>CPN</c:v>
                </c:pt>
              </c:strCache>
            </c:strRef>
          </c:tx>
          <c:spPr>
            <a:solidFill>
              <a:srgbClr val="3880F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0</c:v>
                </c:pt>
                <c:pt idx="1">
                  <c:v>0</c:v>
                </c:pt>
                <c:pt idx="2">
                  <c:v>0</c:v>
                </c:pt>
                <c:pt idx="3">
                  <c:v>0</c:v>
                </c:pt>
                <c:pt idx="4">
                  <c:v>20</c:v>
                </c:pt>
                <c:pt idx="5">
                  <c:v>80</c:v>
                </c:pt>
                <c:pt idx="6">
                  <c:v>20</c:v>
                </c:pt>
                <c:pt idx="7">
                  <c:v>0</c:v>
                </c:pt>
                <c:pt idx="8">
                  <c:v>10</c:v>
                </c:pt>
                <c:pt idx="9">
                  <c:v>30</c:v>
                </c:pt>
                <c:pt idx="10">
                  <c:v>70</c:v>
                </c:pt>
                <c:pt idx="11">
                  <c:v>30</c:v>
                </c:pt>
              </c:numCache>
            </c:numRef>
          </c:val>
        </c:ser>
        <c:ser>
          <c:idx val="2"/>
          <c:order val="2"/>
          <c:tx>
            <c:strRef>
              <c:f>Sheet1!$D$1</c:f>
              <c:strCache>
                <c:ptCount val="1"/>
                <c:pt idx="0">
                  <c:v>Home</c:v>
                </c:pt>
              </c:strCache>
            </c:strRef>
          </c:tx>
          <c:spPr>
            <a:solidFill>
              <a:srgbClr val="8B3A0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Sheet1!$D$2:$D$13</c:f>
              <c:numCache>
                <c:formatCode>General</c:formatCode>
                <c:ptCount val="12"/>
                <c:pt idx="0">
                  <c:v>0</c:v>
                </c:pt>
                <c:pt idx="1">
                  <c:v>100</c:v>
                </c:pt>
                <c:pt idx="2">
                  <c:v>80</c:v>
                </c:pt>
                <c:pt idx="3">
                  <c:v>40</c:v>
                </c:pt>
                <c:pt idx="4">
                  <c:v>80</c:v>
                </c:pt>
                <c:pt idx="5">
                  <c:v>20</c:v>
                </c:pt>
                <c:pt idx="6">
                  <c:v>80</c:v>
                </c:pt>
                <c:pt idx="7">
                  <c:v>10</c:v>
                </c:pt>
                <c:pt idx="8">
                  <c:v>90</c:v>
                </c:pt>
                <c:pt idx="9">
                  <c:v>70</c:v>
                </c:pt>
                <c:pt idx="10">
                  <c:v>30</c:v>
                </c:pt>
                <c:pt idx="11">
                  <c:v>70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ser>
          <c:idx val="1"/>
          <c:order val="1"/>
          <c:tx>
            <c:strRef>
              <c:f>Sheet1!$C$1</c:f>
              <c:strCache>
                <c:ptCount val="1"/>
                <c:pt idx="0">
                  <c:v>Treatment</c:v>
                </c:pt>
              </c:strCache>
            </c:strRef>
          </c:tx>
          <c:spPr>
            <a:solidFill>
              <a:srgbClr val="2D6A4F"/>
            </a:solidFill>
            <a:ln w="25400" cap="flat">
              <a:solidFill>
                <a:srgbClr val="2D6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A4F"/>
              </a:solidFill>
              <a:ln w="9525" cap="flat">
                <a:solidFill>
                  <a:srgbClr val="2D6A4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8</c:v>
                </c:pt>
                <c:pt idx="1">
                  <c:v>8</c:v>
                </c:pt>
                <c:pt idx="2">
                  <c:v>8</c:v>
                </c:pt>
                <c:pt idx="3">
                  <c:v>9</c:v>
                </c:pt>
                <c:pt idx="4">
                  <c:v>9</c:v>
                </c:pt>
                <c:pt idx="5">
                  <c:v>9</c:v>
                </c:pt>
                <c:pt idx="6">
                  <c:v>9</c:v>
                </c:pt>
                <c:pt idx="7">
                  <c:v>10</c:v>
                </c:pt>
                <c:pt idx="8">
                  <c:v>10</c:v>
                </c:pt>
                <c:pt idx="9">
                  <c:v>10</c:v>
                </c:pt>
                <c:pt idx="10">
                  <c:v>10</c:v>
                </c:pt>
                <c:pt idx="11">
                  <c:v>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ser>
          <c:idx val="1"/>
          <c:order val="1"/>
          <c:tx>
            <c:strRef>
              <c:f>Sheet1!$C$1</c:f>
              <c:strCache>
                <c:ptCount val="1"/>
                <c:pt idx="0">
                  <c:v>Treatment</c:v>
                </c:pt>
              </c:strCache>
            </c:strRef>
          </c:tx>
          <c:spPr>
            <a:solidFill>
              <a:srgbClr val="D4A843"/>
            </a:solidFill>
            <a:ln w="25400" cap="flat">
              <a:solidFill>
                <a:srgbClr val="D4A8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843"/>
              </a:solidFill>
              <a:ln w="9525" cap="flat">
                <a:solidFill>
                  <a:srgbClr val="D4A84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2</c:v>
                </c:pt>
                <c:pt idx="1">
                  <c:v>2</c:v>
                </c:pt>
                <c:pt idx="2">
                  <c:v>2</c:v>
                </c:pt>
                <c:pt idx="3">
                  <c:v>2</c:v>
                </c:pt>
                <c:pt idx="4">
                  <c:v>2</c:v>
                </c:pt>
                <c:pt idx="5">
                  <c:v>2</c:v>
                </c:pt>
                <c:pt idx="6">
                  <c:v>2</c:v>
                </c:pt>
                <c:pt idx="7">
                  <c:v>2</c:v>
                </c:pt>
                <c:pt idx="8">
                  <c:v>2</c:v>
                </c:pt>
                <c:pt idx="9">
                  <c:v>2</c:v>
                </c:pt>
                <c:pt idx="10">
                  <c:v>2</c:v>
                </c:pt>
                <c:pt idx="11">
                  <c:v>2</c:v>
                </c:pt>
              </c:numCache>
            </c:numRef>
          </c:val>
          <c:smooth val="0"/>
        </c:ser>
        <c:ser>
          <c:idx val="1"/>
          <c:order val="1"/>
          <c:tx>
            <c:strRef>
              <c:f>Sheet1!$C$1</c:f>
              <c:strCache>
                <c:ptCount val="1"/>
                <c:pt idx="0">
                  <c:v>Treatment</c:v>
                </c:pt>
              </c:strCache>
            </c:strRef>
          </c:tx>
          <c:spPr>
            <a:solidFill>
              <a:srgbClr val="3880F3"/>
            </a:solidFill>
            <a:ln w="25400" cap="flat">
              <a:solidFill>
                <a:srgbClr val="3880F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80F3"/>
              </a:solidFill>
              <a:ln w="9525" cap="flat">
                <a:solidFill>
                  <a:srgbClr val="3880F3"/>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2</c:v>
                </c:pt>
                <c:pt idx="1">
                  <c:v>2</c:v>
                </c:pt>
                <c:pt idx="2">
                  <c:v>2</c:v>
                </c:pt>
                <c:pt idx="3">
                  <c:v>1</c:v>
                </c:pt>
                <c:pt idx="4">
                  <c:v>4</c:v>
                </c:pt>
                <c:pt idx="5">
                  <c:v>5</c:v>
                </c:pt>
                <c:pt idx="6">
                  <c:v>4</c:v>
                </c:pt>
                <c:pt idx="7">
                  <c:v>3</c:v>
                </c:pt>
                <c:pt idx="8">
                  <c:v>3</c:v>
                </c:pt>
                <c:pt idx="9">
                  <c:v>3</c:v>
                </c:pt>
                <c:pt idx="10">
                  <c:v>4</c:v>
                </c:pt>
                <c:pt idx="11">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Baseline</c:v>
                </c:pt>
              </c:strCache>
            </c:strRef>
          </c:tx>
          <c:spPr>
            <a:solidFill>
              <a:srgbClr val="E5E1DB"/>
            </a:solidFill>
            <a:ln w="25400" cap="flat">
              <a:solidFill>
                <a:srgbClr val="E5E1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E1DB"/>
              </a:solidFill>
              <a:ln w="9525" cap="flat">
                <a:solidFill>
                  <a:srgbClr val="E5E1DB"/>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ser>
          <c:idx val="1"/>
          <c:order val="1"/>
          <c:tx>
            <c:strRef>
              <c:f>Sheet1!$C$1</c:f>
              <c:strCache>
                <c:ptCount val="1"/>
                <c:pt idx="0">
                  <c:v>Treatment</c:v>
                </c:pt>
              </c:strCache>
            </c:strRef>
          </c:tx>
          <c:spPr>
            <a:solidFill>
              <a:srgbClr val="8B3A0F"/>
            </a:solidFill>
            <a:ln w="25400" cap="flat">
              <a:solidFill>
                <a:srgbClr val="8B3A0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3A0F"/>
              </a:solidFill>
              <a:ln w="9525" cap="flat">
                <a:solidFill>
                  <a:srgbClr val="8B3A0F"/>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7</c:v>
                </c:pt>
                <c:pt idx="1">
                  <c:v>8</c:v>
                </c:pt>
                <c:pt idx="2">
                  <c:v>7</c:v>
                </c:pt>
                <c:pt idx="3">
                  <c:v>9</c:v>
                </c:pt>
                <c:pt idx="4">
                  <c:v>9</c:v>
                </c:pt>
                <c:pt idx="5">
                  <c:v>9</c:v>
                </c:pt>
                <c:pt idx="6">
                  <c:v>9</c:v>
                </c:pt>
                <c:pt idx="7">
                  <c:v>10</c:v>
                </c:pt>
                <c:pt idx="8">
                  <c:v>10</c:v>
                </c:pt>
                <c:pt idx="9">
                  <c:v>10</c:v>
                </c:pt>
                <c:pt idx="10">
                  <c:v>9</c:v>
                </c:pt>
                <c:pt idx="11">
                  <c:v>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
          <c:min val="1"/>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solidFill>
          <a:srgbClr val="FFFEF9"/>
        </a:solidFill>
        <a:ln>
          <a:noFill/>
        </a:ln>
        <a:effectLst/>
      </c:spPr>
    </c:plotArea>
    <c:plotVisOnly val="1"/>
    <c:dispBlanksAs val="span"/>
  </c:chart>
  <c:spPr>
    <a:solidFill>
      <a:srgbClr val="FFFEF9"/>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0</c:v>
                </c:pt>
                <c:pt idx="1">
                  <c:v>0</c:v>
                </c:pt>
                <c:pt idx="2">
                  <c:v>0</c:v>
                </c:pt>
                <c:pt idx="3">
                  <c:v>100</c:v>
                </c:pt>
                <c:pt idx="4">
                  <c:v>0</c:v>
                </c:pt>
                <c:pt idx="5">
                  <c:v>0</c:v>
                </c:pt>
                <c:pt idx="6">
                  <c:v>0</c:v>
                </c:pt>
                <c:pt idx="7">
                  <c:v>100</c:v>
                </c:pt>
                <c:pt idx="8">
                  <c:v>0</c:v>
                </c:pt>
                <c:pt idx="9">
                  <c:v>0</c:v>
                </c:pt>
                <c:pt idx="10">
                  <c:v>0</c:v>
                </c:pt>
                <c:pt idx="11">
                  <c:v>100</c:v>
                </c:pt>
              </c:numCache>
            </c:numRef>
          </c:val>
        </c:ser>
        <c:ser>
          <c:idx val="1"/>
          <c:order val="1"/>
          <c:tx>
            <c:strRef>
              <c:f>Sheet1!$C$1</c:f>
              <c:strCache>
                <c:ptCount val="1"/>
                <c:pt idx="0">
                  <c:v>NA</c:v>
                </c:pt>
              </c:strCache>
            </c:strRef>
          </c:tx>
          <c:spPr>
            <a:solidFill>
              <a:srgbClr val="E5E1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100</c:v>
                </c:pt>
                <c:pt idx="1">
                  <c:v>100</c:v>
                </c:pt>
                <c:pt idx="2">
                  <c:v>100</c:v>
                </c:pt>
                <c:pt idx="3">
                  <c:v>0</c:v>
                </c:pt>
                <c:pt idx="4">
                  <c:v>100</c:v>
                </c:pt>
                <c:pt idx="5">
                  <c:v>100</c:v>
                </c:pt>
                <c:pt idx="6">
                  <c:v>100</c:v>
                </c:pt>
                <c:pt idx="7">
                  <c:v>0</c:v>
                </c:pt>
                <c:pt idx="8">
                  <c:v>100</c:v>
                </c:pt>
                <c:pt idx="9">
                  <c:v>100</c:v>
                </c:pt>
                <c:pt idx="10">
                  <c:v>100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RGR</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0</c:v>
                </c:pt>
                <c:pt idx="1">
                  <c:v>0</c:v>
                </c:pt>
                <c:pt idx="2">
                  <c:v>0</c:v>
                </c:pt>
                <c:pt idx="3">
                  <c:v>100</c:v>
                </c:pt>
                <c:pt idx="4">
                  <c:v>0</c:v>
                </c:pt>
                <c:pt idx="5">
                  <c:v>0</c:v>
                </c:pt>
                <c:pt idx="6">
                  <c:v>0</c:v>
                </c:pt>
                <c:pt idx="7">
                  <c:v>100</c:v>
                </c:pt>
                <c:pt idx="8">
                  <c:v>0</c:v>
                </c:pt>
                <c:pt idx="9">
                  <c:v>0</c:v>
                </c:pt>
                <c:pt idx="10">
                  <c:v>0</c:v>
                </c:pt>
                <c:pt idx="11">
                  <c:v>100</c:v>
                </c:pt>
              </c:numCache>
            </c:numRef>
          </c:val>
        </c:ser>
        <c:ser>
          <c:idx val="1"/>
          <c:order val="1"/>
          <c:tx>
            <c:strRef>
              <c:f>Sheet1!$C$1</c:f>
              <c:strCache>
                <c:ptCount val="1"/>
                <c:pt idx="0">
                  <c:v>NA</c:v>
                </c:pt>
              </c:strCache>
            </c:strRef>
          </c:tx>
          <c:spPr>
            <a:solidFill>
              <a:srgbClr val="E5E1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100</c:v>
                </c:pt>
                <c:pt idx="1">
                  <c:v>100</c:v>
                </c:pt>
                <c:pt idx="2">
                  <c:v>100</c:v>
                </c:pt>
                <c:pt idx="3">
                  <c:v>0</c:v>
                </c:pt>
                <c:pt idx="4">
                  <c:v>100</c:v>
                </c:pt>
                <c:pt idx="5">
                  <c:v>100</c:v>
                </c:pt>
                <c:pt idx="6">
                  <c:v>100</c:v>
                </c:pt>
                <c:pt idx="7">
                  <c:v>0</c:v>
                </c:pt>
                <c:pt idx="8">
                  <c:v>100</c:v>
                </c:pt>
                <c:pt idx="9">
                  <c:v>100</c:v>
                </c:pt>
                <c:pt idx="10">
                  <c:v>100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A098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1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A09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EF9"/>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chart" Target="/ppt/charts/chart15.xml"/><Relationship Id="rId4" Type="http://schemas.openxmlformats.org/officeDocument/2006/relationships/chart" Target="/ppt/charts/chart16.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chart" Target="/ppt/charts/chart21.xml"/><Relationship Id="rId4" Type="http://schemas.openxmlformats.org/officeDocument/2006/relationships/chart" Target="/ppt/charts/chart22.xm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chart" Target="/ppt/charts/chart24.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chart" Target="/ppt/charts/chart26.xml"/><Relationship Id="rId3" Type="http://schemas.openxmlformats.org/officeDocument/2006/relationships/chart" Target="/ppt/charts/chart27.xml"/><Relationship Id="rId4" Type="http://schemas.openxmlformats.org/officeDocument/2006/relationships/chart" Target="/ppt/charts/chart28.xml"/><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chart" Target="/ppt/charts/chart30.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16"/>
        </a:solidFill>
      </p:bgPr>
    </p:bg>
    <p:spTree>
      <p:nvGrpSpPr>
        <p:cNvPr id="1" name=""/>
        <p:cNvGrpSpPr/>
        <p:nvPr/>
      </p:nvGrpSpPr>
      <p:grpSpPr>
        <a:xfrm>
          <a:off x="0" y="0"/>
          <a:ext cx="0" cy="0"/>
          <a:chOff x="0" y="0"/>
          <a:chExt cx="0" cy="0"/>
        </a:xfrm>
      </p:grpSpPr>
      <p:sp>
        <p:nvSpPr>
          <p:cNvPr id="2" name="Text 0"/>
          <p:cNvSpPr/>
          <p:nvPr/>
        </p:nvSpPr>
        <p:spPr>
          <a:xfrm>
            <a:off x="731520" y="731520"/>
            <a:ext cx="7315200" cy="2286000"/>
          </a:xfrm>
          <a:prstGeom prst="rect">
            <a:avLst/>
          </a:prstGeom>
          <a:noFill/>
          <a:ln/>
        </p:spPr>
        <p:txBody>
          <a:bodyPr wrap="square" rtlCol="0" anchor="ctr"/>
          <a:lstStyle/>
          <a:p>
            <a:pPr indent="0" marL="0">
              <a:lnSpc>
                <a:spcPct val="110000"/>
              </a:lnSpc>
              <a:buNone/>
            </a:pPr>
            <a:r>
              <a:rPr lang="en-US" sz="4400" b="1" dirty="0">
                <a:solidFill>
                  <a:srgbClr val="F5F1EB"/>
                </a:solidFill>
                <a:latin typeface="Georgia" pitchFamily="34" charset="0"/>
                <a:ea typeface="Georgia" pitchFamily="34" charset="-122"/>
                <a:cs typeface="Georgia" pitchFamily="34" charset="-120"/>
              </a:rPr>
              <a:t>Michelin Star</a:t>
            </a:r>
            <a:endParaRPr lang="en-US" sz="4400" dirty="0"/>
          </a:p>
          <a:p>
            <a:pPr indent="0" marL="0">
              <a:lnSpc>
                <a:spcPct val="110000"/>
              </a:lnSpc>
              <a:buNone/>
            </a:pPr>
            <a:r>
              <a:rPr lang="en-US" sz="4400" b="1" dirty="0">
                <a:solidFill>
                  <a:srgbClr val="F5F1EB"/>
                </a:solidFill>
                <a:latin typeface="Georgia" pitchFamily="34" charset="0"/>
                <a:ea typeface="Georgia" pitchFamily="34" charset="-122"/>
                <a:cs typeface="Georgia" pitchFamily="34" charset="-120"/>
              </a:rPr>
              <a:t>Simulator</a:t>
            </a:r>
            <a:endParaRPr lang="en-US" sz="4400" dirty="0"/>
          </a:p>
        </p:txBody>
      </p:sp>
      <p:sp>
        <p:nvSpPr>
          <p:cNvPr id="3" name="Text 1"/>
          <p:cNvSpPr/>
          <p:nvPr/>
        </p:nvSpPr>
        <p:spPr>
          <a:xfrm>
            <a:off x="731520" y="3017520"/>
            <a:ext cx="6400800" cy="914400"/>
          </a:xfrm>
          <a:prstGeom prst="rect">
            <a:avLst/>
          </a:prstGeom>
          <a:noFill/>
          <a:ln/>
        </p:spPr>
        <p:txBody>
          <a:bodyPr wrap="square" rtlCol="0" anchor="ctr"/>
          <a:lstStyle/>
          <a:p>
            <a:pPr indent="0" marL="0">
              <a:buNone/>
            </a:pPr>
            <a:r>
              <a:rPr lang="en-US" sz="1800" i="1" dirty="0">
                <a:solidFill>
                  <a:srgbClr val="D4A843"/>
                </a:solidFill>
                <a:latin typeface="Calibri" pitchFamily="34" charset="0"/>
                <a:ea typeface="Calibri" pitchFamily="34" charset="-122"/>
                <a:cs typeface="Calibri" pitchFamily="34" charset="-120"/>
              </a:rPr>
              <a:t>What happens to customer loyalty</a:t>
            </a:r>
            <a:endParaRPr lang="en-US" sz="1800" dirty="0"/>
          </a:p>
          <a:p>
            <a:pPr indent="0" marL="0">
              <a:buNone/>
            </a:pPr>
            <a:r>
              <a:rPr lang="en-US" sz="1800" i="1" dirty="0">
                <a:solidFill>
                  <a:srgbClr val="D4A843"/>
                </a:solidFill>
                <a:latin typeface="Calibri" pitchFamily="34" charset="0"/>
                <a:ea typeface="Calibri" pitchFamily="34" charset="-122"/>
                <a:cs typeface="Calibri" pitchFamily="34" charset="-120"/>
              </a:rPr>
              <a:t>when nothing changes except the story?</a:t>
            </a:r>
            <a:endParaRPr lang="en-US" sz="1800" dirty="0"/>
          </a:p>
        </p:txBody>
      </p:sp>
      <p:sp>
        <p:nvSpPr>
          <p:cNvPr id="4" name="Text 2"/>
          <p:cNvSpPr/>
          <p:nvPr/>
        </p:nvSpPr>
        <p:spPr>
          <a:xfrm>
            <a:off x="731520" y="4206240"/>
            <a:ext cx="4572000" cy="365760"/>
          </a:xfrm>
          <a:prstGeom prst="rect">
            <a:avLst/>
          </a:prstGeom>
          <a:noFill/>
          <a:ln/>
        </p:spPr>
        <p:txBody>
          <a:bodyPr wrap="square" rtlCol="0" anchor="ctr"/>
          <a:lstStyle/>
          <a:p>
            <a:pPr indent="0" marL="0">
              <a:buNone/>
            </a:pPr>
            <a:r>
              <a:rPr lang="en-US" sz="1000" dirty="0">
                <a:solidFill>
                  <a:srgbClr val="A09888"/>
                </a:solidFill>
                <a:latin typeface="Consolas" pitchFamily="34" charset="0"/>
                <a:ea typeface="Consolas" pitchFamily="34" charset="-122"/>
                <a:cs typeface="Consolas" pitchFamily="34" charset="-120"/>
              </a:rPr>
              <a:t>A synthetic user research prototype</a:t>
            </a:r>
            <a:endParaRPr lang="en-US" sz="1000" dirty="0"/>
          </a:p>
        </p:txBody>
      </p:sp>
      <p:sp>
        <p:nvSpPr>
          <p:cNvPr id="5" name="Shape 3"/>
          <p:cNvSpPr/>
          <p:nvPr/>
        </p:nvSpPr>
        <p:spPr>
          <a:xfrm>
            <a:off x="0" y="4663440"/>
            <a:ext cx="9144000" cy="480060"/>
          </a:xfrm>
          <a:prstGeom prst="rect">
            <a:avLst/>
          </a:prstGeom>
          <a:solidFill>
            <a:srgbClr val="2D6A4F"/>
          </a:solidFill>
          <a:ln/>
        </p:spPr>
      </p:sp>
      <p:sp>
        <p:nvSpPr>
          <p:cNvPr id="6" name="Text 4"/>
          <p:cNvSpPr/>
          <p:nvPr/>
        </p:nvSpPr>
        <p:spPr>
          <a:xfrm>
            <a:off x="731520" y="4709160"/>
            <a:ext cx="7772400" cy="365760"/>
          </a:xfrm>
          <a:prstGeom prst="rect">
            <a:avLst/>
          </a:prstGeom>
          <a:noFill/>
          <a:ln/>
        </p:spPr>
        <p:txBody>
          <a:bodyPr wrap="square" rtlCol="0" anchor="ctr"/>
          <a:lstStyle/>
          <a:p>
            <a:pPr indent="0" marL="0">
              <a:buNone/>
            </a:pPr>
            <a:r>
              <a:rPr lang="en-US" sz="900" dirty="0">
                <a:solidFill>
                  <a:srgbClr val="F5F1EB"/>
                </a:solidFill>
                <a:latin typeface="Consolas" pitchFamily="34" charset="0"/>
                <a:ea typeface="Consolas" pitchFamily="34" charset="-122"/>
                <a:cs typeface="Consolas" pitchFamily="34" charset="-120"/>
              </a:rPr>
              <a:t>Five AI-generated personas  ·  12 months  ·  Two measurement architectures  ·  ~$2 in API costs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3200" b="1" dirty="0">
                <a:solidFill>
                  <a:srgbClr val="1A1816"/>
                </a:solidFill>
                <a:latin typeface="Georgia" pitchFamily="34" charset="0"/>
                <a:ea typeface="Georgia" pitchFamily="34" charset="-122"/>
                <a:cs typeface="Georgia" pitchFamily="34" charset="-120"/>
              </a:rPr>
              <a:t>The Scenario</a:t>
            </a:r>
            <a:endParaRPr lang="en-US" sz="3200" dirty="0"/>
          </a:p>
        </p:txBody>
      </p:sp>
      <p:sp>
        <p:nvSpPr>
          <p:cNvPr id="3" name="Text 1"/>
          <p:cNvSpPr/>
          <p:nvPr/>
        </p:nvSpPr>
        <p:spPr>
          <a:xfrm>
            <a:off x="731520" y="1097280"/>
            <a:ext cx="7680960" cy="914400"/>
          </a:xfrm>
          <a:prstGeom prst="rect">
            <a:avLst/>
          </a:prstGeom>
          <a:noFill/>
          <a:ln/>
        </p:spPr>
        <p:txBody>
          <a:bodyPr wrap="square" rtlCol="0" anchor="ctr"/>
          <a:lstStyle/>
          <a:p>
            <a:pPr indent="0" marL="0">
              <a:lnSpc>
                <a:spcPct val="140000"/>
              </a:lnSpc>
              <a:buNone/>
            </a:pPr>
            <a:r>
              <a:rPr lang="en-US" sz="1400" dirty="0">
                <a:solidFill>
                  <a:srgbClr val="1A1816"/>
                </a:solidFill>
                <a:latin typeface="Calibri" pitchFamily="34" charset="0"/>
                <a:ea typeface="Calibri" pitchFamily="34" charset="-122"/>
                <a:cs typeface="Calibri" pitchFamily="34" charset="-120"/>
              </a:rPr>
              <a:t>Restaurant Gordon Ramsay loses a Michelin star, dropping from three to two after holding three stars for 25 consecutive years. The food hasn't changed. The kitchen is the same. The only thing that changed is a signal.</a:t>
            </a:r>
            <a:endParaRPr lang="en-US" sz="1400" dirty="0"/>
          </a:p>
        </p:txBody>
      </p:sp>
      <p:sp>
        <p:nvSpPr>
          <p:cNvPr id="4" name="Shape 2"/>
          <p:cNvSpPr/>
          <p:nvPr/>
        </p:nvSpPr>
        <p:spPr>
          <a:xfrm>
            <a:off x="731520" y="2377440"/>
            <a:ext cx="2560320" cy="1645920"/>
          </a:xfrm>
          <a:prstGeom prst="rect">
            <a:avLst/>
          </a:prstGeom>
          <a:solidFill>
            <a:srgbClr val="2D6A4F"/>
          </a:solidFill>
          <a:ln/>
          <a:effectLst>
            <a:outerShdw sx="100000" sy="100000" kx="0" ky="0" algn="bl" rotWithShape="0" blurRad="50800" dist="25400" dir="8100000">
              <a:srgbClr val="000000">
                <a:alpha val="8000"/>
              </a:srgbClr>
            </a:outerShdw>
          </a:effectLst>
        </p:spPr>
      </p:sp>
      <p:sp>
        <p:nvSpPr>
          <p:cNvPr id="5" name="Text 3"/>
          <p:cNvSpPr/>
          <p:nvPr/>
        </p:nvSpPr>
        <p:spPr>
          <a:xfrm>
            <a:off x="731520" y="2423160"/>
            <a:ext cx="2560320" cy="45720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RGR</a:t>
            </a:r>
            <a:endParaRPr lang="en-US" sz="2000" dirty="0"/>
          </a:p>
        </p:txBody>
      </p:sp>
      <p:sp>
        <p:nvSpPr>
          <p:cNvPr id="6" name="Text 4"/>
          <p:cNvSpPr/>
          <p:nvPr/>
        </p:nvSpPr>
        <p:spPr>
          <a:xfrm>
            <a:off x="914400" y="2926080"/>
            <a:ext cx="2194560" cy="1005840"/>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Three → two stars.</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The incumbent.</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25 years of legacy.</a:t>
            </a:r>
            <a:endParaRPr lang="en-US" sz="1100" dirty="0"/>
          </a:p>
        </p:txBody>
      </p:sp>
      <p:sp>
        <p:nvSpPr>
          <p:cNvPr id="7" name="Shape 5"/>
          <p:cNvSpPr/>
          <p:nvPr/>
        </p:nvSpPr>
        <p:spPr>
          <a:xfrm>
            <a:off x="3520440" y="2377440"/>
            <a:ext cx="2560320" cy="1645920"/>
          </a:xfrm>
          <a:prstGeom prst="rect">
            <a:avLst/>
          </a:prstGeom>
          <a:solidFill>
            <a:srgbClr val="5B2C8F"/>
          </a:solidFill>
          <a:ln/>
          <a:effectLst>
            <a:outerShdw sx="100000" sy="100000" kx="0" ky="0" algn="bl" rotWithShape="0" blurRad="50800" dist="25400" dir="8100000">
              <a:srgbClr val="000000">
                <a:alpha val="8000"/>
              </a:srgbClr>
            </a:outerShdw>
          </a:effectLst>
        </p:spPr>
      </p:sp>
      <p:sp>
        <p:nvSpPr>
          <p:cNvPr id="8" name="Text 6"/>
          <p:cNvSpPr/>
          <p:nvPr/>
        </p:nvSpPr>
        <p:spPr>
          <a:xfrm>
            <a:off x="3520440" y="2423160"/>
            <a:ext cx="2560320" cy="45720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Core</a:t>
            </a:r>
            <a:endParaRPr lang="en-US" sz="2000" dirty="0"/>
          </a:p>
        </p:txBody>
      </p:sp>
      <p:sp>
        <p:nvSpPr>
          <p:cNvPr id="9" name="Text 7"/>
          <p:cNvSpPr/>
          <p:nvPr/>
        </p:nvSpPr>
        <p:spPr>
          <a:xfrm>
            <a:off x="3703320" y="2926080"/>
            <a:ext cx="2194560" cy="1005840"/>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Clare Smyth's three-star.</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Ramsay's former protégée.</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The standard-bearer.</a:t>
            </a:r>
            <a:endParaRPr lang="en-US" sz="1100" dirty="0"/>
          </a:p>
        </p:txBody>
      </p:sp>
      <p:sp>
        <p:nvSpPr>
          <p:cNvPr id="10" name="Shape 8"/>
          <p:cNvSpPr/>
          <p:nvPr/>
        </p:nvSpPr>
        <p:spPr>
          <a:xfrm>
            <a:off x="6309360" y="2377440"/>
            <a:ext cx="2560320" cy="1645920"/>
          </a:xfrm>
          <a:prstGeom prst="rect">
            <a:avLst/>
          </a:prstGeom>
          <a:solidFill>
            <a:srgbClr val="3880F3"/>
          </a:solidFill>
          <a:ln/>
          <a:effectLst>
            <a:outerShdw sx="100000" sy="100000" kx="0" ky="0" algn="bl" rotWithShape="0" blurRad="50800" dist="25400" dir="8100000">
              <a:srgbClr val="000000">
                <a:alpha val="8000"/>
              </a:srgbClr>
            </a:outerShdw>
          </a:effectLst>
        </p:spPr>
      </p:sp>
      <p:sp>
        <p:nvSpPr>
          <p:cNvPr id="11" name="Text 9"/>
          <p:cNvSpPr/>
          <p:nvPr/>
        </p:nvSpPr>
        <p:spPr>
          <a:xfrm>
            <a:off x="6309360" y="2423160"/>
            <a:ext cx="2560320" cy="45720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Corenucopia</a:t>
            </a:r>
            <a:endParaRPr lang="en-US" sz="2000" dirty="0"/>
          </a:p>
        </p:txBody>
      </p:sp>
      <p:sp>
        <p:nvSpPr>
          <p:cNvPr id="12" name="Text 10"/>
          <p:cNvSpPr/>
          <p:nvPr/>
        </p:nvSpPr>
        <p:spPr>
          <a:xfrm>
            <a:off x="6492240" y="2926080"/>
            <a:ext cx="2194560" cy="1005840"/>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Smyth's new bistro.</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Opens Month 5 in Chelsea.</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The accessible competitor.</a:t>
            </a:r>
            <a:endParaRPr lang="en-US" sz="1100" dirty="0"/>
          </a:p>
        </p:txBody>
      </p:sp>
      <p:sp>
        <p:nvSpPr>
          <p:cNvPr id="13" name="Text 11"/>
          <p:cNvSpPr/>
          <p:nvPr/>
        </p:nvSpPr>
        <p:spPr>
          <a:xfrm>
            <a:off x="731520" y="4297680"/>
            <a:ext cx="7315200" cy="365760"/>
          </a:xfrm>
          <a:prstGeom prst="rect">
            <a:avLst/>
          </a:prstGeom>
          <a:noFill/>
          <a:ln/>
        </p:spPr>
        <p:txBody>
          <a:bodyPr wrap="square" rtlCol="0" anchor="ctr"/>
          <a:lstStyle/>
          <a:p>
            <a:pPr indent="0" marL="0">
              <a:buNone/>
            </a:pPr>
            <a:r>
              <a:rPr lang="en-US" sz="1400" b="1" i="1" dirty="0">
                <a:solidFill>
                  <a:srgbClr val="8B3A0F"/>
                </a:solidFill>
                <a:latin typeface="Calibri" pitchFamily="34" charset="0"/>
                <a:ea typeface="Calibri" pitchFamily="34" charset="-122"/>
                <a:cs typeface="Calibri" pitchFamily="34" charset="-120"/>
              </a:rPr>
              <a:t>Everything that follows is purely psychological.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3200" b="1" dirty="0">
                <a:solidFill>
                  <a:srgbClr val="1A1816"/>
                </a:solidFill>
                <a:latin typeface="Georgia" pitchFamily="34" charset="0"/>
                <a:ea typeface="Georgia" pitchFamily="34" charset="-122"/>
                <a:cs typeface="Georgia" pitchFamily="34" charset="-120"/>
              </a:rPr>
              <a:t>Method</a:t>
            </a:r>
            <a:endParaRPr lang="en-US" sz="3200" dirty="0"/>
          </a:p>
        </p:txBody>
      </p:sp>
      <p:sp>
        <p:nvSpPr>
          <p:cNvPr id="3" name="Text 1"/>
          <p:cNvSpPr/>
          <p:nvPr/>
        </p:nvSpPr>
        <p:spPr>
          <a:xfrm>
            <a:off x="731520" y="1097280"/>
            <a:ext cx="7680960" cy="914400"/>
          </a:xfrm>
          <a:prstGeom prst="rect">
            <a:avLst/>
          </a:prstGeom>
          <a:noFill/>
          <a:ln/>
        </p:spPr>
        <p:txBody>
          <a:bodyPr wrap="square" rtlCol="0" anchor="ctr"/>
          <a:lstStyle/>
          <a:p>
            <a:pPr indent="0" marL="0">
              <a:lnSpc>
                <a:spcPct val="140000"/>
              </a:lnSpc>
              <a:buNone/>
            </a:pPr>
            <a:r>
              <a:rPr lang="en-US" sz="1300" dirty="0">
                <a:solidFill>
                  <a:srgbClr val="1A1816"/>
                </a:solidFill>
                <a:latin typeface="Calibri" pitchFamily="34" charset="0"/>
                <a:ea typeface="Calibri" pitchFamily="34" charset="-122"/>
                <a:cs typeface="Calibri" pitchFamily="34" charset="-120"/>
              </a:rPr>
              <a:t>Five AI-generated synthetic personas — not real people — each with distinct psychological profiles. Personas were run anonymously (Persona 1–5) with only behavioral variables. Names assigned after simulation. This is the synthetic equivalent of blinding.</a:t>
            </a:r>
            <a:endParaRPr lang="en-US" sz="1300" dirty="0"/>
          </a:p>
        </p:txBody>
      </p:sp>
      <p:sp>
        <p:nvSpPr>
          <p:cNvPr id="4" name="Shape 2"/>
          <p:cNvSpPr/>
          <p:nvPr/>
        </p:nvSpPr>
        <p:spPr>
          <a:xfrm>
            <a:off x="731520" y="2286000"/>
            <a:ext cx="73152" cy="548640"/>
          </a:xfrm>
          <a:prstGeom prst="rect">
            <a:avLst/>
          </a:prstGeom>
          <a:solidFill>
            <a:srgbClr val="2D6A4F"/>
          </a:solidFill>
          <a:ln/>
        </p:spPr>
      </p:sp>
      <p:sp>
        <p:nvSpPr>
          <p:cNvPr id="5" name="Text 3"/>
          <p:cNvSpPr/>
          <p:nvPr/>
        </p:nvSpPr>
        <p:spPr>
          <a:xfrm>
            <a:off x="1005840" y="2286000"/>
            <a:ext cx="3200400" cy="256032"/>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Two-call architecture</a:t>
            </a:r>
            <a:endParaRPr lang="en-US" sz="1300" dirty="0"/>
          </a:p>
        </p:txBody>
      </p:sp>
      <p:sp>
        <p:nvSpPr>
          <p:cNvPr id="6" name="Text 4"/>
          <p:cNvSpPr/>
          <p:nvPr/>
        </p:nvSpPr>
        <p:spPr>
          <a:xfrm>
            <a:off x="1005840" y="2523744"/>
            <a:ext cx="7498080" cy="320040"/>
          </a:xfrm>
          <a:prstGeom prst="rect">
            <a:avLst/>
          </a:prstGeom>
          <a:noFill/>
          <a:ln/>
        </p:spPr>
        <p:txBody>
          <a:bodyPr wrap="square" lIns="0" tIns="0" rIns="0" bIns="0" rtlCol="0" anchor="ctr"/>
          <a:lstStyle/>
          <a:p>
            <a:pPr indent="0" marL="0">
              <a:buNone/>
            </a:pPr>
            <a:r>
              <a:rPr lang="en-US" sz="1050" dirty="0">
                <a:solidFill>
                  <a:srgbClr val="A09888"/>
                </a:solidFill>
                <a:latin typeface="Calibri" pitchFamily="34" charset="0"/>
                <a:ea typeface="Calibri" pitchFamily="34" charset="-122"/>
                <a:cs typeface="Calibri" pitchFamily="34" charset="-120"/>
              </a:rPr>
              <a:t>Behavior generated blind (Call 1). Attitudes scored independently (Call 2). The survey can't influence the dining choice.</a:t>
            </a:r>
            <a:endParaRPr lang="en-US" sz="1050" dirty="0"/>
          </a:p>
        </p:txBody>
      </p:sp>
      <p:sp>
        <p:nvSpPr>
          <p:cNvPr id="7" name="Shape 5"/>
          <p:cNvSpPr/>
          <p:nvPr/>
        </p:nvSpPr>
        <p:spPr>
          <a:xfrm>
            <a:off x="731520" y="2999232"/>
            <a:ext cx="73152" cy="548640"/>
          </a:xfrm>
          <a:prstGeom prst="rect">
            <a:avLst/>
          </a:prstGeom>
          <a:solidFill>
            <a:srgbClr val="D4A843"/>
          </a:solidFill>
          <a:ln/>
        </p:spPr>
      </p:sp>
      <p:sp>
        <p:nvSpPr>
          <p:cNvPr id="8" name="Text 6"/>
          <p:cNvSpPr/>
          <p:nvPr/>
        </p:nvSpPr>
        <p:spPr>
          <a:xfrm>
            <a:off x="1005840" y="2999232"/>
            <a:ext cx="3200400" cy="256032"/>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Four-item instrument</a:t>
            </a:r>
            <a:endParaRPr lang="en-US" sz="1300" dirty="0"/>
          </a:p>
        </p:txBody>
      </p:sp>
      <p:sp>
        <p:nvSpPr>
          <p:cNvPr id="9" name="Text 7"/>
          <p:cNvSpPr/>
          <p:nvPr/>
        </p:nvSpPr>
        <p:spPr>
          <a:xfrm>
            <a:off x="1005840" y="3236976"/>
            <a:ext cx="7498080" cy="320040"/>
          </a:xfrm>
          <a:prstGeom prst="rect">
            <a:avLst/>
          </a:prstGeom>
          <a:noFill/>
          <a:ln/>
        </p:spPr>
        <p:txBody>
          <a:bodyPr wrap="square" lIns="0" tIns="0" rIns="0" bIns="0" rtlCol="0" anchor="ctr"/>
          <a:lstStyle/>
          <a:p>
            <a:pPr indent="0" marL="0">
              <a:buNone/>
            </a:pPr>
            <a:r>
              <a:rPr lang="en-US" sz="1050" dirty="0">
                <a:solidFill>
                  <a:srgbClr val="A09888"/>
                </a:solidFill>
                <a:latin typeface="Calibri" pitchFamily="34" charset="0"/>
                <a:ea typeface="Calibri" pitchFamily="34" charset="-122"/>
                <a:cs typeface="Calibri" pitchFamily="34" charset="-120"/>
              </a:rPr>
              <a:t>Perceived quality, emotional connection, curiosity about alternatives, confidence in choice. We never asked 'are you loyal?'</a:t>
            </a:r>
            <a:endParaRPr lang="en-US" sz="1050" dirty="0"/>
          </a:p>
        </p:txBody>
      </p:sp>
      <p:sp>
        <p:nvSpPr>
          <p:cNvPr id="10" name="Shape 8"/>
          <p:cNvSpPr/>
          <p:nvPr/>
        </p:nvSpPr>
        <p:spPr>
          <a:xfrm>
            <a:off x="731520" y="3712464"/>
            <a:ext cx="73152" cy="548640"/>
          </a:xfrm>
          <a:prstGeom prst="rect">
            <a:avLst/>
          </a:prstGeom>
          <a:solidFill>
            <a:srgbClr val="8B3A0F"/>
          </a:solidFill>
          <a:ln/>
        </p:spPr>
      </p:sp>
      <p:sp>
        <p:nvSpPr>
          <p:cNvPr id="11" name="Text 9"/>
          <p:cNvSpPr/>
          <p:nvPr/>
        </p:nvSpPr>
        <p:spPr>
          <a:xfrm>
            <a:off x="1005840" y="3712464"/>
            <a:ext cx="3200400" cy="256032"/>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Baseline counterfactual</a:t>
            </a:r>
            <a:endParaRPr lang="en-US" sz="1300" dirty="0"/>
          </a:p>
        </p:txBody>
      </p:sp>
      <p:sp>
        <p:nvSpPr>
          <p:cNvPr id="12" name="Text 10"/>
          <p:cNvSpPr/>
          <p:nvPr/>
        </p:nvSpPr>
        <p:spPr>
          <a:xfrm>
            <a:off x="1005840" y="3950208"/>
            <a:ext cx="7498080" cy="320040"/>
          </a:xfrm>
          <a:prstGeom prst="rect">
            <a:avLst/>
          </a:prstGeom>
          <a:noFill/>
          <a:ln/>
        </p:spPr>
        <p:txBody>
          <a:bodyPr wrap="square" lIns="0" tIns="0" rIns="0" bIns="0" rtlCol="0" anchor="ctr"/>
          <a:lstStyle/>
          <a:p>
            <a:pPr indent="0" marL="0">
              <a:buNone/>
            </a:pPr>
            <a:r>
              <a:rPr lang="en-US" sz="1050" dirty="0">
                <a:solidFill>
                  <a:srgbClr val="A09888"/>
                </a:solidFill>
                <a:latin typeface="Calibri" pitchFamily="34" charset="0"/>
                <a:ea typeface="Calibri" pitchFamily="34" charset="-122"/>
                <a:cs typeface="Calibri" pitchFamily="34" charset="-120"/>
              </a:rPr>
              <a:t>Same personas, nothing happens. RGR keeps three stars. No competitor opens. This is the control group.</a:t>
            </a:r>
            <a:endParaRPr lang="en-US" sz="1050" dirty="0"/>
          </a:p>
        </p:txBody>
      </p:sp>
      <p:sp>
        <p:nvSpPr>
          <p:cNvPr id="13" name="Shape 11"/>
          <p:cNvSpPr/>
          <p:nvPr/>
        </p:nvSpPr>
        <p:spPr>
          <a:xfrm>
            <a:off x="731520" y="4425696"/>
            <a:ext cx="73152" cy="548640"/>
          </a:xfrm>
          <a:prstGeom prst="rect">
            <a:avLst/>
          </a:prstGeom>
          <a:solidFill>
            <a:srgbClr val="3880F3"/>
          </a:solidFill>
          <a:ln/>
        </p:spPr>
      </p:sp>
      <p:sp>
        <p:nvSpPr>
          <p:cNvPr id="14" name="Text 12"/>
          <p:cNvSpPr/>
          <p:nvPr/>
        </p:nvSpPr>
        <p:spPr>
          <a:xfrm>
            <a:off x="1005840" y="4425696"/>
            <a:ext cx="3200400" cy="256032"/>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50 quantitative runs + 1 qualitative run per persona</a:t>
            </a:r>
            <a:endParaRPr lang="en-US" sz="1300" dirty="0"/>
          </a:p>
        </p:txBody>
      </p:sp>
      <p:sp>
        <p:nvSpPr>
          <p:cNvPr id="15" name="Text 13"/>
          <p:cNvSpPr/>
          <p:nvPr/>
        </p:nvSpPr>
        <p:spPr>
          <a:xfrm>
            <a:off x="1005840" y="4663440"/>
            <a:ext cx="7498080" cy="320040"/>
          </a:xfrm>
          <a:prstGeom prst="rect">
            <a:avLst/>
          </a:prstGeom>
          <a:noFill/>
          <a:ln/>
        </p:spPr>
        <p:txBody>
          <a:bodyPr wrap="square" lIns="0" tIns="0" rIns="0" bIns="0" rtlCol="0" anchor="ctr"/>
          <a:lstStyle/>
          <a:p>
            <a:pPr indent="0" marL="0">
              <a:buNone/>
            </a:pPr>
            <a:r>
              <a:rPr lang="en-US" sz="1050" dirty="0">
                <a:solidFill>
                  <a:srgbClr val="A09888"/>
                </a:solidFill>
                <a:latin typeface="Calibri" pitchFamily="34" charset="0"/>
                <a:ea typeface="Calibri" pitchFamily="34" charset="-122"/>
                <a:cs typeface="Calibri" pitchFamily="34" charset="-120"/>
              </a:rPr>
              <a:t>Haiku for distributions (n=10 shown here). Sonnet for rich observation, narrative, and pull quotes.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4A843"/>
          </a:solidFill>
          <a:ln/>
        </p:spPr>
      </p:sp>
      <p:sp>
        <p:nvSpPr>
          <p:cNvPr id="3" name="Text 1"/>
          <p:cNvSpPr/>
          <p:nvPr/>
        </p:nvSpPr>
        <p:spPr>
          <a:xfrm>
            <a:off x="731520" y="914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P1  Chet &amp; Charlotte</a:t>
            </a:r>
            <a:endParaRPr lang="en-US" sz="2200" dirty="0"/>
          </a:p>
        </p:txBody>
      </p:sp>
      <p:sp>
        <p:nvSpPr>
          <p:cNvPr id="4" name="Text 2"/>
          <p:cNvSpPr/>
          <p:nvPr/>
        </p:nvSpPr>
        <p:spPr>
          <a:xfrm>
            <a:off x="731520" y="457200"/>
            <a:ext cx="3657600" cy="274320"/>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The Memory</a:t>
            </a:r>
            <a:endParaRPr lang="en-US" sz="1000" dirty="0"/>
          </a:p>
        </p:txBody>
      </p:sp>
      <p:sp>
        <p:nvSpPr>
          <p:cNvPr id="5" name="Text 3"/>
          <p:cNvSpPr/>
          <p:nvPr/>
        </p:nvSpPr>
        <p:spPr>
          <a:xfrm>
            <a:off x="731520" y="1051560"/>
            <a:ext cx="7680960" cy="365760"/>
          </a:xfrm>
          <a:prstGeom prst="rect">
            <a:avLst/>
          </a:prstGeom>
          <a:noFill/>
          <a:ln/>
        </p:spPr>
        <p:txBody>
          <a:bodyPr wrap="square" lIns="0" tIns="0" rIns="0" bIns="0" rtlCol="0" anchor="ctr"/>
          <a:lstStyle/>
          <a:p>
            <a:pPr indent="0" marL="0">
              <a:buNone/>
            </a:pPr>
            <a:r>
              <a:rPr lang="en-US" sz="1800" b="1" dirty="0">
                <a:solidFill>
                  <a:srgbClr val="1A1816"/>
                </a:solidFill>
                <a:latin typeface="Georgia" pitchFamily="34" charset="0"/>
                <a:ea typeface="Georgia" pitchFamily="34" charset="-122"/>
                <a:cs typeface="Georgia" pitchFamily="34" charset="-120"/>
              </a:rPr>
              <a:t>One Perfect Night, Now Forever Questioned</a:t>
            </a:r>
            <a:endParaRPr lang="en-US" sz="1800" dirty="0"/>
          </a:p>
        </p:txBody>
      </p:sp>
      <p:sp>
        <p:nvSpPr>
          <p:cNvPr id="6" name="Text 4"/>
          <p:cNvSpPr/>
          <p:nvPr/>
        </p:nvSpPr>
        <p:spPr>
          <a:xfrm>
            <a:off x="731520" y="1508760"/>
            <a:ext cx="4937760" cy="2011680"/>
          </a:xfrm>
          <a:prstGeom prst="rect">
            <a:avLst/>
          </a:prstGeom>
          <a:noFill/>
          <a:ln/>
        </p:spPr>
        <p:txBody>
          <a:bodyPr wrap="square" rtlCol="0" anchor="t"/>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Charlotte's entire relationship with RGR rests on a single transformative dinner that became part of how she tells her story. When the star loss hit, it didn't threaten her plans — it threatened the meaning of her memory. She spent a year oscillating between defensive research, narrative revision, and outright avoidance. A chef's table invitation tipped her toward return: better to risk disappointment than live with doubt.</a:t>
            </a:r>
            <a:endParaRPr lang="en-US" sz="1200" dirty="0"/>
          </a:p>
        </p:txBody>
      </p:sp>
      <p:sp>
        <p:nvSpPr>
          <p:cNvPr id="7" name="Shape 5"/>
          <p:cNvSpPr/>
          <p:nvPr/>
        </p:nvSpPr>
        <p:spPr>
          <a:xfrm>
            <a:off x="5943600" y="1508760"/>
            <a:ext cx="2926080" cy="20116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8" name="Shape 6"/>
          <p:cNvSpPr/>
          <p:nvPr/>
        </p:nvSpPr>
        <p:spPr>
          <a:xfrm>
            <a:off x="5943600" y="1508760"/>
            <a:ext cx="54864" cy="2011680"/>
          </a:xfrm>
          <a:prstGeom prst="rect">
            <a:avLst/>
          </a:prstGeom>
          <a:solidFill>
            <a:srgbClr val="D4A843"/>
          </a:solidFill>
          <a:ln/>
        </p:spPr>
      </p:sp>
      <p:sp>
        <p:nvSpPr>
          <p:cNvPr id="9" name="Text 7"/>
          <p:cNvSpPr/>
          <p:nvPr/>
        </p:nvSpPr>
        <p:spPr>
          <a:xfrm>
            <a:off x="6172200" y="1600200"/>
            <a:ext cx="2560320" cy="1554480"/>
          </a:xfrm>
          <a:prstGeom prst="rect">
            <a:avLst/>
          </a:prstGeom>
          <a:noFill/>
          <a:ln/>
        </p:spPr>
        <p:txBody>
          <a:bodyPr wrap="square" rtlCol="0" anchor="t"/>
          <a:lstStyle/>
          <a:p>
            <a:pPr indent="0" marL="0">
              <a:lnSpc>
                <a:spcPct val="140000"/>
              </a:lnSpc>
              <a:buNone/>
            </a:pPr>
            <a:r>
              <a:rPr lang="en-US" sz="1050" i="1" dirty="0">
                <a:solidFill>
                  <a:srgbClr val="1A1816"/>
                </a:solidFill>
                <a:latin typeface="Calibri" pitchFamily="34" charset="0"/>
                <a:ea typeface="Calibri" pitchFamily="34" charset="-122"/>
                <a:cs typeface="Calibri" pitchFamily="34" charset="-120"/>
              </a:rPr>
              <a:t>"I don't know if anything could live up to that first time, because it was so unexpected and new, but this was amazing. This was — we made the right call coming back."</a:t>
            </a:r>
            <a:endParaRPr lang="en-US" sz="1050" dirty="0"/>
          </a:p>
        </p:txBody>
      </p:sp>
      <p:sp>
        <p:nvSpPr>
          <p:cNvPr id="10" name="Text 8"/>
          <p:cNvSpPr/>
          <p:nvPr/>
        </p:nvSpPr>
        <p:spPr>
          <a:xfrm>
            <a:off x="6172200" y="3200400"/>
            <a:ext cx="2560320" cy="274320"/>
          </a:xfrm>
          <a:prstGeom prst="rect">
            <a:avLst/>
          </a:prstGeom>
          <a:noFill/>
          <a:ln/>
        </p:spPr>
        <p:txBody>
          <a:bodyPr wrap="square" lIns="0" tIns="0" rIns="0" bIns="0" rtlCol="0" anchor="ctr"/>
          <a:lstStyle/>
          <a:p>
            <a:pPr indent="0" marL="0">
              <a:buNone/>
            </a:pPr>
            <a:r>
              <a:rPr lang="en-US" sz="800" dirty="0">
                <a:solidFill>
                  <a:srgbClr val="A09888"/>
                </a:solidFill>
                <a:latin typeface="Consolas" pitchFamily="34" charset="0"/>
                <a:ea typeface="Consolas" pitchFamily="34" charset="-122"/>
                <a:cs typeface="Consolas" pitchFamily="34" charset="-120"/>
              </a:rPr>
              <a:t>— Charlotte, Month 12</a:t>
            </a:r>
            <a:endParaRPr lang="en-US" sz="800" dirty="0"/>
          </a:p>
        </p:txBody>
      </p:sp>
      <p:sp>
        <p:nvSpPr>
          <p:cNvPr id="11" name="Shape 9"/>
          <p:cNvSpPr/>
          <p:nvPr/>
        </p:nvSpPr>
        <p:spPr>
          <a:xfrm>
            <a:off x="731520" y="3794760"/>
            <a:ext cx="7680960" cy="50292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2" name="Text 10"/>
          <p:cNvSpPr/>
          <p:nvPr/>
        </p:nvSpPr>
        <p:spPr>
          <a:xfrm>
            <a:off x="914400" y="3840480"/>
            <a:ext cx="7315200" cy="365760"/>
          </a:xfrm>
          <a:prstGeom prst="rect">
            <a:avLst/>
          </a:prstGeom>
          <a:noFill/>
          <a:ln/>
        </p:spPr>
        <p:txBody>
          <a:bodyPr wrap="square" rtlCol="0" anchor="ctr"/>
          <a:lstStyle/>
          <a:p>
            <a:pPr indent="0" marL="0">
              <a:buNone/>
            </a:pPr>
            <a:r>
              <a:rPr lang="en-US" sz="900" dirty="0">
                <a:solidFill>
                  <a:srgbClr val="A09888"/>
                </a:solidFill>
                <a:latin typeface="Consolas" pitchFamily="34" charset="0"/>
                <a:ea typeface="Consolas" pitchFamily="34" charset="-122"/>
                <a:cs typeface="Consolas" pitchFamily="34" charset="-120"/>
              </a:rPr>
              <a:t>Quantitative detail on next slide →</a:t>
            </a:r>
            <a:endParaRPr lang="en-US" sz="900" dirty="0"/>
          </a:p>
        </p:txBody>
      </p:sp>
      <p:sp>
        <p:nvSpPr>
          <p:cNvPr id="13" name="Text 11"/>
          <p:cNvSpPr/>
          <p:nvPr/>
        </p:nvSpPr>
        <p:spPr>
          <a:xfrm>
            <a:off x="731520" y="4754880"/>
            <a:ext cx="7315200" cy="274320"/>
          </a:xfrm>
          <a:prstGeom prst="rect">
            <a:avLst/>
          </a:prstGeom>
          <a:noFill/>
          <a:ln/>
        </p:spPr>
        <p:txBody>
          <a:bodyPr wrap="square"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AI-generated synthetic persona · Not a real person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D4A843"/>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P1  Chet &amp; Charlotte  —  Baseline vs. Treatment</a:t>
            </a:r>
            <a:endParaRPr lang="en-US" sz="1600" dirty="0"/>
          </a:p>
        </p:txBody>
      </p:sp>
      <p:sp>
        <p:nvSpPr>
          <p:cNvPr id="4" name="Text 2"/>
          <p:cNvSpPr/>
          <p:nvPr/>
        </p:nvSpPr>
        <p:spPr>
          <a:xfrm>
            <a:off x="548640" y="731520"/>
            <a:ext cx="3657600" cy="228600"/>
          </a:xfrm>
          <a:prstGeom prst="rect">
            <a:avLst/>
          </a:prstGeom>
          <a:noFill/>
          <a:ln/>
        </p:spPr>
        <p:txBody>
          <a:bodyPr wrap="square" lIns="0" tIns="0" rIns="0" bIns="0" rtlCol="0" anchor="ctr"/>
          <a:lstStyle/>
          <a:p>
            <a:pPr indent="0" marL="0">
              <a:buNone/>
            </a:pPr>
            <a:r>
              <a:rPr lang="en-US" sz="800" b="1" dirty="0">
                <a:solidFill>
                  <a:srgbClr val="2D6A4F"/>
                </a:solidFill>
                <a:latin typeface="Consolas" pitchFamily="34" charset="0"/>
                <a:ea typeface="Consolas" pitchFamily="34" charset="-122"/>
                <a:cs typeface="Consolas" pitchFamily="34" charset="-120"/>
              </a:rPr>
              <a:t>Perceived Quality</a:t>
            </a:r>
            <a:endParaRPr lang="en-US" sz="800" dirty="0"/>
          </a:p>
        </p:txBody>
      </p:sp>
      <p:graphicFrame>
        <p:nvGraphicFramePr>
          <p:cNvPr id="5" name="Chart 0" descr=""/>
          <p:cNvGraphicFramePr/>
          <p:nvPr/>
        </p:nvGraphicFramePr>
        <p:xfrm>
          <a:off x="457200" y="960120"/>
          <a:ext cx="4114800" cy="1325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120640" y="731520"/>
            <a:ext cx="3657600" cy="228600"/>
          </a:xfrm>
          <a:prstGeom prst="rect">
            <a:avLst/>
          </a:prstGeom>
          <a:noFill/>
          <a:ln/>
        </p:spPr>
        <p:txBody>
          <a:bodyPr wrap="square" lIns="0" tIns="0" rIns="0" bIns="0" rtlCol="0" anchor="ctr"/>
          <a:lstStyle/>
          <a:p>
            <a:pPr indent="0" marL="0">
              <a:buNone/>
            </a:pPr>
            <a:r>
              <a:rPr lang="en-US" sz="800" b="1" dirty="0">
                <a:solidFill>
                  <a:srgbClr val="D4A843"/>
                </a:solidFill>
                <a:latin typeface="Consolas" pitchFamily="34" charset="0"/>
                <a:ea typeface="Consolas" pitchFamily="34" charset="-122"/>
                <a:cs typeface="Consolas" pitchFamily="34" charset="-120"/>
              </a:rPr>
              <a:t>Emotional Connection</a:t>
            </a:r>
            <a:endParaRPr lang="en-US" sz="800" dirty="0"/>
          </a:p>
        </p:txBody>
      </p:sp>
      <p:graphicFrame>
        <p:nvGraphicFramePr>
          <p:cNvPr id="7" name="Chart 1" descr=""/>
          <p:cNvGraphicFramePr/>
          <p:nvPr/>
        </p:nvGraphicFramePr>
        <p:xfrm>
          <a:off x="5029200" y="960120"/>
          <a:ext cx="4114800" cy="13258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2423160"/>
            <a:ext cx="3657600" cy="228600"/>
          </a:xfrm>
          <a:prstGeom prst="rect">
            <a:avLst/>
          </a:prstGeom>
          <a:noFill/>
          <a:ln/>
        </p:spPr>
        <p:txBody>
          <a:bodyPr wrap="square" lIns="0" tIns="0" rIns="0" bIns="0" rtlCol="0" anchor="ctr"/>
          <a:lstStyle/>
          <a:p>
            <a:pPr indent="0" marL="0">
              <a:buNone/>
            </a:pPr>
            <a:r>
              <a:rPr lang="en-US" sz="800" b="1" dirty="0">
                <a:solidFill>
                  <a:srgbClr val="3880F3"/>
                </a:solidFill>
                <a:latin typeface="Consolas" pitchFamily="34" charset="0"/>
                <a:ea typeface="Consolas" pitchFamily="34" charset="-122"/>
                <a:cs typeface="Consolas" pitchFamily="34" charset="-120"/>
              </a:rPr>
              <a:t>Curiosity</a:t>
            </a:r>
            <a:endParaRPr lang="en-US" sz="800" dirty="0"/>
          </a:p>
        </p:txBody>
      </p:sp>
      <p:graphicFrame>
        <p:nvGraphicFramePr>
          <p:cNvPr id="9" name="Chart 2" descr=""/>
          <p:cNvGraphicFramePr/>
          <p:nvPr/>
        </p:nvGraphicFramePr>
        <p:xfrm>
          <a:off x="457200" y="2651760"/>
          <a:ext cx="4114800" cy="132588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5120640" y="2423160"/>
            <a:ext cx="3657600" cy="228600"/>
          </a:xfrm>
          <a:prstGeom prst="rect">
            <a:avLst/>
          </a:prstGeom>
          <a:noFill/>
          <a:ln/>
        </p:spPr>
        <p:txBody>
          <a:bodyPr wrap="square" lIns="0" tIns="0" rIns="0" bIns="0" rtlCol="0" anchor="ctr"/>
          <a:lstStyle/>
          <a:p>
            <a:pPr indent="0" marL="0">
              <a:buNone/>
            </a:pPr>
            <a:r>
              <a:rPr lang="en-US" sz="800" b="1" dirty="0">
                <a:solidFill>
                  <a:srgbClr val="8B3A0F"/>
                </a:solidFill>
                <a:latin typeface="Consolas" pitchFamily="34" charset="0"/>
                <a:ea typeface="Consolas" pitchFamily="34" charset="-122"/>
                <a:cs typeface="Consolas" pitchFamily="34" charset="-120"/>
              </a:rPr>
              <a:t>Confidence</a:t>
            </a:r>
            <a:endParaRPr lang="en-US" sz="800" dirty="0"/>
          </a:p>
        </p:txBody>
      </p:sp>
      <p:graphicFrame>
        <p:nvGraphicFramePr>
          <p:cNvPr id="11" name="Chart 3" descr=""/>
          <p:cNvGraphicFramePr/>
          <p:nvPr/>
        </p:nvGraphicFramePr>
        <p:xfrm>
          <a:off x="5029200" y="2651760"/>
          <a:ext cx="4114800" cy="1325880"/>
        </p:xfrm>
        <a:graphic xmlns:a="http://schemas.openxmlformats.org/drawingml/2006/main">
          <a:graphicData uri="http://schemas.openxmlformats.org/drawingml/2006/chart">
            <c:chart xmlns:c="http://schemas.openxmlformats.org/drawingml/2006/chart" r:id="rId4"/>
          </a:graphicData>
        </a:graphic>
      </p:graphicFrame>
      <p:sp>
        <p:nvSpPr>
          <p:cNvPr id="12" name="Shape 6"/>
          <p:cNvSpPr/>
          <p:nvPr/>
        </p:nvSpPr>
        <p:spPr>
          <a:xfrm>
            <a:off x="731520" y="4160520"/>
            <a:ext cx="457200" cy="0"/>
          </a:xfrm>
          <a:prstGeom prst="line">
            <a:avLst/>
          </a:prstGeom>
          <a:noFill/>
          <a:ln w="25400">
            <a:solidFill>
              <a:srgbClr val="E5E1DB"/>
            </a:solidFill>
            <a:prstDash val="solid"/>
          </a:ln>
        </p:spPr>
      </p:sp>
      <p:sp>
        <p:nvSpPr>
          <p:cNvPr id="13" name="Text 7"/>
          <p:cNvSpPr/>
          <p:nvPr/>
        </p:nvSpPr>
        <p:spPr>
          <a:xfrm>
            <a:off x="1280160" y="4069080"/>
            <a:ext cx="320040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Baseline (three stars, nothing happens)</a:t>
            </a:r>
            <a:endParaRPr lang="en-US" sz="700" dirty="0"/>
          </a:p>
        </p:txBody>
      </p:sp>
      <p:sp>
        <p:nvSpPr>
          <p:cNvPr id="14" name="Shape 8"/>
          <p:cNvSpPr/>
          <p:nvPr/>
        </p:nvSpPr>
        <p:spPr>
          <a:xfrm>
            <a:off x="4754880" y="4160520"/>
            <a:ext cx="457200" cy="0"/>
          </a:xfrm>
          <a:prstGeom prst="line">
            <a:avLst/>
          </a:prstGeom>
          <a:noFill/>
          <a:ln w="25400">
            <a:solidFill>
              <a:srgbClr val="1A1816"/>
            </a:solidFill>
            <a:prstDash val="solid"/>
          </a:ln>
        </p:spPr>
      </p:sp>
      <p:sp>
        <p:nvSpPr>
          <p:cNvPr id="15" name="Text 9"/>
          <p:cNvSpPr/>
          <p:nvPr/>
        </p:nvSpPr>
        <p:spPr>
          <a:xfrm>
            <a:off x="5303520" y="4069080"/>
            <a:ext cx="347472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Treatment (star loss + Corenucopia + chef's table)</a:t>
            </a:r>
            <a:endParaRPr lang="en-US" sz="700" dirty="0"/>
          </a:p>
        </p:txBody>
      </p:sp>
      <p:sp>
        <p:nvSpPr>
          <p:cNvPr id="16" name="Shape 10"/>
          <p:cNvSpPr/>
          <p:nvPr/>
        </p:nvSpPr>
        <p:spPr>
          <a:xfrm>
            <a:off x="457200" y="4343400"/>
            <a:ext cx="8229600" cy="6400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7" name="Text 11"/>
          <p:cNvSpPr/>
          <p:nvPr/>
        </p:nvSpPr>
        <p:spPr>
          <a:xfrm>
            <a:off x="640080" y="4389120"/>
            <a:ext cx="7863840" cy="548640"/>
          </a:xfrm>
          <a:prstGeom prst="rect">
            <a:avLst/>
          </a:prstGeom>
          <a:noFill/>
          <a:ln/>
        </p:spPr>
        <p:txBody>
          <a:bodyPr wrap="square" rtlCol="0" anchor="ctr"/>
          <a:lstStyle/>
          <a:p>
            <a:pPr indent="0" marL="0">
              <a:lnSpc>
                <a:spcPct val="130000"/>
              </a:lnSpc>
              <a:buNone/>
            </a:pPr>
            <a:r>
              <a:rPr lang="en-US" sz="1000" dirty="0">
                <a:solidFill>
                  <a:srgbClr val="1A1816"/>
                </a:solidFill>
                <a:latin typeface="Calibri" pitchFamily="34" charset="0"/>
                <a:ea typeface="Calibri" pitchFamily="34" charset="-122"/>
                <a:cs typeface="Calibri" pitchFamily="34" charset="-120"/>
              </a:rPr>
              <a:t>The star loss dropped perceived quality by 3 points and confidence by 5 points from baseline — purely from narrative, with zero direct experience. Curiosity about alternatives doubled during Corenucopia buzz (M5-M7). The chef's table invitation restored confidence even though they couldn't attend. By M12, 80% returned to RGR.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D4A843"/>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P1  Chet &amp; Charlotte  —  Where They Actually Ate</a:t>
            </a:r>
            <a:endParaRPr lang="en-US" sz="1600" dirty="0"/>
          </a:p>
        </p:txBody>
      </p:sp>
      <p:sp>
        <p:nvSpPr>
          <p:cNvPr id="4" name="Text 2"/>
          <p:cNvSpPr/>
          <p:nvPr/>
        </p:nvSpPr>
        <p:spPr>
          <a:xfrm>
            <a:off x="457200" y="685800"/>
            <a:ext cx="393192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BASELINE</a:t>
            </a:r>
            <a:endParaRPr lang="en-US" sz="900" dirty="0"/>
          </a:p>
        </p:txBody>
      </p:sp>
      <p:sp>
        <p:nvSpPr>
          <p:cNvPr id="5" name="Text 3"/>
          <p:cNvSpPr/>
          <p:nvPr/>
        </p:nvSpPr>
        <p:spPr>
          <a:xfrm>
            <a:off x="457200" y="914400"/>
            <a:ext cx="393192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Three stars · No events · Nothing changes</a:t>
            </a:r>
            <a:endParaRPr lang="en-US" sz="700" dirty="0"/>
          </a:p>
        </p:txBody>
      </p:sp>
      <p:graphicFrame>
        <p:nvGraphicFramePr>
          <p:cNvPr id="6" name="Chart 0" descr=""/>
          <p:cNvGraphicFramePr/>
          <p:nvPr/>
        </p:nvGraphicFramePr>
        <p:xfrm>
          <a:off x="274320" y="1143000"/>
          <a:ext cx="4114800" cy="2011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754880" y="685800"/>
            <a:ext cx="411480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TREATMENT</a:t>
            </a:r>
            <a:endParaRPr lang="en-US" sz="900" dirty="0"/>
          </a:p>
        </p:txBody>
      </p:sp>
      <p:sp>
        <p:nvSpPr>
          <p:cNvPr id="8" name="Text 5"/>
          <p:cNvSpPr/>
          <p:nvPr/>
        </p:nvSpPr>
        <p:spPr>
          <a:xfrm>
            <a:off x="4754880" y="914400"/>
            <a:ext cx="411480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Star loss (M1) · Corenucopia opens (M5) · Chef's table (M8)</a:t>
            </a:r>
            <a:endParaRPr lang="en-US" sz="700" dirty="0"/>
          </a:p>
        </p:txBody>
      </p:sp>
      <p:graphicFrame>
        <p:nvGraphicFramePr>
          <p:cNvPr id="9" name="Chart 1" descr=""/>
          <p:cNvGraphicFramePr/>
          <p:nvPr/>
        </p:nvGraphicFramePr>
        <p:xfrm>
          <a:off x="4572000" y="1143000"/>
          <a:ext cx="42976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731520" y="3291840"/>
            <a:ext cx="182880" cy="137160"/>
          </a:xfrm>
          <a:prstGeom prst="rect">
            <a:avLst/>
          </a:prstGeom>
          <a:solidFill>
            <a:srgbClr val="2D6A4F"/>
          </a:solidFill>
          <a:ln/>
        </p:spPr>
      </p:sp>
      <p:sp>
        <p:nvSpPr>
          <p:cNvPr id="11" name="Text 7"/>
          <p:cNvSpPr/>
          <p:nvPr/>
        </p:nvSpPr>
        <p:spPr>
          <a:xfrm>
            <a:off x="960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RGR</a:t>
            </a:r>
            <a:endParaRPr lang="en-US" sz="700" dirty="0"/>
          </a:p>
        </p:txBody>
      </p:sp>
      <p:sp>
        <p:nvSpPr>
          <p:cNvPr id="12" name="Shape 8"/>
          <p:cNvSpPr/>
          <p:nvPr/>
        </p:nvSpPr>
        <p:spPr>
          <a:xfrm>
            <a:off x="2103120" y="3291840"/>
            <a:ext cx="182880" cy="137160"/>
          </a:xfrm>
          <a:prstGeom prst="rect">
            <a:avLst/>
          </a:prstGeom>
          <a:solidFill>
            <a:srgbClr val="5B2C8F"/>
          </a:solidFill>
          <a:ln/>
        </p:spPr>
      </p:sp>
      <p:sp>
        <p:nvSpPr>
          <p:cNvPr id="13" name="Text 9"/>
          <p:cNvSpPr/>
          <p:nvPr/>
        </p:nvSpPr>
        <p:spPr>
          <a:xfrm>
            <a:off x="23317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a:t>
            </a:r>
            <a:endParaRPr lang="en-US" sz="700" dirty="0"/>
          </a:p>
        </p:txBody>
      </p:sp>
      <p:sp>
        <p:nvSpPr>
          <p:cNvPr id="14" name="Shape 10"/>
          <p:cNvSpPr/>
          <p:nvPr/>
        </p:nvSpPr>
        <p:spPr>
          <a:xfrm>
            <a:off x="3474720" y="3291840"/>
            <a:ext cx="182880" cy="137160"/>
          </a:xfrm>
          <a:prstGeom prst="rect">
            <a:avLst/>
          </a:prstGeom>
          <a:solidFill>
            <a:srgbClr val="3880F3"/>
          </a:solidFill>
          <a:ln/>
        </p:spPr>
      </p:sp>
      <p:sp>
        <p:nvSpPr>
          <p:cNvPr id="15" name="Text 11"/>
          <p:cNvSpPr/>
          <p:nvPr/>
        </p:nvSpPr>
        <p:spPr>
          <a:xfrm>
            <a:off x="37033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Corenucopia</a:t>
            </a:r>
            <a:endParaRPr lang="en-US" sz="700" dirty="0"/>
          </a:p>
        </p:txBody>
      </p:sp>
      <p:sp>
        <p:nvSpPr>
          <p:cNvPr id="16" name="Shape 12"/>
          <p:cNvSpPr/>
          <p:nvPr/>
        </p:nvSpPr>
        <p:spPr>
          <a:xfrm>
            <a:off x="4846320" y="3291840"/>
            <a:ext cx="182880" cy="137160"/>
          </a:xfrm>
          <a:prstGeom prst="rect">
            <a:avLst/>
          </a:prstGeom>
          <a:solidFill>
            <a:srgbClr val="D4A843"/>
          </a:solidFill>
          <a:ln/>
        </p:spPr>
      </p:sp>
      <p:sp>
        <p:nvSpPr>
          <p:cNvPr id="17" name="Text 13"/>
          <p:cNvSpPr/>
          <p:nvPr/>
        </p:nvSpPr>
        <p:spPr>
          <a:xfrm>
            <a:off x="50749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Both</a:t>
            </a:r>
            <a:endParaRPr lang="en-US" sz="700" dirty="0"/>
          </a:p>
        </p:txBody>
      </p:sp>
      <p:sp>
        <p:nvSpPr>
          <p:cNvPr id="18" name="Shape 14"/>
          <p:cNvSpPr/>
          <p:nvPr/>
        </p:nvSpPr>
        <p:spPr>
          <a:xfrm>
            <a:off x="6217920" y="3291840"/>
            <a:ext cx="182880" cy="137160"/>
          </a:xfrm>
          <a:prstGeom prst="rect">
            <a:avLst/>
          </a:prstGeom>
          <a:solidFill>
            <a:srgbClr val="8B3A0F"/>
          </a:solidFill>
          <a:ln/>
        </p:spPr>
      </p:sp>
      <p:sp>
        <p:nvSpPr>
          <p:cNvPr id="19" name="Text 15"/>
          <p:cNvSpPr/>
          <p:nvPr/>
        </p:nvSpPr>
        <p:spPr>
          <a:xfrm>
            <a:off x="64465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Home</a:t>
            </a:r>
            <a:endParaRPr lang="en-US" sz="700" dirty="0"/>
          </a:p>
        </p:txBody>
      </p:sp>
      <p:sp>
        <p:nvSpPr>
          <p:cNvPr id="20" name="Shape 16"/>
          <p:cNvSpPr/>
          <p:nvPr/>
        </p:nvSpPr>
        <p:spPr>
          <a:xfrm>
            <a:off x="7589520" y="3291840"/>
            <a:ext cx="182880" cy="137160"/>
          </a:xfrm>
          <a:prstGeom prst="rect">
            <a:avLst/>
          </a:prstGeom>
          <a:solidFill>
            <a:srgbClr val="E5E1DB"/>
          </a:solidFill>
          <a:ln/>
        </p:spPr>
      </p:sp>
      <p:sp>
        <p:nvSpPr>
          <p:cNvPr id="21" name="Text 17"/>
          <p:cNvSpPr/>
          <p:nvPr/>
        </p:nvSpPr>
        <p:spPr>
          <a:xfrm>
            <a:off x="7818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N/A</a:t>
            </a:r>
            <a:endParaRPr lang="en-US" sz="700" dirty="0"/>
          </a:p>
        </p:txBody>
      </p:sp>
      <p:sp>
        <p:nvSpPr>
          <p:cNvPr id="22" name="Shape 18"/>
          <p:cNvSpPr/>
          <p:nvPr/>
        </p:nvSpPr>
        <p:spPr>
          <a:xfrm>
            <a:off x="457200" y="3611880"/>
            <a:ext cx="8229600" cy="77724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23" name="Text 19"/>
          <p:cNvSpPr/>
          <p:nvPr/>
        </p:nvSpPr>
        <p:spPr>
          <a:xfrm>
            <a:off x="640080" y="3657600"/>
            <a:ext cx="7863840" cy="685800"/>
          </a:xfrm>
          <a:prstGeom prst="rect">
            <a:avLst/>
          </a:prstGeom>
          <a:noFill/>
          <a:ln/>
        </p:spPr>
        <p:txBody>
          <a:bodyPr wrap="square" rtlCol="0" anchor="ctr"/>
          <a:lstStyle/>
          <a:p>
            <a:pPr indent="0" marL="0">
              <a:lnSpc>
                <a:spcPct val="135000"/>
              </a:lnSpc>
              <a:buNone/>
            </a:pPr>
            <a:r>
              <a:rPr lang="en-US" sz="1050" dirty="0">
                <a:solidFill>
                  <a:srgbClr val="1A1816"/>
                </a:solidFill>
                <a:latin typeface="Calibri" pitchFamily="34" charset="0"/>
                <a:ea typeface="Calibri" pitchFamily="34" charset="-122"/>
                <a:cs typeface="Calibri" pitchFamily="34" charset="-120"/>
              </a:rPr>
              <a:t>In the baseline, Chet &amp; Charlotte go straight to RGR in M12 — no hesitation, no alternative considered. In the treatment, 20% chose Corenucopia instead. The star loss introduced doubt into a decision that was previously automatic. The 80% who still chose RGR did so deliberately, not reflexively — and that distinction matters.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D6A4F"/>
          </a:solidFill>
          <a:ln/>
        </p:spPr>
      </p:sp>
      <p:sp>
        <p:nvSpPr>
          <p:cNvPr id="3" name="Text 1"/>
          <p:cNvSpPr/>
          <p:nvPr/>
        </p:nvSpPr>
        <p:spPr>
          <a:xfrm>
            <a:off x="731520" y="914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P2  Richard</a:t>
            </a:r>
            <a:endParaRPr lang="en-US" sz="2200" dirty="0"/>
          </a:p>
        </p:txBody>
      </p:sp>
      <p:sp>
        <p:nvSpPr>
          <p:cNvPr id="4" name="Text 2"/>
          <p:cNvSpPr/>
          <p:nvPr/>
        </p:nvSpPr>
        <p:spPr>
          <a:xfrm>
            <a:off x="731520" y="457200"/>
            <a:ext cx="3657600" cy="274320"/>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The Dealmaker</a:t>
            </a:r>
            <a:endParaRPr lang="en-US" sz="1000" dirty="0"/>
          </a:p>
        </p:txBody>
      </p:sp>
      <p:sp>
        <p:nvSpPr>
          <p:cNvPr id="5" name="Text 3"/>
          <p:cNvSpPr/>
          <p:nvPr/>
        </p:nvSpPr>
        <p:spPr>
          <a:xfrm>
            <a:off x="731520" y="1051560"/>
            <a:ext cx="7680960" cy="365760"/>
          </a:xfrm>
          <a:prstGeom prst="rect">
            <a:avLst/>
          </a:prstGeom>
          <a:noFill/>
          <a:ln/>
        </p:spPr>
        <p:txBody>
          <a:bodyPr wrap="square" lIns="0" tIns="0" rIns="0" bIns="0" rtlCol="0" anchor="ctr"/>
          <a:lstStyle/>
          <a:p>
            <a:pPr indent="0" marL="0">
              <a:buNone/>
            </a:pPr>
            <a:r>
              <a:rPr lang="en-US" sz="1800" b="1" dirty="0">
                <a:solidFill>
                  <a:srgbClr val="1A1816"/>
                </a:solidFill>
                <a:latin typeface="Georgia" pitchFamily="34" charset="0"/>
                <a:ea typeface="Georgia" pitchFamily="34" charset="-122"/>
                <a:cs typeface="Georgia" pitchFamily="34" charset="-120"/>
              </a:rPr>
              <a:t>Two Stars Still Close Deals That Matter</a:t>
            </a:r>
            <a:endParaRPr lang="en-US" sz="1800" dirty="0"/>
          </a:p>
        </p:txBody>
      </p:sp>
      <p:sp>
        <p:nvSpPr>
          <p:cNvPr id="6" name="Text 4"/>
          <p:cNvSpPr/>
          <p:nvPr/>
        </p:nvSpPr>
        <p:spPr>
          <a:xfrm>
            <a:off x="731520" y="1508760"/>
            <a:ext cx="4937760" cy="2011680"/>
          </a:xfrm>
          <a:prstGeom prst="rect">
            <a:avLst/>
          </a:prstGeom>
          <a:noFill/>
          <a:ln/>
        </p:spPr>
        <p:txBody>
          <a:bodyPr wrap="square" rtlCol="0" anchor="t"/>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Richard noticed the star loss the morning of a client dinner and briefly worried. But the client didn't mention it, the contract renewed, and that became the data point that mattered. Over twelve months he developed a two-venue strategy — RGR for traditional power players, Corenucopia for younger clients. The tool still worked, so the tool was still correct.</a:t>
            </a:r>
            <a:endParaRPr lang="en-US" sz="1200" dirty="0"/>
          </a:p>
        </p:txBody>
      </p:sp>
      <p:sp>
        <p:nvSpPr>
          <p:cNvPr id="7" name="Shape 5"/>
          <p:cNvSpPr/>
          <p:nvPr/>
        </p:nvSpPr>
        <p:spPr>
          <a:xfrm>
            <a:off x="5943600" y="1508760"/>
            <a:ext cx="2926080" cy="20116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8" name="Shape 6"/>
          <p:cNvSpPr/>
          <p:nvPr/>
        </p:nvSpPr>
        <p:spPr>
          <a:xfrm>
            <a:off x="5943600" y="1508760"/>
            <a:ext cx="54864" cy="2011680"/>
          </a:xfrm>
          <a:prstGeom prst="rect">
            <a:avLst/>
          </a:prstGeom>
          <a:solidFill>
            <a:srgbClr val="2D6A4F"/>
          </a:solidFill>
          <a:ln/>
        </p:spPr>
      </p:sp>
      <p:sp>
        <p:nvSpPr>
          <p:cNvPr id="9" name="Text 7"/>
          <p:cNvSpPr/>
          <p:nvPr/>
        </p:nvSpPr>
        <p:spPr>
          <a:xfrm>
            <a:off x="6172200" y="1600200"/>
            <a:ext cx="2560320" cy="1554480"/>
          </a:xfrm>
          <a:prstGeom prst="rect">
            <a:avLst/>
          </a:prstGeom>
          <a:noFill/>
          <a:ln/>
        </p:spPr>
        <p:txBody>
          <a:bodyPr wrap="square" rtlCol="0" anchor="t"/>
          <a:lstStyle/>
          <a:p>
            <a:pPr indent="0" marL="0">
              <a:lnSpc>
                <a:spcPct val="140000"/>
              </a:lnSpc>
              <a:buNone/>
            </a:pPr>
            <a:r>
              <a:rPr lang="en-US" sz="1050" i="1" dirty="0">
                <a:solidFill>
                  <a:srgbClr val="1A1816"/>
                </a:solidFill>
                <a:latin typeface="Calibri" pitchFamily="34" charset="0"/>
                <a:ea typeface="Calibri" pitchFamily="34" charset="-122"/>
                <a:cs typeface="Calibri" pitchFamily="34" charset="-120"/>
              </a:rPr>
              <a:t>"Honestly I barely think about the Michelin thing anymore. Both places deliver what I need them to deliver, which is making the person across the table feel like they're important to me."</a:t>
            </a:r>
            <a:endParaRPr lang="en-US" sz="1050" dirty="0"/>
          </a:p>
        </p:txBody>
      </p:sp>
      <p:sp>
        <p:nvSpPr>
          <p:cNvPr id="10" name="Text 8"/>
          <p:cNvSpPr/>
          <p:nvPr/>
        </p:nvSpPr>
        <p:spPr>
          <a:xfrm>
            <a:off x="6172200" y="3200400"/>
            <a:ext cx="2560320" cy="274320"/>
          </a:xfrm>
          <a:prstGeom prst="rect">
            <a:avLst/>
          </a:prstGeom>
          <a:noFill/>
          <a:ln/>
        </p:spPr>
        <p:txBody>
          <a:bodyPr wrap="square" lIns="0" tIns="0" rIns="0" bIns="0" rtlCol="0" anchor="ctr"/>
          <a:lstStyle/>
          <a:p>
            <a:pPr indent="0" marL="0">
              <a:buNone/>
            </a:pPr>
            <a:r>
              <a:rPr lang="en-US" sz="800" dirty="0">
                <a:solidFill>
                  <a:srgbClr val="A09888"/>
                </a:solidFill>
                <a:latin typeface="Consolas" pitchFamily="34" charset="0"/>
                <a:ea typeface="Consolas" pitchFamily="34" charset="-122"/>
                <a:cs typeface="Consolas" pitchFamily="34" charset="-120"/>
              </a:rPr>
              <a:t>— Richard, Month 10</a:t>
            </a:r>
            <a:endParaRPr lang="en-US" sz="800" dirty="0"/>
          </a:p>
        </p:txBody>
      </p:sp>
      <p:sp>
        <p:nvSpPr>
          <p:cNvPr id="11" name="Shape 9"/>
          <p:cNvSpPr/>
          <p:nvPr/>
        </p:nvSpPr>
        <p:spPr>
          <a:xfrm>
            <a:off x="731520" y="3794760"/>
            <a:ext cx="7680960" cy="50292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2" name="Text 10"/>
          <p:cNvSpPr/>
          <p:nvPr/>
        </p:nvSpPr>
        <p:spPr>
          <a:xfrm>
            <a:off x="914400" y="3840480"/>
            <a:ext cx="7315200" cy="365760"/>
          </a:xfrm>
          <a:prstGeom prst="rect">
            <a:avLst/>
          </a:prstGeom>
          <a:noFill/>
          <a:ln/>
        </p:spPr>
        <p:txBody>
          <a:bodyPr wrap="square" rtlCol="0" anchor="ctr"/>
          <a:lstStyle/>
          <a:p>
            <a:pPr indent="0" marL="0">
              <a:buNone/>
            </a:pPr>
            <a:r>
              <a:rPr lang="en-US" sz="900" dirty="0">
                <a:solidFill>
                  <a:srgbClr val="A09888"/>
                </a:solidFill>
                <a:latin typeface="Consolas" pitchFamily="34" charset="0"/>
                <a:ea typeface="Consolas" pitchFamily="34" charset="-122"/>
                <a:cs typeface="Consolas" pitchFamily="34" charset="-120"/>
              </a:rPr>
              <a:t>Quantitative detail on next slide →</a:t>
            </a:r>
            <a:endParaRPr lang="en-US" sz="900" dirty="0"/>
          </a:p>
        </p:txBody>
      </p:sp>
      <p:sp>
        <p:nvSpPr>
          <p:cNvPr id="13" name="Text 11"/>
          <p:cNvSpPr/>
          <p:nvPr/>
        </p:nvSpPr>
        <p:spPr>
          <a:xfrm>
            <a:off x="731520" y="4754880"/>
            <a:ext cx="7315200" cy="274320"/>
          </a:xfrm>
          <a:prstGeom prst="rect">
            <a:avLst/>
          </a:prstGeom>
          <a:noFill/>
          <a:ln/>
        </p:spPr>
        <p:txBody>
          <a:bodyPr wrap="square"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AI-generated synthetic persona · Not a real person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6A4F"/>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P2  Richard  —  Baseline vs. Treatment</a:t>
            </a:r>
            <a:endParaRPr lang="en-US" sz="1600" dirty="0"/>
          </a:p>
        </p:txBody>
      </p:sp>
      <p:sp>
        <p:nvSpPr>
          <p:cNvPr id="4" name="Text 2"/>
          <p:cNvSpPr/>
          <p:nvPr/>
        </p:nvSpPr>
        <p:spPr>
          <a:xfrm>
            <a:off x="548640" y="731520"/>
            <a:ext cx="3657600" cy="228600"/>
          </a:xfrm>
          <a:prstGeom prst="rect">
            <a:avLst/>
          </a:prstGeom>
          <a:noFill/>
          <a:ln/>
        </p:spPr>
        <p:txBody>
          <a:bodyPr wrap="square" lIns="0" tIns="0" rIns="0" bIns="0" rtlCol="0" anchor="ctr"/>
          <a:lstStyle/>
          <a:p>
            <a:pPr indent="0" marL="0">
              <a:buNone/>
            </a:pPr>
            <a:r>
              <a:rPr lang="en-US" sz="800" b="1" dirty="0">
                <a:solidFill>
                  <a:srgbClr val="2D6A4F"/>
                </a:solidFill>
                <a:latin typeface="Consolas" pitchFamily="34" charset="0"/>
                <a:ea typeface="Consolas" pitchFamily="34" charset="-122"/>
                <a:cs typeface="Consolas" pitchFamily="34" charset="-120"/>
              </a:rPr>
              <a:t>Perceived Quality</a:t>
            </a:r>
            <a:endParaRPr lang="en-US" sz="800" dirty="0"/>
          </a:p>
        </p:txBody>
      </p:sp>
      <p:graphicFrame>
        <p:nvGraphicFramePr>
          <p:cNvPr id="5" name="Chart 0" descr=""/>
          <p:cNvGraphicFramePr/>
          <p:nvPr/>
        </p:nvGraphicFramePr>
        <p:xfrm>
          <a:off x="457200" y="960120"/>
          <a:ext cx="4114800" cy="1325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120640" y="731520"/>
            <a:ext cx="3657600" cy="228600"/>
          </a:xfrm>
          <a:prstGeom prst="rect">
            <a:avLst/>
          </a:prstGeom>
          <a:noFill/>
          <a:ln/>
        </p:spPr>
        <p:txBody>
          <a:bodyPr wrap="square" lIns="0" tIns="0" rIns="0" bIns="0" rtlCol="0" anchor="ctr"/>
          <a:lstStyle/>
          <a:p>
            <a:pPr indent="0" marL="0">
              <a:buNone/>
            </a:pPr>
            <a:r>
              <a:rPr lang="en-US" sz="800" b="1" dirty="0">
                <a:solidFill>
                  <a:srgbClr val="D4A843"/>
                </a:solidFill>
                <a:latin typeface="Consolas" pitchFamily="34" charset="0"/>
                <a:ea typeface="Consolas" pitchFamily="34" charset="-122"/>
                <a:cs typeface="Consolas" pitchFamily="34" charset="-120"/>
              </a:rPr>
              <a:t>Emotional Connection</a:t>
            </a:r>
            <a:endParaRPr lang="en-US" sz="800" dirty="0"/>
          </a:p>
        </p:txBody>
      </p:sp>
      <p:graphicFrame>
        <p:nvGraphicFramePr>
          <p:cNvPr id="7" name="Chart 1" descr=""/>
          <p:cNvGraphicFramePr/>
          <p:nvPr/>
        </p:nvGraphicFramePr>
        <p:xfrm>
          <a:off x="5029200" y="960120"/>
          <a:ext cx="4114800" cy="13258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2423160"/>
            <a:ext cx="3657600" cy="228600"/>
          </a:xfrm>
          <a:prstGeom prst="rect">
            <a:avLst/>
          </a:prstGeom>
          <a:noFill/>
          <a:ln/>
        </p:spPr>
        <p:txBody>
          <a:bodyPr wrap="square" lIns="0" tIns="0" rIns="0" bIns="0" rtlCol="0" anchor="ctr"/>
          <a:lstStyle/>
          <a:p>
            <a:pPr indent="0" marL="0">
              <a:buNone/>
            </a:pPr>
            <a:r>
              <a:rPr lang="en-US" sz="800" b="1" dirty="0">
                <a:solidFill>
                  <a:srgbClr val="3880F3"/>
                </a:solidFill>
                <a:latin typeface="Consolas" pitchFamily="34" charset="0"/>
                <a:ea typeface="Consolas" pitchFamily="34" charset="-122"/>
                <a:cs typeface="Consolas" pitchFamily="34" charset="-120"/>
              </a:rPr>
              <a:t>Curiosity</a:t>
            </a:r>
            <a:endParaRPr lang="en-US" sz="800" dirty="0"/>
          </a:p>
        </p:txBody>
      </p:sp>
      <p:graphicFrame>
        <p:nvGraphicFramePr>
          <p:cNvPr id="9" name="Chart 2" descr=""/>
          <p:cNvGraphicFramePr/>
          <p:nvPr/>
        </p:nvGraphicFramePr>
        <p:xfrm>
          <a:off x="457200" y="2651760"/>
          <a:ext cx="4114800" cy="132588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5120640" y="2423160"/>
            <a:ext cx="3657600" cy="228600"/>
          </a:xfrm>
          <a:prstGeom prst="rect">
            <a:avLst/>
          </a:prstGeom>
          <a:noFill/>
          <a:ln/>
        </p:spPr>
        <p:txBody>
          <a:bodyPr wrap="square" lIns="0" tIns="0" rIns="0" bIns="0" rtlCol="0" anchor="ctr"/>
          <a:lstStyle/>
          <a:p>
            <a:pPr indent="0" marL="0">
              <a:buNone/>
            </a:pPr>
            <a:r>
              <a:rPr lang="en-US" sz="800" b="1" dirty="0">
                <a:solidFill>
                  <a:srgbClr val="8B3A0F"/>
                </a:solidFill>
                <a:latin typeface="Consolas" pitchFamily="34" charset="0"/>
                <a:ea typeface="Consolas" pitchFamily="34" charset="-122"/>
                <a:cs typeface="Consolas" pitchFamily="34" charset="-120"/>
              </a:rPr>
              <a:t>Confidence</a:t>
            </a:r>
            <a:endParaRPr lang="en-US" sz="800" dirty="0"/>
          </a:p>
        </p:txBody>
      </p:sp>
      <p:graphicFrame>
        <p:nvGraphicFramePr>
          <p:cNvPr id="11" name="Chart 3" descr=""/>
          <p:cNvGraphicFramePr/>
          <p:nvPr/>
        </p:nvGraphicFramePr>
        <p:xfrm>
          <a:off x="5029200" y="2651760"/>
          <a:ext cx="4114800" cy="1325880"/>
        </p:xfrm>
        <a:graphic xmlns:a="http://schemas.openxmlformats.org/drawingml/2006/main">
          <a:graphicData uri="http://schemas.openxmlformats.org/drawingml/2006/chart">
            <c:chart xmlns:c="http://schemas.openxmlformats.org/drawingml/2006/chart" r:id="rId4"/>
          </a:graphicData>
        </a:graphic>
      </p:graphicFrame>
      <p:sp>
        <p:nvSpPr>
          <p:cNvPr id="12" name="Shape 6"/>
          <p:cNvSpPr/>
          <p:nvPr/>
        </p:nvSpPr>
        <p:spPr>
          <a:xfrm>
            <a:off x="731520" y="4160520"/>
            <a:ext cx="457200" cy="0"/>
          </a:xfrm>
          <a:prstGeom prst="line">
            <a:avLst/>
          </a:prstGeom>
          <a:noFill/>
          <a:ln w="25400">
            <a:solidFill>
              <a:srgbClr val="E5E1DB"/>
            </a:solidFill>
            <a:prstDash val="solid"/>
          </a:ln>
        </p:spPr>
      </p:sp>
      <p:sp>
        <p:nvSpPr>
          <p:cNvPr id="13" name="Text 7"/>
          <p:cNvSpPr/>
          <p:nvPr/>
        </p:nvSpPr>
        <p:spPr>
          <a:xfrm>
            <a:off x="1280160" y="4069080"/>
            <a:ext cx="320040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Baseline (three stars, nothing happens)</a:t>
            </a:r>
            <a:endParaRPr lang="en-US" sz="700" dirty="0"/>
          </a:p>
        </p:txBody>
      </p:sp>
      <p:sp>
        <p:nvSpPr>
          <p:cNvPr id="14" name="Shape 8"/>
          <p:cNvSpPr/>
          <p:nvPr/>
        </p:nvSpPr>
        <p:spPr>
          <a:xfrm>
            <a:off x="4754880" y="4160520"/>
            <a:ext cx="457200" cy="0"/>
          </a:xfrm>
          <a:prstGeom prst="line">
            <a:avLst/>
          </a:prstGeom>
          <a:noFill/>
          <a:ln w="25400">
            <a:solidFill>
              <a:srgbClr val="1A1816"/>
            </a:solidFill>
            <a:prstDash val="solid"/>
          </a:ln>
        </p:spPr>
      </p:sp>
      <p:sp>
        <p:nvSpPr>
          <p:cNvPr id="15" name="Text 9"/>
          <p:cNvSpPr/>
          <p:nvPr/>
        </p:nvSpPr>
        <p:spPr>
          <a:xfrm>
            <a:off x="5303520" y="4069080"/>
            <a:ext cx="347472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Treatment (star loss + Corenucopia + chef's table)</a:t>
            </a:r>
            <a:endParaRPr lang="en-US" sz="700" dirty="0"/>
          </a:p>
        </p:txBody>
      </p:sp>
      <p:sp>
        <p:nvSpPr>
          <p:cNvPr id="16" name="Shape 10"/>
          <p:cNvSpPr/>
          <p:nvPr/>
        </p:nvSpPr>
        <p:spPr>
          <a:xfrm>
            <a:off x="457200" y="4343400"/>
            <a:ext cx="8229600" cy="6400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7" name="Text 11"/>
          <p:cNvSpPr/>
          <p:nvPr/>
        </p:nvSpPr>
        <p:spPr>
          <a:xfrm>
            <a:off x="640080" y="4389120"/>
            <a:ext cx="7863840" cy="548640"/>
          </a:xfrm>
          <a:prstGeom prst="rect">
            <a:avLst/>
          </a:prstGeom>
          <a:noFill/>
          <a:ln/>
        </p:spPr>
        <p:txBody>
          <a:bodyPr wrap="square" rtlCol="0" anchor="ctr"/>
          <a:lstStyle/>
          <a:p>
            <a:pPr indent="0" marL="0">
              <a:lnSpc>
                <a:spcPct val="130000"/>
              </a:lnSpc>
              <a:buNone/>
            </a:pPr>
            <a:r>
              <a:rPr lang="en-US" sz="1000" dirty="0">
                <a:solidFill>
                  <a:srgbClr val="1A1816"/>
                </a:solidFill>
                <a:latin typeface="Calibri" pitchFamily="34" charset="0"/>
                <a:ea typeface="Calibri" pitchFamily="34" charset="-122"/>
                <a:cs typeface="Calibri" pitchFamily="34" charset="-120"/>
              </a:rPr>
              <a:t>Richard's attitudes barely shifted — quality held at 8, confidence climbed to 9. But his dining choices tell a different story: 20% of runs showed Core defection from M5 onward. The behavior is bimodal (all-RGR or early defection), not gradual. Baseline was a perfect flatline: all 9s, 100% RGR, zero variance.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6A4F"/>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P2  Richard  —  Where They Actually Ate</a:t>
            </a:r>
            <a:endParaRPr lang="en-US" sz="1600" dirty="0"/>
          </a:p>
        </p:txBody>
      </p:sp>
      <p:sp>
        <p:nvSpPr>
          <p:cNvPr id="4" name="Text 2"/>
          <p:cNvSpPr/>
          <p:nvPr/>
        </p:nvSpPr>
        <p:spPr>
          <a:xfrm>
            <a:off x="457200" y="685800"/>
            <a:ext cx="393192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BASELINE</a:t>
            </a:r>
            <a:endParaRPr lang="en-US" sz="900" dirty="0"/>
          </a:p>
        </p:txBody>
      </p:sp>
      <p:sp>
        <p:nvSpPr>
          <p:cNvPr id="5" name="Text 3"/>
          <p:cNvSpPr/>
          <p:nvPr/>
        </p:nvSpPr>
        <p:spPr>
          <a:xfrm>
            <a:off x="457200" y="914400"/>
            <a:ext cx="393192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Three stars · No events · Nothing changes</a:t>
            </a:r>
            <a:endParaRPr lang="en-US" sz="700" dirty="0"/>
          </a:p>
        </p:txBody>
      </p:sp>
      <p:graphicFrame>
        <p:nvGraphicFramePr>
          <p:cNvPr id="6" name="Chart 0" descr=""/>
          <p:cNvGraphicFramePr/>
          <p:nvPr/>
        </p:nvGraphicFramePr>
        <p:xfrm>
          <a:off x="274320" y="1143000"/>
          <a:ext cx="4114800" cy="2011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754880" y="685800"/>
            <a:ext cx="411480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TREATMENT</a:t>
            </a:r>
            <a:endParaRPr lang="en-US" sz="900" dirty="0"/>
          </a:p>
        </p:txBody>
      </p:sp>
      <p:sp>
        <p:nvSpPr>
          <p:cNvPr id="8" name="Text 5"/>
          <p:cNvSpPr/>
          <p:nvPr/>
        </p:nvSpPr>
        <p:spPr>
          <a:xfrm>
            <a:off x="4754880" y="914400"/>
            <a:ext cx="411480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Star loss (M1) · Corenucopia opens (M5) · Chef's table (M8)</a:t>
            </a:r>
            <a:endParaRPr lang="en-US" sz="700" dirty="0"/>
          </a:p>
        </p:txBody>
      </p:sp>
      <p:graphicFrame>
        <p:nvGraphicFramePr>
          <p:cNvPr id="9" name="Chart 1" descr=""/>
          <p:cNvGraphicFramePr/>
          <p:nvPr/>
        </p:nvGraphicFramePr>
        <p:xfrm>
          <a:off x="4572000" y="1143000"/>
          <a:ext cx="42976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731520" y="3291840"/>
            <a:ext cx="182880" cy="137160"/>
          </a:xfrm>
          <a:prstGeom prst="rect">
            <a:avLst/>
          </a:prstGeom>
          <a:solidFill>
            <a:srgbClr val="2D6A4F"/>
          </a:solidFill>
          <a:ln/>
        </p:spPr>
      </p:sp>
      <p:sp>
        <p:nvSpPr>
          <p:cNvPr id="11" name="Text 7"/>
          <p:cNvSpPr/>
          <p:nvPr/>
        </p:nvSpPr>
        <p:spPr>
          <a:xfrm>
            <a:off x="960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RGR</a:t>
            </a:r>
            <a:endParaRPr lang="en-US" sz="700" dirty="0"/>
          </a:p>
        </p:txBody>
      </p:sp>
      <p:sp>
        <p:nvSpPr>
          <p:cNvPr id="12" name="Shape 8"/>
          <p:cNvSpPr/>
          <p:nvPr/>
        </p:nvSpPr>
        <p:spPr>
          <a:xfrm>
            <a:off x="2103120" y="3291840"/>
            <a:ext cx="182880" cy="137160"/>
          </a:xfrm>
          <a:prstGeom prst="rect">
            <a:avLst/>
          </a:prstGeom>
          <a:solidFill>
            <a:srgbClr val="5B2C8F"/>
          </a:solidFill>
          <a:ln/>
        </p:spPr>
      </p:sp>
      <p:sp>
        <p:nvSpPr>
          <p:cNvPr id="13" name="Text 9"/>
          <p:cNvSpPr/>
          <p:nvPr/>
        </p:nvSpPr>
        <p:spPr>
          <a:xfrm>
            <a:off x="23317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a:t>
            </a:r>
            <a:endParaRPr lang="en-US" sz="700" dirty="0"/>
          </a:p>
        </p:txBody>
      </p:sp>
      <p:sp>
        <p:nvSpPr>
          <p:cNvPr id="14" name="Shape 10"/>
          <p:cNvSpPr/>
          <p:nvPr/>
        </p:nvSpPr>
        <p:spPr>
          <a:xfrm>
            <a:off x="3474720" y="3291840"/>
            <a:ext cx="182880" cy="137160"/>
          </a:xfrm>
          <a:prstGeom prst="rect">
            <a:avLst/>
          </a:prstGeom>
          <a:solidFill>
            <a:srgbClr val="3880F3"/>
          </a:solidFill>
          <a:ln/>
        </p:spPr>
      </p:sp>
      <p:sp>
        <p:nvSpPr>
          <p:cNvPr id="15" name="Text 11"/>
          <p:cNvSpPr/>
          <p:nvPr/>
        </p:nvSpPr>
        <p:spPr>
          <a:xfrm>
            <a:off x="37033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Corenucopia</a:t>
            </a:r>
            <a:endParaRPr lang="en-US" sz="700" dirty="0"/>
          </a:p>
        </p:txBody>
      </p:sp>
      <p:sp>
        <p:nvSpPr>
          <p:cNvPr id="16" name="Shape 12"/>
          <p:cNvSpPr/>
          <p:nvPr/>
        </p:nvSpPr>
        <p:spPr>
          <a:xfrm>
            <a:off x="4846320" y="3291840"/>
            <a:ext cx="182880" cy="137160"/>
          </a:xfrm>
          <a:prstGeom prst="rect">
            <a:avLst/>
          </a:prstGeom>
          <a:solidFill>
            <a:srgbClr val="D4A843"/>
          </a:solidFill>
          <a:ln/>
        </p:spPr>
      </p:sp>
      <p:sp>
        <p:nvSpPr>
          <p:cNvPr id="17" name="Text 13"/>
          <p:cNvSpPr/>
          <p:nvPr/>
        </p:nvSpPr>
        <p:spPr>
          <a:xfrm>
            <a:off x="50749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Both</a:t>
            </a:r>
            <a:endParaRPr lang="en-US" sz="700" dirty="0"/>
          </a:p>
        </p:txBody>
      </p:sp>
      <p:sp>
        <p:nvSpPr>
          <p:cNvPr id="18" name="Shape 14"/>
          <p:cNvSpPr/>
          <p:nvPr/>
        </p:nvSpPr>
        <p:spPr>
          <a:xfrm>
            <a:off x="6217920" y="3291840"/>
            <a:ext cx="182880" cy="137160"/>
          </a:xfrm>
          <a:prstGeom prst="rect">
            <a:avLst/>
          </a:prstGeom>
          <a:solidFill>
            <a:srgbClr val="8B3A0F"/>
          </a:solidFill>
          <a:ln/>
        </p:spPr>
      </p:sp>
      <p:sp>
        <p:nvSpPr>
          <p:cNvPr id="19" name="Text 15"/>
          <p:cNvSpPr/>
          <p:nvPr/>
        </p:nvSpPr>
        <p:spPr>
          <a:xfrm>
            <a:off x="64465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Home</a:t>
            </a:r>
            <a:endParaRPr lang="en-US" sz="700" dirty="0"/>
          </a:p>
        </p:txBody>
      </p:sp>
      <p:sp>
        <p:nvSpPr>
          <p:cNvPr id="20" name="Shape 16"/>
          <p:cNvSpPr/>
          <p:nvPr/>
        </p:nvSpPr>
        <p:spPr>
          <a:xfrm>
            <a:off x="7589520" y="3291840"/>
            <a:ext cx="182880" cy="137160"/>
          </a:xfrm>
          <a:prstGeom prst="rect">
            <a:avLst/>
          </a:prstGeom>
          <a:solidFill>
            <a:srgbClr val="E5E1DB"/>
          </a:solidFill>
          <a:ln/>
        </p:spPr>
      </p:sp>
      <p:sp>
        <p:nvSpPr>
          <p:cNvPr id="21" name="Text 17"/>
          <p:cNvSpPr/>
          <p:nvPr/>
        </p:nvSpPr>
        <p:spPr>
          <a:xfrm>
            <a:off x="7818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N/A</a:t>
            </a:r>
            <a:endParaRPr lang="en-US" sz="700" dirty="0"/>
          </a:p>
        </p:txBody>
      </p:sp>
      <p:sp>
        <p:nvSpPr>
          <p:cNvPr id="22" name="Shape 18"/>
          <p:cNvSpPr/>
          <p:nvPr/>
        </p:nvSpPr>
        <p:spPr>
          <a:xfrm>
            <a:off x="457200" y="3611880"/>
            <a:ext cx="8229600" cy="77724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23" name="Text 19"/>
          <p:cNvSpPr/>
          <p:nvPr/>
        </p:nvSpPr>
        <p:spPr>
          <a:xfrm>
            <a:off x="640080" y="3657600"/>
            <a:ext cx="7863840" cy="685800"/>
          </a:xfrm>
          <a:prstGeom prst="rect">
            <a:avLst/>
          </a:prstGeom>
          <a:noFill/>
          <a:ln/>
        </p:spPr>
        <p:txBody>
          <a:bodyPr wrap="square" rtlCol="0" anchor="ctr"/>
          <a:lstStyle/>
          <a:p>
            <a:pPr indent="0" marL="0">
              <a:lnSpc>
                <a:spcPct val="135000"/>
              </a:lnSpc>
              <a:buNone/>
            </a:pPr>
            <a:r>
              <a:rPr lang="en-US" sz="1050" dirty="0">
                <a:solidFill>
                  <a:srgbClr val="1A1816"/>
                </a:solidFill>
                <a:latin typeface="Calibri" pitchFamily="34" charset="0"/>
                <a:ea typeface="Calibri" pitchFamily="34" charset="-122"/>
                <a:cs typeface="Calibri" pitchFamily="34" charset="-120"/>
              </a:rPr>
              <a:t>Baseline Richard is a machine: 100% RGR, every month, no exceptions. Treatment Richard cracks at M5 — 10% Core, growing to 30% at M6. The defection is bimodal: in some runs he never leaves, in others he switches early and stays gone. The star loss created a coin-flip trigger that didn't exist in the baseline.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880F3"/>
          </a:solidFill>
          <a:ln/>
        </p:spPr>
      </p:sp>
      <p:sp>
        <p:nvSpPr>
          <p:cNvPr id="3" name="Text 1"/>
          <p:cNvSpPr/>
          <p:nvPr/>
        </p:nvSpPr>
        <p:spPr>
          <a:xfrm>
            <a:off x="731520" y="914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P3  Priya</a:t>
            </a:r>
            <a:endParaRPr lang="en-US" sz="2200" dirty="0"/>
          </a:p>
        </p:txBody>
      </p:sp>
      <p:sp>
        <p:nvSpPr>
          <p:cNvPr id="4" name="Text 2"/>
          <p:cNvSpPr/>
          <p:nvPr/>
        </p:nvSpPr>
        <p:spPr>
          <a:xfrm>
            <a:off x="731520" y="457200"/>
            <a:ext cx="3657600" cy="274320"/>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The Palate</a:t>
            </a:r>
            <a:endParaRPr lang="en-US" sz="1000" dirty="0"/>
          </a:p>
        </p:txBody>
      </p:sp>
      <p:sp>
        <p:nvSpPr>
          <p:cNvPr id="5" name="Text 3"/>
          <p:cNvSpPr/>
          <p:nvPr/>
        </p:nvSpPr>
        <p:spPr>
          <a:xfrm>
            <a:off x="731520" y="1051560"/>
            <a:ext cx="7680960" cy="365760"/>
          </a:xfrm>
          <a:prstGeom prst="rect">
            <a:avLst/>
          </a:prstGeom>
          <a:noFill/>
          <a:ln/>
        </p:spPr>
        <p:txBody>
          <a:bodyPr wrap="square" lIns="0" tIns="0" rIns="0" bIns="0" rtlCol="0" anchor="ctr"/>
          <a:lstStyle/>
          <a:p>
            <a:pPr indent="0" marL="0">
              <a:buNone/>
            </a:pPr>
            <a:r>
              <a:rPr lang="en-US" sz="1800" b="1" dirty="0">
                <a:solidFill>
                  <a:srgbClr val="1A1816"/>
                </a:solidFill>
                <a:latin typeface="Georgia" pitchFamily="34" charset="0"/>
                <a:ea typeface="Georgia" pitchFamily="34" charset="-122"/>
                <a:cs typeface="Georgia" pitchFamily="34" charset="-120"/>
              </a:rPr>
              <a:t>She Didn't Leave Because It Got Worse</a:t>
            </a:r>
            <a:endParaRPr lang="en-US" sz="1800" dirty="0"/>
          </a:p>
        </p:txBody>
      </p:sp>
      <p:sp>
        <p:nvSpPr>
          <p:cNvPr id="6" name="Text 4"/>
          <p:cNvSpPr/>
          <p:nvPr/>
        </p:nvSpPr>
        <p:spPr>
          <a:xfrm>
            <a:off x="731520" y="1508760"/>
            <a:ext cx="4937760" cy="2011680"/>
          </a:xfrm>
          <a:prstGeom prst="rect">
            <a:avLst/>
          </a:prstGeom>
          <a:noFill/>
          <a:ln/>
        </p:spPr>
        <p:txBody>
          <a:bodyPr wrap="square" rtlCol="0" anchor="t"/>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Priya's quality ratings never dropped below 8. Her confidence ended the year at 10. She attended every chef's table. And she still dined at competitors half the time. In the baseline she already visited Core 30% of months — she's a portfolio diner by nature. The star loss didn't cause defection. It expanded her rotation.</a:t>
            </a:r>
            <a:endParaRPr lang="en-US" sz="1200" dirty="0"/>
          </a:p>
        </p:txBody>
      </p:sp>
      <p:sp>
        <p:nvSpPr>
          <p:cNvPr id="7" name="Shape 5"/>
          <p:cNvSpPr/>
          <p:nvPr/>
        </p:nvSpPr>
        <p:spPr>
          <a:xfrm>
            <a:off x="5943600" y="1508760"/>
            <a:ext cx="2926080" cy="20116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8" name="Shape 6"/>
          <p:cNvSpPr/>
          <p:nvPr/>
        </p:nvSpPr>
        <p:spPr>
          <a:xfrm>
            <a:off x="5943600" y="1508760"/>
            <a:ext cx="54864" cy="2011680"/>
          </a:xfrm>
          <a:prstGeom prst="rect">
            <a:avLst/>
          </a:prstGeom>
          <a:solidFill>
            <a:srgbClr val="3880F3"/>
          </a:solidFill>
          <a:ln/>
        </p:spPr>
      </p:sp>
      <p:sp>
        <p:nvSpPr>
          <p:cNvPr id="9" name="Text 7"/>
          <p:cNvSpPr/>
          <p:nvPr/>
        </p:nvSpPr>
        <p:spPr>
          <a:xfrm>
            <a:off x="6172200" y="1600200"/>
            <a:ext cx="2560320" cy="1554480"/>
          </a:xfrm>
          <a:prstGeom prst="rect">
            <a:avLst/>
          </a:prstGeom>
          <a:noFill/>
          <a:ln/>
        </p:spPr>
        <p:txBody>
          <a:bodyPr wrap="square" rtlCol="0" anchor="t"/>
          <a:lstStyle/>
          <a:p>
            <a:pPr indent="0" marL="0">
              <a:lnSpc>
                <a:spcPct val="140000"/>
              </a:lnSpc>
              <a:buNone/>
            </a:pPr>
            <a:r>
              <a:rPr lang="en-US" sz="1050" i="1" dirty="0">
                <a:solidFill>
                  <a:srgbClr val="1A1816"/>
                </a:solidFill>
                <a:latin typeface="Calibri" pitchFamily="34" charset="0"/>
                <a:ea typeface="Calibri" pitchFamily="34" charset="-122"/>
                <a:cs typeface="Calibri" pitchFamily="34" charset="-120"/>
              </a:rPr>
              <a:t>"The food is still exceptional by any reasonable measure, but I think I've been coming partly out of habit, partly out of respect for what it represents. Those aren't bad reasons, but they're not really about the cooking itself anymore."</a:t>
            </a:r>
            <a:endParaRPr lang="en-US" sz="1050" dirty="0"/>
          </a:p>
        </p:txBody>
      </p:sp>
      <p:sp>
        <p:nvSpPr>
          <p:cNvPr id="10" name="Text 8"/>
          <p:cNvSpPr/>
          <p:nvPr/>
        </p:nvSpPr>
        <p:spPr>
          <a:xfrm>
            <a:off x="6172200" y="3200400"/>
            <a:ext cx="2560320" cy="274320"/>
          </a:xfrm>
          <a:prstGeom prst="rect">
            <a:avLst/>
          </a:prstGeom>
          <a:noFill/>
          <a:ln/>
        </p:spPr>
        <p:txBody>
          <a:bodyPr wrap="square" lIns="0" tIns="0" rIns="0" bIns="0" rtlCol="0" anchor="ctr"/>
          <a:lstStyle/>
          <a:p>
            <a:pPr indent="0" marL="0">
              <a:buNone/>
            </a:pPr>
            <a:r>
              <a:rPr lang="en-US" sz="800" dirty="0">
                <a:solidFill>
                  <a:srgbClr val="A09888"/>
                </a:solidFill>
                <a:latin typeface="Consolas" pitchFamily="34" charset="0"/>
                <a:ea typeface="Consolas" pitchFamily="34" charset="-122"/>
                <a:cs typeface="Consolas" pitchFamily="34" charset="-120"/>
              </a:rPr>
              <a:t>— Priya, Month 12</a:t>
            </a:r>
            <a:endParaRPr lang="en-US" sz="800" dirty="0"/>
          </a:p>
        </p:txBody>
      </p:sp>
      <p:sp>
        <p:nvSpPr>
          <p:cNvPr id="11" name="Shape 9"/>
          <p:cNvSpPr/>
          <p:nvPr/>
        </p:nvSpPr>
        <p:spPr>
          <a:xfrm>
            <a:off x="731520" y="3794760"/>
            <a:ext cx="7680960" cy="50292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2" name="Text 10"/>
          <p:cNvSpPr/>
          <p:nvPr/>
        </p:nvSpPr>
        <p:spPr>
          <a:xfrm>
            <a:off x="914400" y="3840480"/>
            <a:ext cx="7315200" cy="365760"/>
          </a:xfrm>
          <a:prstGeom prst="rect">
            <a:avLst/>
          </a:prstGeom>
          <a:noFill/>
          <a:ln/>
        </p:spPr>
        <p:txBody>
          <a:bodyPr wrap="square" rtlCol="0" anchor="ctr"/>
          <a:lstStyle/>
          <a:p>
            <a:pPr indent="0" marL="0">
              <a:buNone/>
            </a:pPr>
            <a:r>
              <a:rPr lang="en-US" sz="900" dirty="0">
                <a:solidFill>
                  <a:srgbClr val="A09888"/>
                </a:solidFill>
                <a:latin typeface="Consolas" pitchFamily="34" charset="0"/>
                <a:ea typeface="Consolas" pitchFamily="34" charset="-122"/>
                <a:cs typeface="Consolas" pitchFamily="34" charset="-120"/>
              </a:rPr>
              <a:t>Quantitative detail on next slide →</a:t>
            </a:r>
            <a:endParaRPr lang="en-US" sz="900" dirty="0"/>
          </a:p>
        </p:txBody>
      </p:sp>
      <p:sp>
        <p:nvSpPr>
          <p:cNvPr id="13" name="Text 11"/>
          <p:cNvSpPr/>
          <p:nvPr/>
        </p:nvSpPr>
        <p:spPr>
          <a:xfrm>
            <a:off x="731520" y="4754880"/>
            <a:ext cx="7315200" cy="274320"/>
          </a:xfrm>
          <a:prstGeom prst="rect">
            <a:avLst/>
          </a:prstGeom>
          <a:noFill/>
          <a:ln/>
        </p:spPr>
        <p:txBody>
          <a:bodyPr wrap="square"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AI-generated synthetic persona · Not a real person</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880F3"/>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P3  Priya  —  Baseline vs. Treatment</a:t>
            </a:r>
            <a:endParaRPr lang="en-US" sz="1600" dirty="0"/>
          </a:p>
        </p:txBody>
      </p:sp>
      <p:sp>
        <p:nvSpPr>
          <p:cNvPr id="4" name="Text 2"/>
          <p:cNvSpPr/>
          <p:nvPr/>
        </p:nvSpPr>
        <p:spPr>
          <a:xfrm>
            <a:off x="548640" y="731520"/>
            <a:ext cx="3657600" cy="228600"/>
          </a:xfrm>
          <a:prstGeom prst="rect">
            <a:avLst/>
          </a:prstGeom>
          <a:noFill/>
          <a:ln/>
        </p:spPr>
        <p:txBody>
          <a:bodyPr wrap="square" lIns="0" tIns="0" rIns="0" bIns="0" rtlCol="0" anchor="ctr"/>
          <a:lstStyle/>
          <a:p>
            <a:pPr indent="0" marL="0">
              <a:buNone/>
            </a:pPr>
            <a:r>
              <a:rPr lang="en-US" sz="800" b="1" dirty="0">
                <a:solidFill>
                  <a:srgbClr val="2D6A4F"/>
                </a:solidFill>
                <a:latin typeface="Consolas" pitchFamily="34" charset="0"/>
                <a:ea typeface="Consolas" pitchFamily="34" charset="-122"/>
                <a:cs typeface="Consolas" pitchFamily="34" charset="-120"/>
              </a:rPr>
              <a:t>Perceived Quality</a:t>
            </a:r>
            <a:endParaRPr lang="en-US" sz="800" dirty="0"/>
          </a:p>
        </p:txBody>
      </p:sp>
      <p:graphicFrame>
        <p:nvGraphicFramePr>
          <p:cNvPr id="5" name="Chart 0" descr=""/>
          <p:cNvGraphicFramePr/>
          <p:nvPr/>
        </p:nvGraphicFramePr>
        <p:xfrm>
          <a:off x="457200" y="960120"/>
          <a:ext cx="4114800" cy="1325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120640" y="731520"/>
            <a:ext cx="3657600" cy="228600"/>
          </a:xfrm>
          <a:prstGeom prst="rect">
            <a:avLst/>
          </a:prstGeom>
          <a:noFill/>
          <a:ln/>
        </p:spPr>
        <p:txBody>
          <a:bodyPr wrap="square" lIns="0" tIns="0" rIns="0" bIns="0" rtlCol="0" anchor="ctr"/>
          <a:lstStyle/>
          <a:p>
            <a:pPr indent="0" marL="0">
              <a:buNone/>
            </a:pPr>
            <a:r>
              <a:rPr lang="en-US" sz="800" b="1" dirty="0">
                <a:solidFill>
                  <a:srgbClr val="D4A843"/>
                </a:solidFill>
                <a:latin typeface="Consolas" pitchFamily="34" charset="0"/>
                <a:ea typeface="Consolas" pitchFamily="34" charset="-122"/>
                <a:cs typeface="Consolas" pitchFamily="34" charset="-120"/>
              </a:rPr>
              <a:t>Emotional Connection</a:t>
            </a:r>
            <a:endParaRPr lang="en-US" sz="800" dirty="0"/>
          </a:p>
        </p:txBody>
      </p:sp>
      <p:graphicFrame>
        <p:nvGraphicFramePr>
          <p:cNvPr id="7" name="Chart 1" descr=""/>
          <p:cNvGraphicFramePr/>
          <p:nvPr/>
        </p:nvGraphicFramePr>
        <p:xfrm>
          <a:off x="5029200" y="960120"/>
          <a:ext cx="4114800" cy="13258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2423160"/>
            <a:ext cx="3657600" cy="228600"/>
          </a:xfrm>
          <a:prstGeom prst="rect">
            <a:avLst/>
          </a:prstGeom>
          <a:noFill/>
          <a:ln/>
        </p:spPr>
        <p:txBody>
          <a:bodyPr wrap="square" lIns="0" tIns="0" rIns="0" bIns="0" rtlCol="0" anchor="ctr"/>
          <a:lstStyle/>
          <a:p>
            <a:pPr indent="0" marL="0">
              <a:buNone/>
            </a:pPr>
            <a:r>
              <a:rPr lang="en-US" sz="800" b="1" dirty="0">
                <a:solidFill>
                  <a:srgbClr val="3880F3"/>
                </a:solidFill>
                <a:latin typeface="Consolas" pitchFamily="34" charset="0"/>
                <a:ea typeface="Consolas" pitchFamily="34" charset="-122"/>
                <a:cs typeface="Consolas" pitchFamily="34" charset="-120"/>
              </a:rPr>
              <a:t>Curiosity</a:t>
            </a:r>
            <a:endParaRPr lang="en-US" sz="800" dirty="0"/>
          </a:p>
        </p:txBody>
      </p:sp>
      <p:graphicFrame>
        <p:nvGraphicFramePr>
          <p:cNvPr id="9" name="Chart 2" descr=""/>
          <p:cNvGraphicFramePr/>
          <p:nvPr/>
        </p:nvGraphicFramePr>
        <p:xfrm>
          <a:off x="457200" y="2651760"/>
          <a:ext cx="4114800" cy="132588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5120640" y="2423160"/>
            <a:ext cx="3657600" cy="228600"/>
          </a:xfrm>
          <a:prstGeom prst="rect">
            <a:avLst/>
          </a:prstGeom>
          <a:noFill/>
          <a:ln/>
        </p:spPr>
        <p:txBody>
          <a:bodyPr wrap="square" lIns="0" tIns="0" rIns="0" bIns="0" rtlCol="0" anchor="ctr"/>
          <a:lstStyle/>
          <a:p>
            <a:pPr indent="0" marL="0">
              <a:buNone/>
            </a:pPr>
            <a:r>
              <a:rPr lang="en-US" sz="800" b="1" dirty="0">
                <a:solidFill>
                  <a:srgbClr val="8B3A0F"/>
                </a:solidFill>
                <a:latin typeface="Consolas" pitchFamily="34" charset="0"/>
                <a:ea typeface="Consolas" pitchFamily="34" charset="-122"/>
                <a:cs typeface="Consolas" pitchFamily="34" charset="-120"/>
              </a:rPr>
              <a:t>Confidence</a:t>
            </a:r>
            <a:endParaRPr lang="en-US" sz="800" dirty="0"/>
          </a:p>
        </p:txBody>
      </p:sp>
      <p:graphicFrame>
        <p:nvGraphicFramePr>
          <p:cNvPr id="11" name="Chart 3" descr=""/>
          <p:cNvGraphicFramePr/>
          <p:nvPr/>
        </p:nvGraphicFramePr>
        <p:xfrm>
          <a:off x="5029200" y="2651760"/>
          <a:ext cx="4114800" cy="1325880"/>
        </p:xfrm>
        <a:graphic xmlns:a="http://schemas.openxmlformats.org/drawingml/2006/main">
          <a:graphicData uri="http://schemas.openxmlformats.org/drawingml/2006/chart">
            <c:chart xmlns:c="http://schemas.openxmlformats.org/drawingml/2006/chart" r:id="rId4"/>
          </a:graphicData>
        </a:graphic>
      </p:graphicFrame>
      <p:sp>
        <p:nvSpPr>
          <p:cNvPr id="12" name="Shape 6"/>
          <p:cNvSpPr/>
          <p:nvPr/>
        </p:nvSpPr>
        <p:spPr>
          <a:xfrm>
            <a:off x="731520" y="4160520"/>
            <a:ext cx="457200" cy="0"/>
          </a:xfrm>
          <a:prstGeom prst="line">
            <a:avLst/>
          </a:prstGeom>
          <a:noFill/>
          <a:ln w="25400">
            <a:solidFill>
              <a:srgbClr val="E5E1DB"/>
            </a:solidFill>
            <a:prstDash val="solid"/>
          </a:ln>
        </p:spPr>
      </p:sp>
      <p:sp>
        <p:nvSpPr>
          <p:cNvPr id="13" name="Text 7"/>
          <p:cNvSpPr/>
          <p:nvPr/>
        </p:nvSpPr>
        <p:spPr>
          <a:xfrm>
            <a:off x="1280160" y="4069080"/>
            <a:ext cx="320040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Baseline (three stars, nothing happens)</a:t>
            </a:r>
            <a:endParaRPr lang="en-US" sz="700" dirty="0"/>
          </a:p>
        </p:txBody>
      </p:sp>
      <p:sp>
        <p:nvSpPr>
          <p:cNvPr id="14" name="Shape 8"/>
          <p:cNvSpPr/>
          <p:nvPr/>
        </p:nvSpPr>
        <p:spPr>
          <a:xfrm>
            <a:off x="4754880" y="4160520"/>
            <a:ext cx="457200" cy="0"/>
          </a:xfrm>
          <a:prstGeom prst="line">
            <a:avLst/>
          </a:prstGeom>
          <a:noFill/>
          <a:ln w="25400">
            <a:solidFill>
              <a:srgbClr val="1A1816"/>
            </a:solidFill>
            <a:prstDash val="solid"/>
          </a:ln>
        </p:spPr>
      </p:sp>
      <p:sp>
        <p:nvSpPr>
          <p:cNvPr id="15" name="Text 9"/>
          <p:cNvSpPr/>
          <p:nvPr/>
        </p:nvSpPr>
        <p:spPr>
          <a:xfrm>
            <a:off x="5303520" y="4069080"/>
            <a:ext cx="347472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Treatment (star loss + Corenucopia + chef's table)</a:t>
            </a:r>
            <a:endParaRPr lang="en-US" sz="700" dirty="0"/>
          </a:p>
        </p:txBody>
      </p:sp>
      <p:sp>
        <p:nvSpPr>
          <p:cNvPr id="16" name="Shape 10"/>
          <p:cNvSpPr/>
          <p:nvPr/>
        </p:nvSpPr>
        <p:spPr>
          <a:xfrm>
            <a:off x="457200" y="4343400"/>
            <a:ext cx="8229600" cy="6400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7" name="Text 11"/>
          <p:cNvSpPr/>
          <p:nvPr/>
        </p:nvSpPr>
        <p:spPr>
          <a:xfrm>
            <a:off x="640080" y="4389120"/>
            <a:ext cx="7863840" cy="548640"/>
          </a:xfrm>
          <a:prstGeom prst="rect">
            <a:avLst/>
          </a:prstGeom>
          <a:noFill/>
          <a:ln/>
        </p:spPr>
        <p:txBody>
          <a:bodyPr wrap="square" rtlCol="0" anchor="ctr"/>
          <a:lstStyle/>
          <a:p>
            <a:pPr indent="0" marL="0">
              <a:lnSpc>
                <a:spcPct val="130000"/>
              </a:lnSpc>
              <a:buNone/>
            </a:pPr>
            <a:r>
              <a:rPr lang="en-US" sz="1000" dirty="0">
                <a:solidFill>
                  <a:srgbClr val="1A1816"/>
                </a:solidFill>
                <a:latin typeface="Calibri" pitchFamily="34" charset="0"/>
                <a:ea typeface="Calibri" pitchFamily="34" charset="-122"/>
                <a:cs typeface="Calibri" pitchFamily="34" charset="-120"/>
              </a:rPr>
              <a:t>Priya's survey scores are nearly identical between baseline and treatment — quality 9, confidence 9. But her dining choices diverged dramatically: baseline was ~70% RGR / 30% Core. Treatment added Corenucopia and 'Both' to her rotation. Stable attitudes, volatile behavior. She's a portfolio diner whose portfolio expanded.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880F3"/>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P3  Priya  —  Where They Actually Ate</a:t>
            </a:r>
            <a:endParaRPr lang="en-US" sz="1600" dirty="0"/>
          </a:p>
        </p:txBody>
      </p:sp>
      <p:sp>
        <p:nvSpPr>
          <p:cNvPr id="4" name="Text 2"/>
          <p:cNvSpPr/>
          <p:nvPr/>
        </p:nvSpPr>
        <p:spPr>
          <a:xfrm>
            <a:off x="457200" y="685800"/>
            <a:ext cx="393192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BASELINE</a:t>
            </a:r>
            <a:endParaRPr lang="en-US" sz="900" dirty="0"/>
          </a:p>
        </p:txBody>
      </p:sp>
      <p:sp>
        <p:nvSpPr>
          <p:cNvPr id="5" name="Text 3"/>
          <p:cNvSpPr/>
          <p:nvPr/>
        </p:nvSpPr>
        <p:spPr>
          <a:xfrm>
            <a:off x="457200" y="914400"/>
            <a:ext cx="393192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Three stars · No events · Nothing changes</a:t>
            </a:r>
            <a:endParaRPr lang="en-US" sz="700" dirty="0"/>
          </a:p>
        </p:txBody>
      </p:sp>
      <p:graphicFrame>
        <p:nvGraphicFramePr>
          <p:cNvPr id="6" name="Chart 0" descr=""/>
          <p:cNvGraphicFramePr/>
          <p:nvPr/>
        </p:nvGraphicFramePr>
        <p:xfrm>
          <a:off x="274320" y="1143000"/>
          <a:ext cx="4114800" cy="2011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754880" y="685800"/>
            <a:ext cx="411480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TREATMENT</a:t>
            </a:r>
            <a:endParaRPr lang="en-US" sz="900" dirty="0"/>
          </a:p>
        </p:txBody>
      </p:sp>
      <p:sp>
        <p:nvSpPr>
          <p:cNvPr id="8" name="Text 5"/>
          <p:cNvSpPr/>
          <p:nvPr/>
        </p:nvSpPr>
        <p:spPr>
          <a:xfrm>
            <a:off x="4754880" y="914400"/>
            <a:ext cx="411480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Star loss (M1) · Corenucopia opens (M5) · Chef's table (M8)</a:t>
            </a:r>
            <a:endParaRPr lang="en-US" sz="700" dirty="0"/>
          </a:p>
        </p:txBody>
      </p:sp>
      <p:graphicFrame>
        <p:nvGraphicFramePr>
          <p:cNvPr id="9" name="Chart 1" descr=""/>
          <p:cNvGraphicFramePr/>
          <p:nvPr/>
        </p:nvGraphicFramePr>
        <p:xfrm>
          <a:off x="4572000" y="1143000"/>
          <a:ext cx="42976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731520" y="3291840"/>
            <a:ext cx="182880" cy="137160"/>
          </a:xfrm>
          <a:prstGeom prst="rect">
            <a:avLst/>
          </a:prstGeom>
          <a:solidFill>
            <a:srgbClr val="2D6A4F"/>
          </a:solidFill>
          <a:ln/>
        </p:spPr>
      </p:sp>
      <p:sp>
        <p:nvSpPr>
          <p:cNvPr id="11" name="Text 7"/>
          <p:cNvSpPr/>
          <p:nvPr/>
        </p:nvSpPr>
        <p:spPr>
          <a:xfrm>
            <a:off x="960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RGR</a:t>
            </a:r>
            <a:endParaRPr lang="en-US" sz="700" dirty="0"/>
          </a:p>
        </p:txBody>
      </p:sp>
      <p:sp>
        <p:nvSpPr>
          <p:cNvPr id="12" name="Shape 8"/>
          <p:cNvSpPr/>
          <p:nvPr/>
        </p:nvSpPr>
        <p:spPr>
          <a:xfrm>
            <a:off x="2103120" y="3291840"/>
            <a:ext cx="182880" cy="137160"/>
          </a:xfrm>
          <a:prstGeom prst="rect">
            <a:avLst/>
          </a:prstGeom>
          <a:solidFill>
            <a:srgbClr val="5B2C8F"/>
          </a:solidFill>
          <a:ln/>
        </p:spPr>
      </p:sp>
      <p:sp>
        <p:nvSpPr>
          <p:cNvPr id="13" name="Text 9"/>
          <p:cNvSpPr/>
          <p:nvPr/>
        </p:nvSpPr>
        <p:spPr>
          <a:xfrm>
            <a:off x="23317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a:t>
            </a:r>
            <a:endParaRPr lang="en-US" sz="700" dirty="0"/>
          </a:p>
        </p:txBody>
      </p:sp>
      <p:sp>
        <p:nvSpPr>
          <p:cNvPr id="14" name="Shape 10"/>
          <p:cNvSpPr/>
          <p:nvPr/>
        </p:nvSpPr>
        <p:spPr>
          <a:xfrm>
            <a:off x="3474720" y="3291840"/>
            <a:ext cx="182880" cy="137160"/>
          </a:xfrm>
          <a:prstGeom prst="rect">
            <a:avLst/>
          </a:prstGeom>
          <a:solidFill>
            <a:srgbClr val="3880F3"/>
          </a:solidFill>
          <a:ln/>
        </p:spPr>
      </p:sp>
      <p:sp>
        <p:nvSpPr>
          <p:cNvPr id="15" name="Text 11"/>
          <p:cNvSpPr/>
          <p:nvPr/>
        </p:nvSpPr>
        <p:spPr>
          <a:xfrm>
            <a:off x="37033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Corenucopia</a:t>
            </a:r>
            <a:endParaRPr lang="en-US" sz="700" dirty="0"/>
          </a:p>
        </p:txBody>
      </p:sp>
      <p:sp>
        <p:nvSpPr>
          <p:cNvPr id="16" name="Shape 12"/>
          <p:cNvSpPr/>
          <p:nvPr/>
        </p:nvSpPr>
        <p:spPr>
          <a:xfrm>
            <a:off x="4846320" y="3291840"/>
            <a:ext cx="182880" cy="137160"/>
          </a:xfrm>
          <a:prstGeom prst="rect">
            <a:avLst/>
          </a:prstGeom>
          <a:solidFill>
            <a:srgbClr val="D4A843"/>
          </a:solidFill>
          <a:ln/>
        </p:spPr>
      </p:sp>
      <p:sp>
        <p:nvSpPr>
          <p:cNvPr id="17" name="Text 13"/>
          <p:cNvSpPr/>
          <p:nvPr/>
        </p:nvSpPr>
        <p:spPr>
          <a:xfrm>
            <a:off x="50749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Both</a:t>
            </a:r>
            <a:endParaRPr lang="en-US" sz="700" dirty="0"/>
          </a:p>
        </p:txBody>
      </p:sp>
      <p:sp>
        <p:nvSpPr>
          <p:cNvPr id="18" name="Shape 14"/>
          <p:cNvSpPr/>
          <p:nvPr/>
        </p:nvSpPr>
        <p:spPr>
          <a:xfrm>
            <a:off x="6217920" y="3291840"/>
            <a:ext cx="182880" cy="137160"/>
          </a:xfrm>
          <a:prstGeom prst="rect">
            <a:avLst/>
          </a:prstGeom>
          <a:solidFill>
            <a:srgbClr val="8B3A0F"/>
          </a:solidFill>
          <a:ln/>
        </p:spPr>
      </p:sp>
      <p:sp>
        <p:nvSpPr>
          <p:cNvPr id="19" name="Text 15"/>
          <p:cNvSpPr/>
          <p:nvPr/>
        </p:nvSpPr>
        <p:spPr>
          <a:xfrm>
            <a:off x="64465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Home</a:t>
            </a:r>
            <a:endParaRPr lang="en-US" sz="700" dirty="0"/>
          </a:p>
        </p:txBody>
      </p:sp>
      <p:sp>
        <p:nvSpPr>
          <p:cNvPr id="20" name="Shape 16"/>
          <p:cNvSpPr/>
          <p:nvPr/>
        </p:nvSpPr>
        <p:spPr>
          <a:xfrm>
            <a:off x="7589520" y="3291840"/>
            <a:ext cx="182880" cy="137160"/>
          </a:xfrm>
          <a:prstGeom prst="rect">
            <a:avLst/>
          </a:prstGeom>
          <a:solidFill>
            <a:srgbClr val="E5E1DB"/>
          </a:solidFill>
          <a:ln/>
        </p:spPr>
      </p:sp>
      <p:sp>
        <p:nvSpPr>
          <p:cNvPr id="21" name="Text 17"/>
          <p:cNvSpPr/>
          <p:nvPr/>
        </p:nvSpPr>
        <p:spPr>
          <a:xfrm>
            <a:off x="7818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N/A</a:t>
            </a:r>
            <a:endParaRPr lang="en-US" sz="700" dirty="0"/>
          </a:p>
        </p:txBody>
      </p:sp>
      <p:sp>
        <p:nvSpPr>
          <p:cNvPr id="22" name="Shape 18"/>
          <p:cNvSpPr/>
          <p:nvPr/>
        </p:nvSpPr>
        <p:spPr>
          <a:xfrm>
            <a:off x="457200" y="3611880"/>
            <a:ext cx="8229600" cy="77724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23" name="Text 19"/>
          <p:cNvSpPr/>
          <p:nvPr/>
        </p:nvSpPr>
        <p:spPr>
          <a:xfrm>
            <a:off x="640080" y="3657600"/>
            <a:ext cx="7863840" cy="685800"/>
          </a:xfrm>
          <a:prstGeom prst="rect">
            <a:avLst/>
          </a:prstGeom>
          <a:noFill/>
          <a:ln/>
        </p:spPr>
        <p:txBody>
          <a:bodyPr wrap="square" rtlCol="0" anchor="ctr"/>
          <a:lstStyle/>
          <a:p>
            <a:pPr indent="0" marL="0">
              <a:lnSpc>
                <a:spcPct val="135000"/>
              </a:lnSpc>
              <a:buNone/>
            </a:pPr>
            <a:r>
              <a:rPr lang="en-US" sz="1050" dirty="0">
                <a:solidFill>
                  <a:srgbClr val="1A1816"/>
                </a:solidFill>
                <a:latin typeface="Calibri" pitchFamily="34" charset="0"/>
                <a:ea typeface="Calibri" pitchFamily="34" charset="-122"/>
                <a:cs typeface="Calibri" pitchFamily="34" charset="-120"/>
              </a:rPr>
              <a:t>This is the key Priya insight: she was ALREADY visiting Core 30% of the time in the baseline. The treatment didn't create disloyalty — it expanded an existing rotation. Corenucopia gave her a third option. Her RGR visits dropped from ~70% to ~55%, but the incremental loss is ~15 points, not the full 45% it looks like if you don't have the baseline.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3A0F"/>
          </a:solidFill>
          <a:ln/>
        </p:spPr>
      </p:sp>
      <p:sp>
        <p:nvSpPr>
          <p:cNvPr id="3" name="Text 1"/>
          <p:cNvSpPr/>
          <p:nvPr/>
        </p:nvSpPr>
        <p:spPr>
          <a:xfrm>
            <a:off x="731520" y="914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P4  Marcus</a:t>
            </a:r>
            <a:endParaRPr lang="en-US" sz="2200" dirty="0"/>
          </a:p>
        </p:txBody>
      </p:sp>
      <p:sp>
        <p:nvSpPr>
          <p:cNvPr id="4" name="Text 2"/>
          <p:cNvSpPr/>
          <p:nvPr/>
        </p:nvSpPr>
        <p:spPr>
          <a:xfrm>
            <a:off x="731520" y="457200"/>
            <a:ext cx="3657600" cy="274320"/>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The Default</a:t>
            </a:r>
            <a:endParaRPr lang="en-US" sz="1000" dirty="0"/>
          </a:p>
        </p:txBody>
      </p:sp>
      <p:sp>
        <p:nvSpPr>
          <p:cNvPr id="5" name="Text 3"/>
          <p:cNvSpPr/>
          <p:nvPr/>
        </p:nvSpPr>
        <p:spPr>
          <a:xfrm>
            <a:off x="731520" y="1051560"/>
            <a:ext cx="7680960" cy="365760"/>
          </a:xfrm>
          <a:prstGeom prst="rect">
            <a:avLst/>
          </a:prstGeom>
          <a:noFill/>
          <a:ln/>
        </p:spPr>
        <p:txBody>
          <a:bodyPr wrap="square" lIns="0" tIns="0" rIns="0" bIns="0" rtlCol="0" anchor="ctr"/>
          <a:lstStyle/>
          <a:p>
            <a:pPr indent="0" marL="0">
              <a:buNone/>
            </a:pPr>
            <a:r>
              <a:rPr lang="en-US" sz="1800" b="1" dirty="0">
                <a:solidFill>
                  <a:srgbClr val="1A1816"/>
                </a:solidFill>
                <a:latin typeface="Georgia" pitchFamily="34" charset="0"/>
                <a:ea typeface="Georgia" pitchFamily="34" charset="-122"/>
                <a:cs typeface="Georgia" pitchFamily="34" charset="-120"/>
              </a:rPr>
              <a:t>The Most Alarming Defection Is to Not Caring</a:t>
            </a:r>
            <a:endParaRPr lang="en-US" sz="1800" dirty="0"/>
          </a:p>
        </p:txBody>
      </p:sp>
      <p:sp>
        <p:nvSpPr>
          <p:cNvPr id="6" name="Text 4"/>
          <p:cNvSpPr/>
          <p:nvPr/>
        </p:nvSpPr>
        <p:spPr>
          <a:xfrm>
            <a:off x="731520" y="1508760"/>
            <a:ext cx="4937760" cy="2011680"/>
          </a:xfrm>
          <a:prstGeom prst="rect">
            <a:avLst/>
          </a:prstGeom>
          <a:noFill/>
          <a:ln/>
        </p:spPr>
        <p:txBody>
          <a:bodyPr wrap="square" rtlCol="0" anchor="t"/>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Marcus never cared about the stars — he cared about being in the right place with the right people. When nobody was talking about restaurants, he stayed home. The chef's table got him in the door once; it didn't stick. Even in the baseline, he only dined at RGR half the time. Without social reinforcement, casual customers evaporate.</a:t>
            </a:r>
            <a:endParaRPr lang="en-US" sz="1200" dirty="0"/>
          </a:p>
        </p:txBody>
      </p:sp>
      <p:sp>
        <p:nvSpPr>
          <p:cNvPr id="7" name="Shape 5"/>
          <p:cNvSpPr/>
          <p:nvPr/>
        </p:nvSpPr>
        <p:spPr>
          <a:xfrm>
            <a:off x="5943600" y="1508760"/>
            <a:ext cx="2926080" cy="20116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8" name="Shape 6"/>
          <p:cNvSpPr/>
          <p:nvPr/>
        </p:nvSpPr>
        <p:spPr>
          <a:xfrm>
            <a:off x="5943600" y="1508760"/>
            <a:ext cx="54864" cy="2011680"/>
          </a:xfrm>
          <a:prstGeom prst="rect">
            <a:avLst/>
          </a:prstGeom>
          <a:solidFill>
            <a:srgbClr val="8B3A0F"/>
          </a:solidFill>
          <a:ln/>
        </p:spPr>
      </p:sp>
      <p:sp>
        <p:nvSpPr>
          <p:cNvPr id="9" name="Text 7"/>
          <p:cNvSpPr/>
          <p:nvPr/>
        </p:nvSpPr>
        <p:spPr>
          <a:xfrm>
            <a:off x="6172200" y="1600200"/>
            <a:ext cx="2560320" cy="1554480"/>
          </a:xfrm>
          <a:prstGeom prst="rect">
            <a:avLst/>
          </a:prstGeom>
          <a:noFill/>
          <a:ln/>
        </p:spPr>
        <p:txBody>
          <a:bodyPr wrap="square" rtlCol="0" anchor="t"/>
          <a:lstStyle/>
          <a:p>
            <a:pPr indent="0" marL="0">
              <a:lnSpc>
                <a:spcPct val="140000"/>
              </a:lnSpc>
              <a:buNone/>
            </a:pPr>
            <a:r>
              <a:rPr lang="en-US" sz="1050" i="1" dirty="0">
                <a:solidFill>
                  <a:srgbClr val="1A1816"/>
                </a:solidFill>
                <a:latin typeface="Calibri" pitchFamily="34" charset="0"/>
                <a:ea typeface="Calibri" pitchFamily="34" charset="-122"/>
                <a:cs typeface="Calibri" pitchFamily="34" charset="-120"/>
              </a:rPr>
              <a:t>"I couldn't tell you the difference really, but both lovely, both the sort of place you want to go, aren't they?"</a:t>
            </a:r>
            <a:endParaRPr lang="en-US" sz="1050" dirty="0"/>
          </a:p>
        </p:txBody>
      </p:sp>
      <p:sp>
        <p:nvSpPr>
          <p:cNvPr id="10" name="Text 8"/>
          <p:cNvSpPr/>
          <p:nvPr/>
        </p:nvSpPr>
        <p:spPr>
          <a:xfrm>
            <a:off x="6172200" y="3200400"/>
            <a:ext cx="2560320" cy="274320"/>
          </a:xfrm>
          <a:prstGeom prst="rect">
            <a:avLst/>
          </a:prstGeom>
          <a:noFill/>
          <a:ln/>
        </p:spPr>
        <p:txBody>
          <a:bodyPr wrap="square" lIns="0" tIns="0" rIns="0" bIns="0" rtlCol="0" anchor="ctr"/>
          <a:lstStyle/>
          <a:p>
            <a:pPr indent="0" marL="0">
              <a:buNone/>
            </a:pPr>
            <a:r>
              <a:rPr lang="en-US" sz="800" dirty="0">
                <a:solidFill>
                  <a:srgbClr val="A09888"/>
                </a:solidFill>
                <a:latin typeface="Consolas" pitchFamily="34" charset="0"/>
                <a:ea typeface="Consolas" pitchFamily="34" charset="-122"/>
                <a:cs typeface="Consolas" pitchFamily="34" charset="-120"/>
              </a:rPr>
              <a:t>— Marcus, Month 12</a:t>
            </a:r>
            <a:endParaRPr lang="en-US" sz="800" dirty="0"/>
          </a:p>
        </p:txBody>
      </p:sp>
      <p:sp>
        <p:nvSpPr>
          <p:cNvPr id="11" name="Shape 9"/>
          <p:cNvSpPr/>
          <p:nvPr/>
        </p:nvSpPr>
        <p:spPr>
          <a:xfrm>
            <a:off x="731520" y="3794760"/>
            <a:ext cx="7680960" cy="50292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2" name="Text 10"/>
          <p:cNvSpPr/>
          <p:nvPr/>
        </p:nvSpPr>
        <p:spPr>
          <a:xfrm>
            <a:off x="914400" y="3840480"/>
            <a:ext cx="7315200" cy="365760"/>
          </a:xfrm>
          <a:prstGeom prst="rect">
            <a:avLst/>
          </a:prstGeom>
          <a:noFill/>
          <a:ln/>
        </p:spPr>
        <p:txBody>
          <a:bodyPr wrap="square" rtlCol="0" anchor="ctr"/>
          <a:lstStyle/>
          <a:p>
            <a:pPr indent="0" marL="0">
              <a:buNone/>
            </a:pPr>
            <a:r>
              <a:rPr lang="en-US" sz="900" dirty="0">
                <a:solidFill>
                  <a:srgbClr val="A09888"/>
                </a:solidFill>
                <a:latin typeface="Consolas" pitchFamily="34" charset="0"/>
                <a:ea typeface="Consolas" pitchFamily="34" charset="-122"/>
                <a:cs typeface="Consolas" pitchFamily="34" charset="-120"/>
              </a:rPr>
              <a:t>Quantitative detail on next slide →</a:t>
            </a:r>
            <a:endParaRPr lang="en-US" sz="900" dirty="0"/>
          </a:p>
        </p:txBody>
      </p:sp>
      <p:sp>
        <p:nvSpPr>
          <p:cNvPr id="13" name="Text 11"/>
          <p:cNvSpPr/>
          <p:nvPr/>
        </p:nvSpPr>
        <p:spPr>
          <a:xfrm>
            <a:off x="731520" y="4754880"/>
            <a:ext cx="7315200" cy="274320"/>
          </a:xfrm>
          <a:prstGeom prst="rect">
            <a:avLst/>
          </a:prstGeom>
          <a:noFill/>
          <a:ln/>
        </p:spPr>
        <p:txBody>
          <a:bodyPr wrap="square"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AI-generated synthetic persona · Not a real person</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8B3A0F"/>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P4  Marcus  —  Baseline vs. Treatment</a:t>
            </a:r>
            <a:endParaRPr lang="en-US" sz="1600" dirty="0"/>
          </a:p>
        </p:txBody>
      </p:sp>
      <p:sp>
        <p:nvSpPr>
          <p:cNvPr id="4" name="Text 2"/>
          <p:cNvSpPr/>
          <p:nvPr/>
        </p:nvSpPr>
        <p:spPr>
          <a:xfrm>
            <a:off x="548640" y="731520"/>
            <a:ext cx="3657600" cy="228600"/>
          </a:xfrm>
          <a:prstGeom prst="rect">
            <a:avLst/>
          </a:prstGeom>
          <a:noFill/>
          <a:ln/>
        </p:spPr>
        <p:txBody>
          <a:bodyPr wrap="square" lIns="0" tIns="0" rIns="0" bIns="0" rtlCol="0" anchor="ctr"/>
          <a:lstStyle/>
          <a:p>
            <a:pPr indent="0" marL="0">
              <a:buNone/>
            </a:pPr>
            <a:r>
              <a:rPr lang="en-US" sz="800" b="1" dirty="0">
                <a:solidFill>
                  <a:srgbClr val="2D6A4F"/>
                </a:solidFill>
                <a:latin typeface="Consolas" pitchFamily="34" charset="0"/>
                <a:ea typeface="Consolas" pitchFamily="34" charset="-122"/>
                <a:cs typeface="Consolas" pitchFamily="34" charset="-120"/>
              </a:rPr>
              <a:t>Perceived Quality</a:t>
            </a:r>
            <a:endParaRPr lang="en-US" sz="800" dirty="0"/>
          </a:p>
        </p:txBody>
      </p:sp>
      <p:graphicFrame>
        <p:nvGraphicFramePr>
          <p:cNvPr id="5" name="Chart 0" descr=""/>
          <p:cNvGraphicFramePr/>
          <p:nvPr/>
        </p:nvGraphicFramePr>
        <p:xfrm>
          <a:off x="457200" y="960120"/>
          <a:ext cx="4114800" cy="1325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120640" y="731520"/>
            <a:ext cx="3657600" cy="228600"/>
          </a:xfrm>
          <a:prstGeom prst="rect">
            <a:avLst/>
          </a:prstGeom>
          <a:noFill/>
          <a:ln/>
        </p:spPr>
        <p:txBody>
          <a:bodyPr wrap="square" lIns="0" tIns="0" rIns="0" bIns="0" rtlCol="0" anchor="ctr"/>
          <a:lstStyle/>
          <a:p>
            <a:pPr indent="0" marL="0">
              <a:buNone/>
            </a:pPr>
            <a:r>
              <a:rPr lang="en-US" sz="800" b="1" dirty="0">
                <a:solidFill>
                  <a:srgbClr val="D4A843"/>
                </a:solidFill>
                <a:latin typeface="Consolas" pitchFamily="34" charset="0"/>
                <a:ea typeface="Consolas" pitchFamily="34" charset="-122"/>
                <a:cs typeface="Consolas" pitchFamily="34" charset="-120"/>
              </a:rPr>
              <a:t>Emotional Connection</a:t>
            </a:r>
            <a:endParaRPr lang="en-US" sz="800" dirty="0"/>
          </a:p>
        </p:txBody>
      </p:sp>
      <p:graphicFrame>
        <p:nvGraphicFramePr>
          <p:cNvPr id="7" name="Chart 1" descr=""/>
          <p:cNvGraphicFramePr/>
          <p:nvPr/>
        </p:nvGraphicFramePr>
        <p:xfrm>
          <a:off x="5029200" y="960120"/>
          <a:ext cx="4114800" cy="13258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2423160"/>
            <a:ext cx="3657600" cy="228600"/>
          </a:xfrm>
          <a:prstGeom prst="rect">
            <a:avLst/>
          </a:prstGeom>
          <a:noFill/>
          <a:ln/>
        </p:spPr>
        <p:txBody>
          <a:bodyPr wrap="square" lIns="0" tIns="0" rIns="0" bIns="0" rtlCol="0" anchor="ctr"/>
          <a:lstStyle/>
          <a:p>
            <a:pPr indent="0" marL="0">
              <a:buNone/>
            </a:pPr>
            <a:r>
              <a:rPr lang="en-US" sz="800" b="1" dirty="0">
                <a:solidFill>
                  <a:srgbClr val="3880F3"/>
                </a:solidFill>
                <a:latin typeface="Consolas" pitchFamily="34" charset="0"/>
                <a:ea typeface="Consolas" pitchFamily="34" charset="-122"/>
                <a:cs typeface="Consolas" pitchFamily="34" charset="-120"/>
              </a:rPr>
              <a:t>Curiosity</a:t>
            </a:r>
            <a:endParaRPr lang="en-US" sz="800" dirty="0"/>
          </a:p>
        </p:txBody>
      </p:sp>
      <p:graphicFrame>
        <p:nvGraphicFramePr>
          <p:cNvPr id="9" name="Chart 2" descr=""/>
          <p:cNvGraphicFramePr/>
          <p:nvPr/>
        </p:nvGraphicFramePr>
        <p:xfrm>
          <a:off x="457200" y="2651760"/>
          <a:ext cx="4114800" cy="132588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5120640" y="2423160"/>
            <a:ext cx="3657600" cy="228600"/>
          </a:xfrm>
          <a:prstGeom prst="rect">
            <a:avLst/>
          </a:prstGeom>
          <a:noFill/>
          <a:ln/>
        </p:spPr>
        <p:txBody>
          <a:bodyPr wrap="square" lIns="0" tIns="0" rIns="0" bIns="0" rtlCol="0" anchor="ctr"/>
          <a:lstStyle/>
          <a:p>
            <a:pPr indent="0" marL="0">
              <a:buNone/>
            </a:pPr>
            <a:r>
              <a:rPr lang="en-US" sz="800" b="1" dirty="0">
                <a:solidFill>
                  <a:srgbClr val="8B3A0F"/>
                </a:solidFill>
                <a:latin typeface="Consolas" pitchFamily="34" charset="0"/>
                <a:ea typeface="Consolas" pitchFamily="34" charset="-122"/>
                <a:cs typeface="Consolas" pitchFamily="34" charset="-120"/>
              </a:rPr>
              <a:t>Confidence</a:t>
            </a:r>
            <a:endParaRPr lang="en-US" sz="800" dirty="0"/>
          </a:p>
        </p:txBody>
      </p:sp>
      <p:graphicFrame>
        <p:nvGraphicFramePr>
          <p:cNvPr id="11" name="Chart 3" descr=""/>
          <p:cNvGraphicFramePr/>
          <p:nvPr/>
        </p:nvGraphicFramePr>
        <p:xfrm>
          <a:off x="5029200" y="2651760"/>
          <a:ext cx="4114800" cy="1325880"/>
        </p:xfrm>
        <a:graphic xmlns:a="http://schemas.openxmlformats.org/drawingml/2006/main">
          <a:graphicData uri="http://schemas.openxmlformats.org/drawingml/2006/chart">
            <c:chart xmlns:c="http://schemas.openxmlformats.org/drawingml/2006/chart" r:id="rId4"/>
          </a:graphicData>
        </a:graphic>
      </p:graphicFrame>
      <p:sp>
        <p:nvSpPr>
          <p:cNvPr id="12" name="Shape 6"/>
          <p:cNvSpPr/>
          <p:nvPr/>
        </p:nvSpPr>
        <p:spPr>
          <a:xfrm>
            <a:off x="731520" y="4160520"/>
            <a:ext cx="457200" cy="0"/>
          </a:xfrm>
          <a:prstGeom prst="line">
            <a:avLst/>
          </a:prstGeom>
          <a:noFill/>
          <a:ln w="25400">
            <a:solidFill>
              <a:srgbClr val="E5E1DB"/>
            </a:solidFill>
            <a:prstDash val="solid"/>
          </a:ln>
        </p:spPr>
      </p:sp>
      <p:sp>
        <p:nvSpPr>
          <p:cNvPr id="13" name="Text 7"/>
          <p:cNvSpPr/>
          <p:nvPr/>
        </p:nvSpPr>
        <p:spPr>
          <a:xfrm>
            <a:off x="1280160" y="4069080"/>
            <a:ext cx="320040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Baseline (three stars, nothing happens)</a:t>
            </a:r>
            <a:endParaRPr lang="en-US" sz="700" dirty="0"/>
          </a:p>
        </p:txBody>
      </p:sp>
      <p:sp>
        <p:nvSpPr>
          <p:cNvPr id="14" name="Shape 8"/>
          <p:cNvSpPr/>
          <p:nvPr/>
        </p:nvSpPr>
        <p:spPr>
          <a:xfrm>
            <a:off x="4754880" y="4160520"/>
            <a:ext cx="457200" cy="0"/>
          </a:xfrm>
          <a:prstGeom prst="line">
            <a:avLst/>
          </a:prstGeom>
          <a:noFill/>
          <a:ln w="25400">
            <a:solidFill>
              <a:srgbClr val="1A1816"/>
            </a:solidFill>
            <a:prstDash val="solid"/>
          </a:ln>
        </p:spPr>
      </p:sp>
      <p:sp>
        <p:nvSpPr>
          <p:cNvPr id="15" name="Text 9"/>
          <p:cNvSpPr/>
          <p:nvPr/>
        </p:nvSpPr>
        <p:spPr>
          <a:xfrm>
            <a:off x="5303520" y="4069080"/>
            <a:ext cx="347472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Treatment (star loss + Corenucopia + chef's table)</a:t>
            </a:r>
            <a:endParaRPr lang="en-US" sz="700" dirty="0"/>
          </a:p>
        </p:txBody>
      </p:sp>
      <p:sp>
        <p:nvSpPr>
          <p:cNvPr id="16" name="Shape 10"/>
          <p:cNvSpPr/>
          <p:nvPr/>
        </p:nvSpPr>
        <p:spPr>
          <a:xfrm>
            <a:off x="457200" y="4343400"/>
            <a:ext cx="8229600" cy="6400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7" name="Text 11"/>
          <p:cNvSpPr/>
          <p:nvPr/>
        </p:nvSpPr>
        <p:spPr>
          <a:xfrm>
            <a:off x="640080" y="4389120"/>
            <a:ext cx="7863840" cy="548640"/>
          </a:xfrm>
          <a:prstGeom prst="rect">
            <a:avLst/>
          </a:prstGeom>
          <a:noFill/>
          <a:ln/>
        </p:spPr>
        <p:txBody>
          <a:bodyPr wrap="square" rtlCol="0" anchor="ctr"/>
          <a:lstStyle/>
          <a:p>
            <a:pPr indent="0" marL="0">
              <a:lnSpc>
                <a:spcPct val="130000"/>
              </a:lnSpc>
              <a:buNone/>
            </a:pPr>
            <a:r>
              <a:rPr lang="en-US" sz="1000" dirty="0">
                <a:solidFill>
                  <a:srgbClr val="1A1816"/>
                </a:solidFill>
                <a:latin typeface="Calibri" pitchFamily="34" charset="0"/>
                <a:ea typeface="Calibri" pitchFamily="34" charset="-122"/>
                <a:cs typeface="Calibri" pitchFamily="34" charset="-120"/>
              </a:rPr>
              <a:t>Marcus's quality perception dropped immediately (8→6) and confidence sagged (7→5). By M2, 100% of runs showed him staying home. Corenucopia buzz pulled him back briefly (M6: 80% CPN) but by M9 he was home again. Baseline shows he only dines out ~50% of months anyway — the star loss accelerated a natural tendency toward disengagement.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8B3A0F"/>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P4  Marcus  —  Where They Actually Ate</a:t>
            </a:r>
            <a:endParaRPr lang="en-US" sz="1600" dirty="0"/>
          </a:p>
        </p:txBody>
      </p:sp>
      <p:sp>
        <p:nvSpPr>
          <p:cNvPr id="4" name="Text 2"/>
          <p:cNvSpPr/>
          <p:nvPr/>
        </p:nvSpPr>
        <p:spPr>
          <a:xfrm>
            <a:off x="457200" y="685800"/>
            <a:ext cx="393192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BASELINE</a:t>
            </a:r>
            <a:endParaRPr lang="en-US" sz="900" dirty="0"/>
          </a:p>
        </p:txBody>
      </p:sp>
      <p:sp>
        <p:nvSpPr>
          <p:cNvPr id="5" name="Text 3"/>
          <p:cNvSpPr/>
          <p:nvPr/>
        </p:nvSpPr>
        <p:spPr>
          <a:xfrm>
            <a:off x="457200" y="914400"/>
            <a:ext cx="393192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Three stars · No events · Nothing changes</a:t>
            </a:r>
            <a:endParaRPr lang="en-US" sz="700" dirty="0"/>
          </a:p>
        </p:txBody>
      </p:sp>
      <p:graphicFrame>
        <p:nvGraphicFramePr>
          <p:cNvPr id="6" name="Chart 0" descr=""/>
          <p:cNvGraphicFramePr/>
          <p:nvPr/>
        </p:nvGraphicFramePr>
        <p:xfrm>
          <a:off x="274320" y="1143000"/>
          <a:ext cx="4114800" cy="2011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754880" y="685800"/>
            <a:ext cx="411480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TREATMENT</a:t>
            </a:r>
            <a:endParaRPr lang="en-US" sz="900" dirty="0"/>
          </a:p>
        </p:txBody>
      </p:sp>
      <p:sp>
        <p:nvSpPr>
          <p:cNvPr id="8" name="Text 5"/>
          <p:cNvSpPr/>
          <p:nvPr/>
        </p:nvSpPr>
        <p:spPr>
          <a:xfrm>
            <a:off x="4754880" y="914400"/>
            <a:ext cx="411480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Star loss (M1) · Corenucopia opens (M5) · Chef's table (M8)</a:t>
            </a:r>
            <a:endParaRPr lang="en-US" sz="700" dirty="0"/>
          </a:p>
        </p:txBody>
      </p:sp>
      <p:graphicFrame>
        <p:nvGraphicFramePr>
          <p:cNvPr id="9" name="Chart 1" descr=""/>
          <p:cNvGraphicFramePr/>
          <p:nvPr/>
        </p:nvGraphicFramePr>
        <p:xfrm>
          <a:off x="4572000" y="1143000"/>
          <a:ext cx="42976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731520" y="3291840"/>
            <a:ext cx="182880" cy="137160"/>
          </a:xfrm>
          <a:prstGeom prst="rect">
            <a:avLst/>
          </a:prstGeom>
          <a:solidFill>
            <a:srgbClr val="2D6A4F"/>
          </a:solidFill>
          <a:ln/>
        </p:spPr>
      </p:sp>
      <p:sp>
        <p:nvSpPr>
          <p:cNvPr id="11" name="Text 7"/>
          <p:cNvSpPr/>
          <p:nvPr/>
        </p:nvSpPr>
        <p:spPr>
          <a:xfrm>
            <a:off x="960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RGR</a:t>
            </a:r>
            <a:endParaRPr lang="en-US" sz="700" dirty="0"/>
          </a:p>
        </p:txBody>
      </p:sp>
      <p:sp>
        <p:nvSpPr>
          <p:cNvPr id="12" name="Shape 8"/>
          <p:cNvSpPr/>
          <p:nvPr/>
        </p:nvSpPr>
        <p:spPr>
          <a:xfrm>
            <a:off x="2103120" y="3291840"/>
            <a:ext cx="182880" cy="137160"/>
          </a:xfrm>
          <a:prstGeom prst="rect">
            <a:avLst/>
          </a:prstGeom>
          <a:solidFill>
            <a:srgbClr val="5B2C8F"/>
          </a:solidFill>
          <a:ln/>
        </p:spPr>
      </p:sp>
      <p:sp>
        <p:nvSpPr>
          <p:cNvPr id="13" name="Text 9"/>
          <p:cNvSpPr/>
          <p:nvPr/>
        </p:nvSpPr>
        <p:spPr>
          <a:xfrm>
            <a:off x="23317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a:t>
            </a:r>
            <a:endParaRPr lang="en-US" sz="700" dirty="0"/>
          </a:p>
        </p:txBody>
      </p:sp>
      <p:sp>
        <p:nvSpPr>
          <p:cNvPr id="14" name="Shape 10"/>
          <p:cNvSpPr/>
          <p:nvPr/>
        </p:nvSpPr>
        <p:spPr>
          <a:xfrm>
            <a:off x="3474720" y="3291840"/>
            <a:ext cx="182880" cy="137160"/>
          </a:xfrm>
          <a:prstGeom prst="rect">
            <a:avLst/>
          </a:prstGeom>
          <a:solidFill>
            <a:srgbClr val="3880F3"/>
          </a:solidFill>
          <a:ln/>
        </p:spPr>
      </p:sp>
      <p:sp>
        <p:nvSpPr>
          <p:cNvPr id="15" name="Text 11"/>
          <p:cNvSpPr/>
          <p:nvPr/>
        </p:nvSpPr>
        <p:spPr>
          <a:xfrm>
            <a:off x="37033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Corenucopia</a:t>
            </a:r>
            <a:endParaRPr lang="en-US" sz="700" dirty="0"/>
          </a:p>
        </p:txBody>
      </p:sp>
      <p:sp>
        <p:nvSpPr>
          <p:cNvPr id="16" name="Shape 12"/>
          <p:cNvSpPr/>
          <p:nvPr/>
        </p:nvSpPr>
        <p:spPr>
          <a:xfrm>
            <a:off x="4846320" y="3291840"/>
            <a:ext cx="182880" cy="137160"/>
          </a:xfrm>
          <a:prstGeom prst="rect">
            <a:avLst/>
          </a:prstGeom>
          <a:solidFill>
            <a:srgbClr val="D4A843"/>
          </a:solidFill>
          <a:ln/>
        </p:spPr>
      </p:sp>
      <p:sp>
        <p:nvSpPr>
          <p:cNvPr id="17" name="Text 13"/>
          <p:cNvSpPr/>
          <p:nvPr/>
        </p:nvSpPr>
        <p:spPr>
          <a:xfrm>
            <a:off x="50749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Both</a:t>
            </a:r>
            <a:endParaRPr lang="en-US" sz="700" dirty="0"/>
          </a:p>
        </p:txBody>
      </p:sp>
      <p:sp>
        <p:nvSpPr>
          <p:cNvPr id="18" name="Shape 14"/>
          <p:cNvSpPr/>
          <p:nvPr/>
        </p:nvSpPr>
        <p:spPr>
          <a:xfrm>
            <a:off x="6217920" y="3291840"/>
            <a:ext cx="182880" cy="137160"/>
          </a:xfrm>
          <a:prstGeom prst="rect">
            <a:avLst/>
          </a:prstGeom>
          <a:solidFill>
            <a:srgbClr val="8B3A0F"/>
          </a:solidFill>
          <a:ln/>
        </p:spPr>
      </p:sp>
      <p:sp>
        <p:nvSpPr>
          <p:cNvPr id="19" name="Text 15"/>
          <p:cNvSpPr/>
          <p:nvPr/>
        </p:nvSpPr>
        <p:spPr>
          <a:xfrm>
            <a:off x="64465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Home</a:t>
            </a:r>
            <a:endParaRPr lang="en-US" sz="700" dirty="0"/>
          </a:p>
        </p:txBody>
      </p:sp>
      <p:sp>
        <p:nvSpPr>
          <p:cNvPr id="20" name="Shape 16"/>
          <p:cNvSpPr/>
          <p:nvPr/>
        </p:nvSpPr>
        <p:spPr>
          <a:xfrm>
            <a:off x="7589520" y="3291840"/>
            <a:ext cx="182880" cy="137160"/>
          </a:xfrm>
          <a:prstGeom prst="rect">
            <a:avLst/>
          </a:prstGeom>
          <a:solidFill>
            <a:srgbClr val="E5E1DB"/>
          </a:solidFill>
          <a:ln/>
        </p:spPr>
      </p:sp>
      <p:sp>
        <p:nvSpPr>
          <p:cNvPr id="21" name="Text 17"/>
          <p:cNvSpPr/>
          <p:nvPr/>
        </p:nvSpPr>
        <p:spPr>
          <a:xfrm>
            <a:off x="7818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N/A</a:t>
            </a:r>
            <a:endParaRPr lang="en-US" sz="700" dirty="0"/>
          </a:p>
        </p:txBody>
      </p:sp>
      <p:sp>
        <p:nvSpPr>
          <p:cNvPr id="22" name="Shape 18"/>
          <p:cNvSpPr/>
          <p:nvPr/>
        </p:nvSpPr>
        <p:spPr>
          <a:xfrm>
            <a:off x="457200" y="3611880"/>
            <a:ext cx="8229600" cy="77724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23" name="Text 19"/>
          <p:cNvSpPr/>
          <p:nvPr/>
        </p:nvSpPr>
        <p:spPr>
          <a:xfrm>
            <a:off x="640080" y="3657600"/>
            <a:ext cx="7863840" cy="685800"/>
          </a:xfrm>
          <a:prstGeom prst="rect">
            <a:avLst/>
          </a:prstGeom>
          <a:noFill/>
          <a:ln/>
        </p:spPr>
        <p:txBody>
          <a:bodyPr wrap="square" rtlCol="0" anchor="ctr"/>
          <a:lstStyle/>
          <a:p>
            <a:pPr indent="0" marL="0">
              <a:lnSpc>
                <a:spcPct val="135000"/>
              </a:lnSpc>
              <a:buNone/>
            </a:pPr>
            <a:r>
              <a:rPr lang="en-US" sz="1050" dirty="0">
                <a:solidFill>
                  <a:srgbClr val="1A1816"/>
                </a:solidFill>
                <a:latin typeface="Calibri" pitchFamily="34" charset="0"/>
                <a:ea typeface="Calibri" pitchFamily="34" charset="-122"/>
                <a:cs typeface="Calibri" pitchFamily="34" charset="-120"/>
              </a:rPr>
              <a:t>Baseline Marcus dines out roughly every other month — inconsistent but present. Treatment Marcus collapses: 100% Home at M2, and when he does come back it's to Corenucopia (80% at M6), not RGR. The star loss didn't just reduce his frequency — it redirected what little social energy he had toward the newer, buzzier option. RGR went from his default to not even in consideration.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5B2C8F"/>
          </a:solidFill>
          <a:ln/>
        </p:spPr>
      </p:sp>
      <p:sp>
        <p:nvSpPr>
          <p:cNvPr id="3" name="Text 1"/>
          <p:cNvSpPr/>
          <p:nvPr/>
        </p:nvSpPr>
        <p:spPr>
          <a:xfrm>
            <a:off x="731520" y="914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P5  Sophie &amp; James</a:t>
            </a:r>
            <a:endParaRPr lang="en-US" sz="2200" dirty="0"/>
          </a:p>
        </p:txBody>
      </p:sp>
      <p:sp>
        <p:nvSpPr>
          <p:cNvPr id="4" name="Text 2"/>
          <p:cNvSpPr/>
          <p:nvPr/>
        </p:nvSpPr>
        <p:spPr>
          <a:xfrm>
            <a:off x="731520" y="457200"/>
            <a:ext cx="3657600" cy="274320"/>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The Story</a:t>
            </a:r>
            <a:endParaRPr lang="en-US" sz="1000" dirty="0"/>
          </a:p>
        </p:txBody>
      </p:sp>
      <p:sp>
        <p:nvSpPr>
          <p:cNvPr id="5" name="Text 3"/>
          <p:cNvSpPr/>
          <p:nvPr/>
        </p:nvSpPr>
        <p:spPr>
          <a:xfrm>
            <a:off x="731520" y="1051560"/>
            <a:ext cx="7680960" cy="365760"/>
          </a:xfrm>
          <a:prstGeom prst="rect">
            <a:avLst/>
          </a:prstGeom>
          <a:noFill/>
          <a:ln/>
        </p:spPr>
        <p:txBody>
          <a:bodyPr wrap="square" lIns="0" tIns="0" rIns="0" bIns="0" rtlCol="0" anchor="ctr"/>
          <a:lstStyle/>
          <a:p>
            <a:pPr indent="0" marL="0">
              <a:buNone/>
            </a:pPr>
            <a:r>
              <a:rPr lang="en-US" sz="1800" b="1" dirty="0">
                <a:solidFill>
                  <a:srgbClr val="1A1816"/>
                </a:solidFill>
                <a:latin typeface="Georgia" pitchFamily="34" charset="0"/>
                <a:ea typeface="Georgia" pitchFamily="34" charset="-122"/>
                <a:cs typeface="Georgia" pitchFamily="34" charset="-120"/>
              </a:rPr>
              <a:t>Identity-Level Loyalty Absorbs Everything</a:t>
            </a:r>
            <a:endParaRPr lang="en-US" sz="1800" dirty="0"/>
          </a:p>
        </p:txBody>
      </p:sp>
      <p:sp>
        <p:nvSpPr>
          <p:cNvPr id="6" name="Text 4"/>
          <p:cNvSpPr/>
          <p:nvPr/>
        </p:nvSpPr>
        <p:spPr>
          <a:xfrm>
            <a:off x="731520" y="1508760"/>
            <a:ext cx="4937760" cy="2011680"/>
          </a:xfrm>
          <a:prstGeom prst="rect">
            <a:avLst/>
          </a:prstGeom>
          <a:noFill/>
          <a:ln/>
        </p:spPr>
        <p:txBody>
          <a:bodyPr wrap="square" rtlCol="0" anchor="t"/>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Sophie carries RGR in her body — the engagement, the framed menu, the anniversary ritual. When the star disappeared, it felt like biographical threat. By December she arrived at something harder and more honest: the place still holds their story, but her devotion is no longer automatic. She chooses it now, deliberately — and that makes it both more fragile and more real.</a:t>
            </a:r>
            <a:endParaRPr lang="en-US" sz="1200" dirty="0"/>
          </a:p>
        </p:txBody>
      </p:sp>
      <p:sp>
        <p:nvSpPr>
          <p:cNvPr id="7" name="Shape 5"/>
          <p:cNvSpPr/>
          <p:nvPr/>
        </p:nvSpPr>
        <p:spPr>
          <a:xfrm>
            <a:off x="5943600" y="1508760"/>
            <a:ext cx="2926080" cy="20116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8" name="Shape 6"/>
          <p:cNvSpPr/>
          <p:nvPr/>
        </p:nvSpPr>
        <p:spPr>
          <a:xfrm>
            <a:off x="5943600" y="1508760"/>
            <a:ext cx="54864" cy="2011680"/>
          </a:xfrm>
          <a:prstGeom prst="rect">
            <a:avLst/>
          </a:prstGeom>
          <a:solidFill>
            <a:srgbClr val="5B2C8F"/>
          </a:solidFill>
          <a:ln/>
        </p:spPr>
      </p:sp>
      <p:sp>
        <p:nvSpPr>
          <p:cNvPr id="9" name="Text 7"/>
          <p:cNvSpPr/>
          <p:nvPr/>
        </p:nvSpPr>
        <p:spPr>
          <a:xfrm>
            <a:off x="6172200" y="1600200"/>
            <a:ext cx="2560320" cy="1554480"/>
          </a:xfrm>
          <a:prstGeom prst="rect">
            <a:avLst/>
          </a:prstGeom>
          <a:noFill/>
          <a:ln/>
        </p:spPr>
        <p:txBody>
          <a:bodyPr wrap="square" rtlCol="0" anchor="t"/>
          <a:lstStyle/>
          <a:p>
            <a:pPr indent="0" marL="0">
              <a:lnSpc>
                <a:spcPct val="140000"/>
              </a:lnSpc>
              <a:buNone/>
            </a:pPr>
            <a:r>
              <a:rPr lang="en-US" sz="1050" i="1" dirty="0">
                <a:solidFill>
                  <a:srgbClr val="1A1816"/>
                </a:solidFill>
                <a:latin typeface="Calibri" pitchFamily="34" charset="0"/>
                <a:ea typeface="Calibri" pitchFamily="34" charset="-122"/>
                <a:cs typeface="Calibri" pitchFamily="34" charset="-120"/>
              </a:rPr>
              <a:t>"I used to just assume it was the best and now I actually know it is, for us at least. Like, we choose it, not just because of the proposal but because it's still where we want to be."</a:t>
            </a:r>
            <a:endParaRPr lang="en-US" sz="1050" dirty="0"/>
          </a:p>
        </p:txBody>
      </p:sp>
      <p:sp>
        <p:nvSpPr>
          <p:cNvPr id="10" name="Text 8"/>
          <p:cNvSpPr/>
          <p:nvPr/>
        </p:nvSpPr>
        <p:spPr>
          <a:xfrm>
            <a:off x="6172200" y="3200400"/>
            <a:ext cx="2560320" cy="274320"/>
          </a:xfrm>
          <a:prstGeom prst="rect">
            <a:avLst/>
          </a:prstGeom>
          <a:noFill/>
          <a:ln/>
        </p:spPr>
        <p:txBody>
          <a:bodyPr wrap="square" lIns="0" tIns="0" rIns="0" bIns="0" rtlCol="0" anchor="ctr"/>
          <a:lstStyle/>
          <a:p>
            <a:pPr indent="0" marL="0">
              <a:buNone/>
            </a:pPr>
            <a:r>
              <a:rPr lang="en-US" sz="800" dirty="0">
                <a:solidFill>
                  <a:srgbClr val="A09888"/>
                </a:solidFill>
                <a:latin typeface="Consolas" pitchFamily="34" charset="0"/>
                <a:ea typeface="Consolas" pitchFamily="34" charset="-122"/>
                <a:cs typeface="Consolas" pitchFamily="34" charset="-120"/>
              </a:rPr>
              <a:t>— Sophie, Month 12</a:t>
            </a:r>
            <a:endParaRPr lang="en-US" sz="800" dirty="0"/>
          </a:p>
        </p:txBody>
      </p:sp>
      <p:sp>
        <p:nvSpPr>
          <p:cNvPr id="11" name="Shape 9"/>
          <p:cNvSpPr/>
          <p:nvPr/>
        </p:nvSpPr>
        <p:spPr>
          <a:xfrm>
            <a:off x="731520" y="3794760"/>
            <a:ext cx="7680960" cy="50292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2" name="Text 10"/>
          <p:cNvSpPr/>
          <p:nvPr/>
        </p:nvSpPr>
        <p:spPr>
          <a:xfrm>
            <a:off x="914400" y="3840480"/>
            <a:ext cx="7315200" cy="365760"/>
          </a:xfrm>
          <a:prstGeom prst="rect">
            <a:avLst/>
          </a:prstGeom>
          <a:noFill/>
          <a:ln/>
        </p:spPr>
        <p:txBody>
          <a:bodyPr wrap="square" rtlCol="0" anchor="ctr"/>
          <a:lstStyle/>
          <a:p>
            <a:pPr indent="0" marL="0">
              <a:buNone/>
            </a:pPr>
            <a:r>
              <a:rPr lang="en-US" sz="900" dirty="0">
                <a:solidFill>
                  <a:srgbClr val="A09888"/>
                </a:solidFill>
                <a:latin typeface="Consolas" pitchFamily="34" charset="0"/>
                <a:ea typeface="Consolas" pitchFamily="34" charset="-122"/>
                <a:cs typeface="Consolas" pitchFamily="34" charset="-120"/>
              </a:rPr>
              <a:t>Quantitative detail on next slide →</a:t>
            </a:r>
            <a:endParaRPr lang="en-US" sz="900" dirty="0"/>
          </a:p>
        </p:txBody>
      </p:sp>
      <p:sp>
        <p:nvSpPr>
          <p:cNvPr id="13" name="Text 11"/>
          <p:cNvSpPr/>
          <p:nvPr/>
        </p:nvSpPr>
        <p:spPr>
          <a:xfrm>
            <a:off x="731520" y="4754880"/>
            <a:ext cx="7315200" cy="274320"/>
          </a:xfrm>
          <a:prstGeom prst="rect">
            <a:avLst/>
          </a:prstGeom>
          <a:noFill/>
          <a:ln/>
        </p:spPr>
        <p:txBody>
          <a:bodyPr wrap="square"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AI-generated synthetic persona · Not a real person</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5B2C8F"/>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P5  Sophie &amp; James  —  Baseline vs. Treatment</a:t>
            </a:r>
            <a:endParaRPr lang="en-US" sz="1600" dirty="0"/>
          </a:p>
        </p:txBody>
      </p:sp>
      <p:sp>
        <p:nvSpPr>
          <p:cNvPr id="4" name="Text 2"/>
          <p:cNvSpPr/>
          <p:nvPr/>
        </p:nvSpPr>
        <p:spPr>
          <a:xfrm>
            <a:off x="548640" y="731520"/>
            <a:ext cx="3657600" cy="228600"/>
          </a:xfrm>
          <a:prstGeom prst="rect">
            <a:avLst/>
          </a:prstGeom>
          <a:noFill/>
          <a:ln/>
        </p:spPr>
        <p:txBody>
          <a:bodyPr wrap="square" lIns="0" tIns="0" rIns="0" bIns="0" rtlCol="0" anchor="ctr"/>
          <a:lstStyle/>
          <a:p>
            <a:pPr indent="0" marL="0">
              <a:buNone/>
            </a:pPr>
            <a:r>
              <a:rPr lang="en-US" sz="800" b="1" dirty="0">
                <a:solidFill>
                  <a:srgbClr val="2D6A4F"/>
                </a:solidFill>
                <a:latin typeface="Consolas" pitchFamily="34" charset="0"/>
                <a:ea typeface="Consolas" pitchFamily="34" charset="-122"/>
                <a:cs typeface="Consolas" pitchFamily="34" charset="-120"/>
              </a:rPr>
              <a:t>Perceived Quality</a:t>
            </a:r>
            <a:endParaRPr lang="en-US" sz="800" dirty="0"/>
          </a:p>
        </p:txBody>
      </p:sp>
      <p:graphicFrame>
        <p:nvGraphicFramePr>
          <p:cNvPr id="5" name="Chart 0" descr=""/>
          <p:cNvGraphicFramePr/>
          <p:nvPr/>
        </p:nvGraphicFramePr>
        <p:xfrm>
          <a:off x="457200" y="960120"/>
          <a:ext cx="4114800" cy="1325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120640" y="731520"/>
            <a:ext cx="3657600" cy="228600"/>
          </a:xfrm>
          <a:prstGeom prst="rect">
            <a:avLst/>
          </a:prstGeom>
          <a:noFill/>
          <a:ln/>
        </p:spPr>
        <p:txBody>
          <a:bodyPr wrap="square" lIns="0" tIns="0" rIns="0" bIns="0" rtlCol="0" anchor="ctr"/>
          <a:lstStyle/>
          <a:p>
            <a:pPr indent="0" marL="0">
              <a:buNone/>
            </a:pPr>
            <a:r>
              <a:rPr lang="en-US" sz="800" b="1" dirty="0">
                <a:solidFill>
                  <a:srgbClr val="D4A843"/>
                </a:solidFill>
                <a:latin typeface="Consolas" pitchFamily="34" charset="0"/>
                <a:ea typeface="Consolas" pitchFamily="34" charset="-122"/>
                <a:cs typeface="Consolas" pitchFamily="34" charset="-120"/>
              </a:rPr>
              <a:t>Emotional Connection</a:t>
            </a:r>
            <a:endParaRPr lang="en-US" sz="800" dirty="0"/>
          </a:p>
        </p:txBody>
      </p:sp>
      <p:graphicFrame>
        <p:nvGraphicFramePr>
          <p:cNvPr id="7" name="Chart 1" descr=""/>
          <p:cNvGraphicFramePr/>
          <p:nvPr/>
        </p:nvGraphicFramePr>
        <p:xfrm>
          <a:off x="5029200" y="960120"/>
          <a:ext cx="4114800" cy="13258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2423160"/>
            <a:ext cx="3657600" cy="228600"/>
          </a:xfrm>
          <a:prstGeom prst="rect">
            <a:avLst/>
          </a:prstGeom>
          <a:noFill/>
          <a:ln/>
        </p:spPr>
        <p:txBody>
          <a:bodyPr wrap="square" lIns="0" tIns="0" rIns="0" bIns="0" rtlCol="0" anchor="ctr"/>
          <a:lstStyle/>
          <a:p>
            <a:pPr indent="0" marL="0">
              <a:buNone/>
            </a:pPr>
            <a:r>
              <a:rPr lang="en-US" sz="800" b="1" dirty="0">
                <a:solidFill>
                  <a:srgbClr val="3880F3"/>
                </a:solidFill>
                <a:latin typeface="Consolas" pitchFamily="34" charset="0"/>
                <a:ea typeface="Consolas" pitchFamily="34" charset="-122"/>
                <a:cs typeface="Consolas" pitchFamily="34" charset="-120"/>
              </a:rPr>
              <a:t>Curiosity</a:t>
            </a:r>
            <a:endParaRPr lang="en-US" sz="800" dirty="0"/>
          </a:p>
        </p:txBody>
      </p:sp>
      <p:graphicFrame>
        <p:nvGraphicFramePr>
          <p:cNvPr id="9" name="Chart 2" descr=""/>
          <p:cNvGraphicFramePr/>
          <p:nvPr/>
        </p:nvGraphicFramePr>
        <p:xfrm>
          <a:off x="457200" y="2651760"/>
          <a:ext cx="4114800" cy="132588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5120640" y="2423160"/>
            <a:ext cx="3657600" cy="228600"/>
          </a:xfrm>
          <a:prstGeom prst="rect">
            <a:avLst/>
          </a:prstGeom>
          <a:noFill/>
          <a:ln/>
        </p:spPr>
        <p:txBody>
          <a:bodyPr wrap="square" lIns="0" tIns="0" rIns="0" bIns="0" rtlCol="0" anchor="ctr"/>
          <a:lstStyle/>
          <a:p>
            <a:pPr indent="0" marL="0">
              <a:buNone/>
            </a:pPr>
            <a:r>
              <a:rPr lang="en-US" sz="800" b="1" dirty="0">
                <a:solidFill>
                  <a:srgbClr val="8B3A0F"/>
                </a:solidFill>
                <a:latin typeface="Consolas" pitchFamily="34" charset="0"/>
                <a:ea typeface="Consolas" pitchFamily="34" charset="-122"/>
                <a:cs typeface="Consolas" pitchFamily="34" charset="-120"/>
              </a:rPr>
              <a:t>Confidence</a:t>
            </a:r>
            <a:endParaRPr lang="en-US" sz="800" dirty="0"/>
          </a:p>
        </p:txBody>
      </p:sp>
      <p:graphicFrame>
        <p:nvGraphicFramePr>
          <p:cNvPr id="11" name="Chart 3" descr=""/>
          <p:cNvGraphicFramePr/>
          <p:nvPr/>
        </p:nvGraphicFramePr>
        <p:xfrm>
          <a:off x="5029200" y="2651760"/>
          <a:ext cx="4114800" cy="1325880"/>
        </p:xfrm>
        <a:graphic xmlns:a="http://schemas.openxmlformats.org/drawingml/2006/main">
          <a:graphicData uri="http://schemas.openxmlformats.org/drawingml/2006/chart">
            <c:chart xmlns:c="http://schemas.openxmlformats.org/drawingml/2006/chart" r:id="rId4"/>
          </a:graphicData>
        </a:graphic>
      </p:graphicFrame>
      <p:sp>
        <p:nvSpPr>
          <p:cNvPr id="12" name="Shape 6"/>
          <p:cNvSpPr/>
          <p:nvPr/>
        </p:nvSpPr>
        <p:spPr>
          <a:xfrm>
            <a:off x="731520" y="4160520"/>
            <a:ext cx="457200" cy="0"/>
          </a:xfrm>
          <a:prstGeom prst="line">
            <a:avLst/>
          </a:prstGeom>
          <a:noFill/>
          <a:ln w="25400">
            <a:solidFill>
              <a:srgbClr val="E5E1DB"/>
            </a:solidFill>
            <a:prstDash val="solid"/>
          </a:ln>
        </p:spPr>
      </p:sp>
      <p:sp>
        <p:nvSpPr>
          <p:cNvPr id="13" name="Text 7"/>
          <p:cNvSpPr/>
          <p:nvPr/>
        </p:nvSpPr>
        <p:spPr>
          <a:xfrm>
            <a:off x="1280160" y="4069080"/>
            <a:ext cx="320040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Baseline (three stars, nothing happens)</a:t>
            </a:r>
            <a:endParaRPr lang="en-US" sz="700" dirty="0"/>
          </a:p>
        </p:txBody>
      </p:sp>
      <p:sp>
        <p:nvSpPr>
          <p:cNvPr id="14" name="Shape 8"/>
          <p:cNvSpPr/>
          <p:nvPr/>
        </p:nvSpPr>
        <p:spPr>
          <a:xfrm>
            <a:off x="4754880" y="4160520"/>
            <a:ext cx="457200" cy="0"/>
          </a:xfrm>
          <a:prstGeom prst="line">
            <a:avLst/>
          </a:prstGeom>
          <a:noFill/>
          <a:ln w="25400">
            <a:solidFill>
              <a:srgbClr val="1A1816"/>
            </a:solidFill>
            <a:prstDash val="solid"/>
          </a:ln>
        </p:spPr>
      </p:sp>
      <p:sp>
        <p:nvSpPr>
          <p:cNvPr id="15" name="Text 9"/>
          <p:cNvSpPr/>
          <p:nvPr/>
        </p:nvSpPr>
        <p:spPr>
          <a:xfrm>
            <a:off x="5303520" y="4069080"/>
            <a:ext cx="3474720" cy="22860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Treatment (star loss + Corenucopia + chef's table)</a:t>
            </a:r>
            <a:endParaRPr lang="en-US" sz="700" dirty="0"/>
          </a:p>
        </p:txBody>
      </p:sp>
      <p:sp>
        <p:nvSpPr>
          <p:cNvPr id="16" name="Shape 10"/>
          <p:cNvSpPr/>
          <p:nvPr/>
        </p:nvSpPr>
        <p:spPr>
          <a:xfrm>
            <a:off x="457200" y="4343400"/>
            <a:ext cx="8229600" cy="64008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17" name="Text 11"/>
          <p:cNvSpPr/>
          <p:nvPr/>
        </p:nvSpPr>
        <p:spPr>
          <a:xfrm>
            <a:off x="640080" y="4389120"/>
            <a:ext cx="7863840" cy="548640"/>
          </a:xfrm>
          <a:prstGeom prst="rect">
            <a:avLst/>
          </a:prstGeom>
          <a:noFill/>
          <a:ln/>
        </p:spPr>
        <p:txBody>
          <a:bodyPr wrap="square" rtlCol="0" anchor="ctr"/>
          <a:lstStyle/>
          <a:p>
            <a:pPr indent="0" marL="0">
              <a:lnSpc>
                <a:spcPct val="130000"/>
              </a:lnSpc>
              <a:buNone/>
            </a:pPr>
            <a:r>
              <a:rPr lang="en-US" sz="1000" dirty="0">
                <a:solidFill>
                  <a:srgbClr val="1A1816"/>
                </a:solidFill>
                <a:latin typeface="Calibri" pitchFamily="34" charset="0"/>
                <a:ea typeface="Calibri" pitchFamily="34" charset="-122"/>
                <a:cs typeface="Calibri" pitchFamily="34" charset="-120"/>
              </a:rPr>
              <a:t>Sophie &amp; James are the control case for identity-level loyalty. Baseline: literal wall of 10s. Treatment: connection held at 10, but quality dropped to 8 and confidence to 7 at the star loss. Both recovered to 10 by M8. Curiosity briefly spiked to 5 when Corenucopia opened. 100% RGR on every scheduled visit. The star loss registered but didn't matter.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5B2C8F"/>
          </a:solidFill>
          <a:ln/>
        </p:spPr>
      </p:sp>
      <p:sp>
        <p:nvSpPr>
          <p:cNvPr id="3" name="Text 1"/>
          <p:cNvSpPr/>
          <p:nvPr/>
        </p:nvSpPr>
        <p:spPr>
          <a:xfrm>
            <a:off x="73152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P5  Sophie &amp; James  —  Where They Actually Ate</a:t>
            </a:r>
            <a:endParaRPr lang="en-US" sz="1600" dirty="0"/>
          </a:p>
        </p:txBody>
      </p:sp>
      <p:sp>
        <p:nvSpPr>
          <p:cNvPr id="4" name="Text 2"/>
          <p:cNvSpPr/>
          <p:nvPr/>
        </p:nvSpPr>
        <p:spPr>
          <a:xfrm>
            <a:off x="457200" y="685800"/>
            <a:ext cx="393192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BASELINE</a:t>
            </a:r>
            <a:endParaRPr lang="en-US" sz="900" dirty="0"/>
          </a:p>
        </p:txBody>
      </p:sp>
      <p:sp>
        <p:nvSpPr>
          <p:cNvPr id="5" name="Text 3"/>
          <p:cNvSpPr/>
          <p:nvPr/>
        </p:nvSpPr>
        <p:spPr>
          <a:xfrm>
            <a:off x="457200" y="914400"/>
            <a:ext cx="393192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Three stars · No events · Nothing changes</a:t>
            </a:r>
            <a:endParaRPr lang="en-US" sz="700" dirty="0"/>
          </a:p>
        </p:txBody>
      </p:sp>
      <p:graphicFrame>
        <p:nvGraphicFramePr>
          <p:cNvPr id="6" name="Chart 0" descr=""/>
          <p:cNvGraphicFramePr/>
          <p:nvPr/>
        </p:nvGraphicFramePr>
        <p:xfrm>
          <a:off x="274320" y="1143000"/>
          <a:ext cx="4114800" cy="2011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754880" y="685800"/>
            <a:ext cx="4114800" cy="274320"/>
          </a:xfrm>
          <a:prstGeom prst="rect">
            <a:avLst/>
          </a:prstGeom>
          <a:noFill/>
          <a:ln/>
        </p:spPr>
        <p:txBody>
          <a:bodyPr wrap="square" lIns="0" tIns="0" rIns="0" bIns="0" rtlCol="0" anchor="ctr"/>
          <a:lstStyle/>
          <a:p>
            <a:pPr indent="0" marL="0">
              <a:buNone/>
            </a:pPr>
            <a:r>
              <a:rPr lang="en-US" sz="900" b="1" dirty="0">
                <a:solidFill>
                  <a:srgbClr val="A09888"/>
                </a:solidFill>
                <a:latin typeface="Consolas" pitchFamily="34" charset="0"/>
                <a:ea typeface="Consolas" pitchFamily="34" charset="-122"/>
                <a:cs typeface="Consolas" pitchFamily="34" charset="-120"/>
              </a:rPr>
              <a:t>TREATMENT</a:t>
            </a:r>
            <a:endParaRPr lang="en-US" sz="900" dirty="0"/>
          </a:p>
        </p:txBody>
      </p:sp>
      <p:sp>
        <p:nvSpPr>
          <p:cNvPr id="8" name="Text 5"/>
          <p:cNvSpPr/>
          <p:nvPr/>
        </p:nvSpPr>
        <p:spPr>
          <a:xfrm>
            <a:off x="4754880" y="914400"/>
            <a:ext cx="411480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Star loss (M1) · Corenucopia opens (M5) · Chef's table (M8)</a:t>
            </a:r>
            <a:endParaRPr lang="en-US" sz="700" dirty="0"/>
          </a:p>
        </p:txBody>
      </p:sp>
      <p:graphicFrame>
        <p:nvGraphicFramePr>
          <p:cNvPr id="9" name="Chart 1" descr=""/>
          <p:cNvGraphicFramePr/>
          <p:nvPr/>
        </p:nvGraphicFramePr>
        <p:xfrm>
          <a:off x="4572000" y="1143000"/>
          <a:ext cx="42976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731520" y="3291840"/>
            <a:ext cx="182880" cy="137160"/>
          </a:xfrm>
          <a:prstGeom prst="rect">
            <a:avLst/>
          </a:prstGeom>
          <a:solidFill>
            <a:srgbClr val="2D6A4F"/>
          </a:solidFill>
          <a:ln/>
        </p:spPr>
      </p:sp>
      <p:sp>
        <p:nvSpPr>
          <p:cNvPr id="11" name="Text 7"/>
          <p:cNvSpPr/>
          <p:nvPr/>
        </p:nvSpPr>
        <p:spPr>
          <a:xfrm>
            <a:off x="960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RGR</a:t>
            </a:r>
            <a:endParaRPr lang="en-US" sz="700" dirty="0"/>
          </a:p>
        </p:txBody>
      </p:sp>
      <p:sp>
        <p:nvSpPr>
          <p:cNvPr id="12" name="Shape 8"/>
          <p:cNvSpPr/>
          <p:nvPr/>
        </p:nvSpPr>
        <p:spPr>
          <a:xfrm>
            <a:off x="2103120" y="3291840"/>
            <a:ext cx="182880" cy="137160"/>
          </a:xfrm>
          <a:prstGeom prst="rect">
            <a:avLst/>
          </a:prstGeom>
          <a:solidFill>
            <a:srgbClr val="5B2C8F"/>
          </a:solidFill>
          <a:ln/>
        </p:spPr>
      </p:sp>
      <p:sp>
        <p:nvSpPr>
          <p:cNvPr id="13" name="Text 9"/>
          <p:cNvSpPr/>
          <p:nvPr/>
        </p:nvSpPr>
        <p:spPr>
          <a:xfrm>
            <a:off x="23317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a:t>
            </a:r>
            <a:endParaRPr lang="en-US" sz="700" dirty="0"/>
          </a:p>
        </p:txBody>
      </p:sp>
      <p:sp>
        <p:nvSpPr>
          <p:cNvPr id="14" name="Shape 10"/>
          <p:cNvSpPr/>
          <p:nvPr/>
        </p:nvSpPr>
        <p:spPr>
          <a:xfrm>
            <a:off x="3474720" y="3291840"/>
            <a:ext cx="182880" cy="137160"/>
          </a:xfrm>
          <a:prstGeom prst="rect">
            <a:avLst/>
          </a:prstGeom>
          <a:solidFill>
            <a:srgbClr val="3880F3"/>
          </a:solidFill>
          <a:ln/>
        </p:spPr>
      </p:sp>
      <p:sp>
        <p:nvSpPr>
          <p:cNvPr id="15" name="Text 11"/>
          <p:cNvSpPr/>
          <p:nvPr/>
        </p:nvSpPr>
        <p:spPr>
          <a:xfrm>
            <a:off x="37033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Corenucopia</a:t>
            </a:r>
            <a:endParaRPr lang="en-US" sz="700" dirty="0"/>
          </a:p>
        </p:txBody>
      </p:sp>
      <p:sp>
        <p:nvSpPr>
          <p:cNvPr id="16" name="Shape 12"/>
          <p:cNvSpPr/>
          <p:nvPr/>
        </p:nvSpPr>
        <p:spPr>
          <a:xfrm>
            <a:off x="4846320" y="3291840"/>
            <a:ext cx="182880" cy="137160"/>
          </a:xfrm>
          <a:prstGeom prst="rect">
            <a:avLst/>
          </a:prstGeom>
          <a:solidFill>
            <a:srgbClr val="D4A843"/>
          </a:solidFill>
          <a:ln/>
        </p:spPr>
      </p:sp>
      <p:sp>
        <p:nvSpPr>
          <p:cNvPr id="17" name="Text 13"/>
          <p:cNvSpPr/>
          <p:nvPr/>
        </p:nvSpPr>
        <p:spPr>
          <a:xfrm>
            <a:off x="50749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Both</a:t>
            </a:r>
            <a:endParaRPr lang="en-US" sz="700" dirty="0"/>
          </a:p>
        </p:txBody>
      </p:sp>
      <p:sp>
        <p:nvSpPr>
          <p:cNvPr id="18" name="Shape 14"/>
          <p:cNvSpPr/>
          <p:nvPr/>
        </p:nvSpPr>
        <p:spPr>
          <a:xfrm>
            <a:off x="6217920" y="3291840"/>
            <a:ext cx="182880" cy="137160"/>
          </a:xfrm>
          <a:prstGeom prst="rect">
            <a:avLst/>
          </a:prstGeom>
          <a:solidFill>
            <a:srgbClr val="8B3A0F"/>
          </a:solidFill>
          <a:ln/>
        </p:spPr>
      </p:sp>
      <p:sp>
        <p:nvSpPr>
          <p:cNvPr id="19" name="Text 15"/>
          <p:cNvSpPr/>
          <p:nvPr/>
        </p:nvSpPr>
        <p:spPr>
          <a:xfrm>
            <a:off x="64465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Home</a:t>
            </a:r>
            <a:endParaRPr lang="en-US" sz="700" dirty="0"/>
          </a:p>
        </p:txBody>
      </p:sp>
      <p:sp>
        <p:nvSpPr>
          <p:cNvPr id="20" name="Shape 16"/>
          <p:cNvSpPr/>
          <p:nvPr/>
        </p:nvSpPr>
        <p:spPr>
          <a:xfrm>
            <a:off x="7589520" y="3291840"/>
            <a:ext cx="182880" cy="137160"/>
          </a:xfrm>
          <a:prstGeom prst="rect">
            <a:avLst/>
          </a:prstGeom>
          <a:solidFill>
            <a:srgbClr val="E5E1DB"/>
          </a:solidFill>
          <a:ln/>
        </p:spPr>
      </p:sp>
      <p:sp>
        <p:nvSpPr>
          <p:cNvPr id="21" name="Text 17"/>
          <p:cNvSpPr/>
          <p:nvPr/>
        </p:nvSpPr>
        <p:spPr>
          <a:xfrm>
            <a:off x="7818120" y="3264408"/>
            <a:ext cx="1005840" cy="182880"/>
          </a:xfrm>
          <a:prstGeom prst="rect">
            <a:avLst/>
          </a:prstGeom>
          <a:noFill/>
          <a:ln/>
        </p:spPr>
        <p:txBody>
          <a:bodyPr wrap="square" lIns="0" tIns="0" rIns="0" bIns="0" rtlCol="0" anchor="ctr"/>
          <a:lstStyle/>
          <a:p>
            <a:pPr indent="0" marL="0">
              <a:buNone/>
            </a:pPr>
            <a:r>
              <a:rPr lang="en-US" sz="700" dirty="0">
                <a:solidFill>
                  <a:srgbClr val="A09888"/>
                </a:solidFill>
                <a:latin typeface="Consolas" pitchFamily="34" charset="0"/>
                <a:ea typeface="Consolas" pitchFamily="34" charset="-122"/>
                <a:cs typeface="Consolas" pitchFamily="34" charset="-120"/>
              </a:rPr>
              <a:t>N/A</a:t>
            </a:r>
            <a:endParaRPr lang="en-US" sz="700" dirty="0"/>
          </a:p>
        </p:txBody>
      </p:sp>
      <p:sp>
        <p:nvSpPr>
          <p:cNvPr id="22" name="Shape 18"/>
          <p:cNvSpPr/>
          <p:nvPr/>
        </p:nvSpPr>
        <p:spPr>
          <a:xfrm>
            <a:off x="457200" y="3611880"/>
            <a:ext cx="8229600" cy="777240"/>
          </a:xfrm>
          <a:prstGeom prst="rect">
            <a:avLst/>
          </a:prstGeom>
          <a:solidFill>
            <a:srgbClr val="FFFEF9"/>
          </a:solidFill>
          <a:ln/>
          <a:effectLst>
            <a:outerShdw sx="100000" sy="100000" kx="0" ky="0" algn="bl" rotWithShape="0" blurRad="50800" dist="25400" dir="8100000">
              <a:srgbClr val="000000">
                <a:alpha val="8000"/>
              </a:srgbClr>
            </a:outerShdw>
          </a:effectLst>
        </p:spPr>
      </p:sp>
      <p:sp>
        <p:nvSpPr>
          <p:cNvPr id="23" name="Text 19"/>
          <p:cNvSpPr/>
          <p:nvPr/>
        </p:nvSpPr>
        <p:spPr>
          <a:xfrm>
            <a:off x="640080" y="3657600"/>
            <a:ext cx="7863840" cy="685800"/>
          </a:xfrm>
          <a:prstGeom prst="rect">
            <a:avLst/>
          </a:prstGeom>
          <a:noFill/>
          <a:ln/>
        </p:spPr>
        <p:txBody>
          <a:bodyPr wrap="square" rtlCol="0" anchor="ctr"/>
          <a:lstStyle/>
          <a:p>
            <a:pPr indent="0" marL="0">
              <a:lnSpc>
                <a:spcPct val="135000"/>
              </a:lnSpc>
              <a:buNone/>
            </a:pPr>
            <a:r>
              <a:rPr lang="en-US" sz="1050" dirty="0">
                <a:solidFill>
                  <a:srgbClr val="1A1816"/>
                </a:solidFill>
                <a:latin typeface="Calibri" pitchFamily="34" charset="0"/>
                <a:ea typeface="Calibri" pitchFamily="34" charset="-122"/>
                <a:cs typeface="Calibri" pitchFamily="34" charset="-120"/>
              </a:rPr>
              <a:t>Dining behavior is identical: 100% RGR on every scheduled visit in both baseline and treatment. The star loss, Corenucopia opening, and chef's table created no behavioral change whatsoever. But the survey data tells a different story — confidence dipped to 7, curiosity rose to 5. The feelings shifted even though the behavior didn't. That's the buffer of identity-level connection.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816"/>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3200" b="1" dirty="0">
                <a:solidFill>
                  <a:srgbClr val="F5F1EB"/>
                </a:solidFill>
                <a:latin typeface="Georgia" pitchFamily="34" charset="0"/>
                <a:ea typeface="Georgia" pitchFamily="34" charset="-122"/>
                <a:cs typeface="Georgia" pitchFamily="34" charset="-120"/>
              </a:rPr>
              <a:t>The Chef's Table</a:t>
            </a:r>
            <a:endParaRPr lang="en-US" sz="3200" dirty="0"/>
          </a:p>
        </p:txBody>
      </p:sp>
      <p:sp>
        <p:nvSpPr>
          <p:cNvPr id="3" name="Text 1"/>
          <p:cNvSpPr/>
          <p:nvPr/>
        </p:nvSpPr>
        <p:spPr>
          <a:xfrm>
            <a:off x="731520" y="914400"/>
            <a:ext cx="7315200" cy="365760"/>
          </a:xfrm>
          <a:prstGeom prst="rect">
            <a:avLst/>
          </a:prstGeom>
          <a:noFill/>
          <a:ln/>
        </p:spPr>
        <p:txBody>
          <a:bodyPr wrap="square" rtlCol="0" anchor="ctr"/>
          <a:lstStyle/>
          <a:p>
            <a:pPr indent="0" marL="0">
              <a:buNone/>
            </a:pPr>
            <a:r>
              <a:rPr lang="en-US" sz="1600" i="1" dirty="0">
                <a:solidFill>
                  <a:srgbClr val="D4A843"/>
                </a:solidFill>
                <a:latin typeface="Calibri" pitchFamily="34" charset="0"/>
                <a:ea typeface="Calibri" pitchFamily="34" charset="-122"/>
                <a:cs typeface="Calibri" pitchFamily="34" charset="-120"/>
              </a:rPr>
              <a:t>One intervention. Five completely different mechanisms.</a:t>
            </a:r>
            <a:endParaRPr lang="en-US" sz="1600" dirty="0"/>
          </a:p>
        </p:txBody>
      </p:sp>
      <p:sp>
        <p:nvSpPr>
          <p:cNvPr id="4" name="Shape 2"/>
          <p:cNvSpPr/>
          <p:nvPr/>
        </p:nvSpPr>
        <p:spPr>
          <a:xfrm>
            <a:off x="731520" y="1508760"/>
            <a:ext cx="73152" cy="347472"/>
          </a:xfrm>
          <a:prstGeom prst="rect">
            <a:avLst/>
          </a:prstGeom>
          <a:solidFill>
            <a:srgbClr val="5B2C8F"/>
          </a:solidFill>
          <a:ln/>
        </p:spPr>
      </p:sp>
      <p:sp>
        <p:nvSpPr>
          <p:cNvPr id="5" name="Text 3"/>
          <p:cNvSpPr/>
          <p:nvPr/>
        </p:nvSpPr>
        <p:spPr>
          <a:xfrm>
            <a:off x="1005840" y="1508760"/>
            <a:ext cx="2011680" cy="182880"/>
          </a:xfrm>
          <a:prstGeom prst="rect">
            <a:avLst/>
          </a:prstGeom>
          <a:noFill/>
          <a:ln/>
        </p:spPr>
        <p:txBody>
          <a:bodyPr wrap="square" lIns="0" tIns="0" rIns="0" bIns="0" rtlCol="0" anchor="ctr"/>
          <a:lstStyle/>
          <a:p>
            <a:pPr indent="0" marL="0">
              <a:buNone/>
            </a:pPr>
            <a:r>
              <a:rPr lang="en-US" sz="1100" b="1" dirty="0">
                <a:solidFill>
                  <a:srgbClr val="F5F1EB"/>
                </a:solidFill>
                <a:latin typeface="Georgia" pitchFamily="34" charset="0"/>
                <a:ea typeface="Georgia" pitchFamily="34" charset="-122"/>
                <a:cs typeface="Georgia" pitchFamily="34" charset="-120"/>
              </a:rPr>
              <a:t>Sophie &amp; James</a:t>
            </a:r>
            <a:endParaRPr lang="en-US" sz="1100" dirty="0"/>
          </a:p>
        </p:txBody>
      </p:sp>
      <p:sp>
        <p:nvSpPr>
          <p:cNvPr id="6" name="Text 4"/>
          <p:cNvSpPr/>
          <p:nvPr/>
        </p:nvSpPr>
        <p:spPr>
          <a:xfrm>
            <a:off x="1005840" y="1673352"/>
            <a:ext cx="2011680" cy="164592"/>
          </a:xfrm>
          <a:prstGeom prst="rect">
            <a:avLst/>
          </a:prstGeom>
          <a:noFill/>
          <a:ln/>
        </p:spPr>
        <p:txBody>
          <a:bodyPr wrap="square" lIns="0" tIns="0" rIns="0" bIns="0" rtlCol="0" anchor="ctr"/>
          <a:lstStyle/>
          <a:p>
            <a:pPr indent="0" marL="0">
              <a:buNone/>
            </a:pPr>
            <a:r>
              <a:rPr lang="en-US" sz="800" dirty="0">
                <a:solidFill>
                  <a:srgbClr val="5B2C8F"/>
                </a:solidFill>
                <a:latin typeface="Consolas" pitchFamily="34" charset="0"/>
                <a:ea typeface="Consolas" pitchFamily="34" charset="-122"/>
                <a:cs typeface="Consolas" pitchFamily="34" charset="-120"/>
              </a:rPr>
              <a:t>Deepened identity</a:t>
            </a:r>
            <a:endParaRPr lang="en-US" sz="800" dirty="0"/>
          </a:p>
        </p:txBody>
      </p:sp>
      <p:sp>
        <p:nvSpPr>
          <p:cNvPr id="7" name="Text 5"/>
          <p:cNvSpPr/>
          <p:nvPr/>
        </p:nvSpPr>
        <p:spPr>
          <a:xfrm>
            <a:off x="3291840" y="1508760"/>
            <a:ext cx="5486400" cy="365760"/>
          </a:xfrm>
          <a:prstGeom prst="rect">
            <a:avLst/>
          </a:prstGeom>
          <a:noFill/>
          <a:ln/>
        </p:spPr>
        <p:txBody>
          <a:bodyPr wrap="square" rtlCol="0" anchor="ctr"/>
          <a:lstStyle/>
          <a:p>
            <a:pPr indent="0" marL="0">
              <a:buNone/>
            </a:pPr>
            <a:r>
              <a:rPr lang="en-US" sz="1000" dirty="0">
                <a:solidFill>
                  <a:srgbClr val="A09888"/>
                </a:solidFill>
                <a:latin typeface="Calibri" pitchFamily="34" charset="0"/>
                <a:ea typeface="Calibri" pitchFamily="34" charset="-122"/>
                <a:cs typeface="Calibri" pitchFamily="34" charset="-120"/>
              </a:rPr>
              <a:t>It worked — but she noticed it working.</a:t>
            </a:r>
            <a:endParaRPr lang="en-US" sz="1000" dirty="0"/>
          </a:p>
        </p:txBody>
      </p:sp>
      <p:sp>
        <p:nvSpPr>
          <p:cNvPr id="8" name="Shape 6"/>
          <p:cNvSpPr/>
          <p:nvPr/>
        </p:nvSpPr>
        <p:spPr>
          <a:xfrm>
            <a:off x="731520" y="2011680"/>
            <a:ext cx="73152" cy="347472"/>
          </a:xfrm>
          <a:prstGeom prst="rect">
            <a:avLst/>
          </a:prstGeom>
          <a:solidFill>
            <a:srgbClr val="D4A843"/>
          </a:solidFill>
          <a:ln/>
        </p:spPr>
      </p:sp>
      <p:sp>
        <p:nvSpPr>
          <p:cNvPr id="9" name="Text 7"/>
          <p:cNvSpPr/>
          <p:nvPr/>
        </p:nvSpPr>
        <p:spPr>
          <a:xfrm>
            <a:off x="1005840" y="2011680"/>
            <a:ext cx="2011680" cy="182880"/>
          </a:xfrm>
          <a:prstGeom prst="rect">
            <a:avLst/>
          </a:prstGeom>
          <a:noFill/>
          <a:ln/>
        </p:spPr>
        <p:txBody>
          <a:bodyPr wrap="square" lIns="0" tIns="0" rIns="0" bIns="0" rtlCol="0" anchor="ctr"/>
          <a:lstStyle/>
          <a:p>
            <a:pPr indent="0" marL="0">
              <a:buNone/>
            </a:pPr>
            <a:r>
              <a:rPr lang="en-US" sz="1100" b="1" dirty="0">
                <a:solidFill>
                  <a:srgbClr val="F5F1EB"/>
                </a:solidFill>
                <a:latin typeface="Georgia" pitchFamily="34" charset="0"/>
                <a:ea typeface="Georgia" pitchFamily="34" charset="-122"/>
                <a:cs typeface="Georgia" pitchFamily="34" charset="-120"/>
              </a:rPr>
              <a:t>Chet &amp; Charlotte</a:t>
            </a:r>
            <a:endParaRPr lang="en-US" sz="1100" dirty="0"/>
          </a:p>
        </p:txBody>
      </p:sp>
      <p:sp>
        <p:nvSpPr>
          <p:cNvPr id="10" name="Text 8"/>
          <p:cNvSpPr/>
          <p:nvPr/>
        </p:nvSpPr>
        <p:spPr>
          <a:xfrm>
            <a:off x="1005840" y="2176272"/>
            <a:ext cx="2011680" cy="164592"/>
          </a:xfrm>
          <a:prstGeom prst="rect">
            <a:avLst/>
          </a:prstGeom>
          <a:noFill/>
          <a:ln/>
        </p:spPr>
        <p:txBody>
          <a:bodyPr wrap="square" lIns="0" tIns="0" rIns="0" bIns="0" rtlCol="0" anchor="ctr"/>
          <a:lstStyle/>
          <a:p>
            <a:pPr indent="0" marL="0">
              <a:buNone/>
            </a:pPr>
            <a:r>
              <a:rPr lang="en-US" sz="800" dirty="0">
                <a:solidFill>
                  <a:srgbClr val="D4A843"/>
                </a:solidFill>
                <a:latin typeface="Consolas" pitchFamily="34" charset="0"/>
                <a:ea typeface="Consolas" pitchFamily="34" charset="-122"/>
                <a:cs typeface="Consolas" pitchFamily="34" charset="-120"/>
              </a:rPr>
              <a:t>Restored confidence</a:t>
            </a:r>
            <a:endParaRPr lang="en-US" sz="800" dirty="0"/>
          </a:p>
        </p:txBody>
      </p:sp>
      <p:sp>
        <p:nvSpPr>
          <p:cNvPr id="11" name="Text 9"/>
          <p:cNvSpPr/>
          <p:nvPr/>
        </p:nvSpPr>
        <p:spPr>
          <a:xfrm>
            <a:off x="3291840" y="2011680"/>
            <a:ext cx="5486400" cy="365760"/>
          </a:xfrm>
          <a:prstGeom prst="rect">
            <a:avLst/>
          </a:prstGeom>
          <a:noFill/>
          <a:ln/>
        </p:spPr>
        <p:txBody>
          <a:bodyPr wrap="square" rtlCol="0" anchor="ctr"/>
          <a:lstStyle/>
          <a:p>
            <a:pPr indent="0" marL="0">
              <a:buNone/>
            </a:pPr>
            <a:r>
              <a:rPr lang="en-US" sz="1000" dirty="0">
                <a:solidFill>
                  <a:srgbClr val="A09888"/>
                </a:solidFill>
                <a:latin typeface="Calibri" pitchFamily="34" charset="0"/>
                <a:ea typeface="Calibri" pitchFamily="34" charset="-122"/>
                <a:cs typeface="Calibri" pitchFamily="34" charset="-120"/>
              </a:rPr>
              <a:t>Couldn't attend, but being contacted was the signal.</a:t>
            </a:r>
            <a:endParaRPr lang="en-US" sz="1000" dirty="0"/>
          </a:p>
        </p:txBody>
      </p:sp>
      <p:sp>
        <p:nvSpPr>
          <p:cNvPr id="12" name="Shape 10"/>
          <p:cNvSpPr/>
          <p:nvPr/>
        </p:nvSpPr>
        <p:spPr>
          <a:xfrm>
            <a:off x="731520" y="2514600"/>
            <a:ext cx="73152" cy="347472"/>
          </a:xfrm>
          <a:prstGeom prst="rect">
            <a:avLst/>
          </a:prstGeom>
          <a:solidFill>
            <a:srgbClr val="3880F3"/>
          </a:solidFill>
          <a:ln/>
        </p:spPr>
      </p:sp>
      <p:sp>
        <p:nvSpPr>
          <p:cNvPr id="13" name="Text 11"/>
          <p:cNvSpPr/>
          <p:nvPr/>
        </p:nvSpPr>
        <p:spPr>
          <a:xfrm>
            <a:off x="1005840" y="2514600"/>
            <a:ext cx="2011680" cy="182880"/>
          </a:xfrm>
          <a:prstGeom prst="rect">
            <a:avLst/>
          </a:prstGeom>
          <a:noFill/>
          <a:ln/>
        </p:spPr>
        <p:txBody>
          <a:bodyPr wrap="square" lIns="0" tIns="0" rIns="0" bIns="0" rtlCol="0" anchor="ctr"/>
          <a:lstStyle/>
          <a:p>
            <a:pPr indent="0" marL="0">
              <a:buNone/>
            </a:pPr>
            <a:r>
              <a:rPr lang="en-US" sz="1100" b="1" dirty="0">
                <a:solidFill>
                  <a:srgbClr val="F5F1EB"/>
                </a:solidFill>
                <a:latin typeface="Georgia" pitchFamily="34" charset="0"/>
                <a:ea typeface="Georgia" pitchFamily="34" charset="-122"/>
                <a:cs typeface="Georgia" pitchFamily="34" charset="-120"/>
              </a:rPr>
              <a:t>Priya</a:t>
            </a:r>
            <a:endParaRPr lang="en-US" sz="1100" dirty="0"/>
          </a:p>
        </p:txBody>
      </p:sp>
      <p:sp>
        <p:nvSpPr>
          <p:cNvPr id="14" name="Text 12"/>
          <p:cNvSpPr/>
          <p:nvPr/>
        </p:nvSpPr>
        <p:spPr>
          <a:xfrm>
            <a:off x="1005840" y="2679192"/>
            <a:ext cx="2011680" cy="164592"/>
          </a:xfrm>
          <a:prstGeom prst="rect">
            <a:avLst/>
          </a:prstGeom>
          <a:noFill/>
          <a:ln/>
        </p:spPr>
        <p:txBody>
          <a:bodyPr wrap="square" lIns="0" tIns="0" rIns="0" bIns="0" rtlCol="0" anchor="ctr"/>
          <a:lstStyle/>
          <a:p>
            <a:pPr indent="0" marL="0">
              <a:buNone/>
            </a:pPr>
            <a:r>
              <a:rPr lang="en-US" sz="800" dirty="0">
                <a:solidFill>
                  <a:srgbClr val="3880F3"/>
                </a:solidFill>
                <a:latin typeface="Consolas" pitchFamily="34" charset="0"/>
                <a:ea typeface="Consolas" pitchFamily="34" charset="-122"/>
                <a:cs typeface="Consolas" pitchFamily="34" charset="-120"/>
              </a:rPr>
              <a:t>Confirmed craft</a:t>
            </a:r>
            <a:endParaRPr lang="en-US" sz="800" dirty="0"/>
          </a:p>
        </p:txBody>
      </p:sp>
      <p:sp>
        <p:nvSpPr>
          <p:cNvPr id="15" name="Text 13"/>
          <p:cNvSpPr/>
          <p:nvPr/>
        </p:nvSpPr>
        <p:spPr>
          <a:xfrm>
            <a:off x="3291840" y="2514600"/>
            <a:ext cx="5486400" cy="365760"/>
          </a:xfrm>
          <a:prstGeom prst="rect">
            <a:avLst/>
          </a:prstGeom>
          <a:noFill/>
          <a:ln/>
        </p:spPr>
        <p:txBody>
          <a:bodyPr wrap="square" rtlCol="0" anchor="ctr"/>
          <a:lstStyle/>
          <a:p>
            <a:pPr indent="0" marL="0">
              <a:buNone/>
            </a:pPr>
            <a:r>
              <a:rPr lang="en-US" sz="1000" dirty="0">
                <a:solidFill>
                  <a:srgbClr val="A09888"/>
                </a:solidFill>
                <a:latin typeface="Calibri" pitchFamily="34" charset="0"/>
                <a:ea typeface="Calibri" pitchFamily="34" charset="-122"/>
                <a:cs typeface="Calibri" pitchFamily="34" charset="-120"/>
              </a:rPr>
              <a:t>100% attendance. Respect deepened. Still went to Core next month.</a:t>
            </a:r>
            <a:endParaRPr lang="en-US" sz="1000" dirty="0"/>
          </a:p>
        </p:txBody>
      </p:sp>
      <p:sp>
        <p:nvSpPr>
          <p:cNvPr id="16" name="Shape 14"/>
          <p:cNvSpPr/>
          <p:nvPr/>
        </p:nvSpPr>
        <p:spPr>
          <a:xfrm>
            <a:off x="731520" y="3017520"/>
            <a:ext cx="73152" cy="347472"/>
          </a:xfrm>
          <a:prstGeom prst="rect">
            <a:avLst/>
          </a:prstGeom>
          <a:solidFill>
            <a:srgbClr val="2D6A4F"/>
          </a:solidFill>
          <a:ln/>
        </p:spPr>
      </p:sp>
      <p:sp>
        <p:nvSpPr>
          <p:cNvPr id="17" name="Text 15"/>
          <p:cNvSpPr/>
          <p:nvPr/>
        </p:nvSpPr>
        <p:spPr>
          <a:xfrm>
            <a:off x="1005840" y="3017520"/>
            <a:ext cx="2011680" cy="182880"/>
          </a:xfrm>
          <a:prstGeom prst="rect">
            <a:avLst/>
          </a:prstGeom>
          <a:noFill/>
          <a:ln/>
        </p:spPr>
        <p:txBody>
          <a:bodyPr wrap="square" lIns="0" tIns="0" rIns="0" bIns="0" rtlCol="0" anchor="ctr"/>
          <a:lstStyle/>
          <a:p>
            <a:pPr indent="0" marL="0">
              <a:buNone/>
            </a:pPr>
            <a:r>
              <a:rPr lang="en-US" sz="1100" b="1" dirty="0">
                <a:solidFill>
                  <a:srgbClr val="F5F1EB"/>
                </a:solidFill>
                <a:latin typeface="Georgia" pitchFamily="34" charset="0"/>
                <a:ea typeface="Georgia" pitchFamily="34" charset="-122"/>
                <a:cs typeface="Georgia" pitchFamily="34" charset="-120"/>
              </a:rPr>
              <a:t>Richard</a:t>
            </a:r>
            <a:endParaRPr lang="en-US" sz="1100" dirty="0"/>
          </a:p>
        </p:txBody>
      </p:sp>
      <p:sp>
        <p:nvSpPr>
          <p:cNvPr id="18" name="Text 16"/>
          <p:cNvSpPr/>
          <p:nvPr/>
        </p:nvSpPr>
        <p:spPr>
          <a:xfrm>
            <a:off x="1005840" y="3182112"/>
            <a:ext cx="2011680" cy="164592"/>
          </a:xfrm>
          <a:prstGeom prst="rect">
            <a:avLst/>
          </a:prstGeom>
          <a:noFill/>
          <a:ln/>
        </p:spPr>
        <p:txBody>
          <a:bodyPr wrap="square" lIns="0" tIns="0" rIns="0" bIns="0" rtlCol="0" anchor="ctr"/>
          <a:lstStyle/>
          <a:p>
            <a:pPr indent="0" marL="0">
              <a:buNone/>
            </a:pPr>
            <a:r>
              <a:rPr lang="en-US" sz="800" dirty="0">
                <a:solidFill>
                  <a:srgbClr val="2D6A4F"/>
                </a:solidFill>
                <a:latin typeface="Consolas" pitchFamily="34" charset="0"/>
                <a:ea typeface="Consolas" pitchFamily="34" charset="-122"/>
                <a:cs typeface="Consolas" pitchFamily="34" charset="-120"/>
              </a:rPr>
              <a:t>One-month narrative asset</a:t>
            </a:r>
            <a:endParaRPr lang="en-US" sz="800" dirty="0"/>
          </a:p>
        </p:txBody>
      </p:sp>
      <p:sp>
        <p:nvSpPr>
          <p:cNvPr id="19" name="Text 17"/>
          <p:cNvSpPr/>
          <p:nvPr/>
        </p:nvSpPr>
        <p:spPr>
          <a:xfrm>
            <a:off x="3291840" y="3017520"/>
            <a:ext cx="5486400" cy="365760"/>
          </a:xfrm>
          <a:prstGeom prst="rect">
            <a:avLst/>
          </a:prstGeom>
          <a:noFill/>
          <a:ln/>
        </p:spPr>
        <p:txBody>
          <a:bodyPr wrap="square" rtlCol="0" anchor="ctr"/>
          <a:lstStyle/>
          <a:p>
            <a:pPr indent="0" marL="0">
              <a:buNone/>
            </a:pPr>
            <a:r>
              <a:rPr lang="en-US" sz="1000" dirty="0">
                <a:solidFill>
                  <a:srgbClr val="A09888"/>
                </a:solidFill>
                <a:latin typeface="Calibri" pitchFamily="34" charset="0"/>
                <a:ea typeface="Calibri" pitchFamily="34" charset="-122"/>
                <a:cs typeface="Calibri" pitchFamily="34" charset="-120"/>
              </a:rPr>
              <a:t>Mentioned it to three clients before the event. Reverted to type.</a:t>
            </a:r>
            <a:endParaRPr lang="en-US" sz="1000" dirty="0"/>
          </a:p>
        </p:txBody>
      </p:sp>
      <p:sp>
        <p:nvSpPr>
          <p:cNvPr id="20" name="Shape 18"/>
          <p:cNvSpPr/>
          <p:nvPr/>
        </p:nvSpPr>
        <p:spPr>
          <a:xfrm>
            <a:off x="731520" y="3520440"/>
            <a:ext cx="73152" cy="347472"/>
          </a:xfrm>
          <a:prstGeom prst="rect">
            <a:avLst/>
          </a:prstGeom>
          <a:solidFill>
            <a:srgbClr val="8B3A0F"/>
          </a:solidFill>
          <a:ln/>
        </p:spPr>
      </p:sp>
      <p:sp>
        <p:nvSpPr>
          <p:cNvPr id="21" name="Text 19"/>
          <p:cNvSpPr/>
          <p:nvPr/>
        </p:nvSpPr>
        <p:spPr>
          <a:xfrm>
            <a:off x="1005840" y="3520440"/>
            <a:ext cx="2011680" cy="182880"/>
          </a:xfrm>
          <a:prstGeom prst="rect">
            <a:avLst/>
          </a:prstGeom>
          <a:noFill/>
          <a:ln/>
        </p:spPr>
        <p:txBody>
          <a:bodyPr wrap="square" lIns="0" tIns="0" rIns="0" bIns="0" rtlCol="0" anchor="ctr"/>
          <a:lstStyle/>
          <a:p>
            <a:pPr indent="0" marL="0">
              <a:buNone/>
            </a:pPr>
            <a:r>
              <a:rPr lang="en-US" sz="1100" b="1" dirty="0">
                <a:solidFill>
                  <a:srgbClr val="F5F1EB"/>
                </a:solidFill>
                <a:latin typeface="Georgia" pitchFamily="34" charset="0"/>
                <a:ea typeface="Georgia" pitchFamily="34" charset="-122"/>
                <a:cs typeface="Georgia" pitchFamily="34" charset="-120"/>
              </a:rPr>
              <a:t>Marcus</a:t>
            </a:r>
            <a:endParaRPr lang="en-US" sz="1100" dirty="0"/>
          </a:p>
        </p:txBody>
      </p:sp>
      <p:sp>
        <p:nvSpPr>
          <p:cNvPr id="22" name="Text 20"/>
          <p:cNvSpPr/>
          <p:nvPr/>
        </p:nvSpPr>
        <p:spPr>
          <a:xfrm>
            <a:off x="1005840" y="3685032"/>
            <a:ext cx="2011680" cy="164592"/>
          </a:xfrm>
          <a:prstGeom prst="rect">
            <a:avLst/>
          </a:prstGeom>
          <a:noFill/>
          <a:ln/>
        </p:spPr>
        <p:txBody>
          <a:bodyPr wrap="square" lIns="0" tIns="0" rIns="0" bIns="0" rtlCol="0" anchor="ctr"/>
          <a:lstStyle/>
          <a:p>
            <a:pPr indent="0" marL="0">
              <a:buNone/>
            </a:pPr>
            <a:r>
              <a:rPr lang="en-US" sz="800" dirty="0">
                <a:solidFill>
                  <a:srgbClr val="8B3A0F"/>
                </a:solidFill>
                <a:latin typeface="Consolas" pitchFamily="34" charset="0"/>
                <a:ea typeface="Consolas" pitchFamily="34" charset="-122"/>
                <a:cs typeface="Consolas" pitchFamily="34" charset="-120"/>
              </a:rPr>
              <a:t>Showed up, didn't stick</a:t>
            </a:r>
            <a:endParaRPr lang="en-US" sz="800" dirty="0"/>
          </a:p>
        </p:txBody>
      </p:sp>
      <p:sp>
        <p:nvSpPr>
          <p:cNvPr id="23" name="Text 21"/>
          <p:cNvSpPr/>
          <p:nvPr/>
        </p:nvSpPr>
        <p:spPr>
          <a:xfrm>
            <a:off x="3291840" y="3520440"/>
            <a:ext cx="5486400" cy="365760"/>
          </a:xfrm>
          <a:prstGeom prst="rect">
            <a:avLst/>
          </a:prstGeom>
          <a:noFill/>
          <a:ln/>
        </p:spPr>
        <p:txBody>
          <a:bodyPr wrap="square" rtlCol="0" anchor="ctr"/>
          <a:lstStyle/>
          <a:p>
            <a:pPr indent="0" marL="0">
              <a:buNone/>
            </a:pPr>
            <a:r>
              <a:rPr lang="en-US" sz="1000" dirty="0">
                <a:solidFill>
                  <a:srgbClr val="A09888"/>
                </a:solidFill>
                <a:latin typeface="Calibri" pitchFamily="34" charset="0"/>
                <a:ea typeface="Calibri" pitchFamily="34" charset="-122"/>
                <a:cs typeface="Calibri" pitchFamily="34" charset="-120"/>
              </a:rPr>
              <a:t>90% attended. Back to the couch by M9.</a:t>
            </a:r>
            <a:endParaRPr lang="en-US" sz="1000" dirty="0"/>
          </a:p>
        </p:txBody>
      </p:sp>
      <p:sp>
        <p:nvSpPr>
          <p:cNvPr id="24" name="Shape 22"/>
          <p:cNvSpPr/>
          <p:nvPr/>
        </p:nvSpPr>
        <p:spPr>
          <a:xfrm>
            <a:off x="731520" y="4160520"/>
            <a:ext cx="7680960" cy="640080"/>
          </a:xfrm>
          <a:prstGeom prst="rect">
            <a:avLst/>
          </a:prstGeom>
          <a:solidFill>
            <a:srgbClr val="2D6A4F"/>
          </a:solidFill>
          <a:ln/>
        </p:spPr>
      </p:sp>
      <p:sp>
        <p:nvSpPr>
          <p:cNvPr id="25" name="Text 23"/>
          <p:cNvSpPr/>
          <p:nvPr/>
        </p:nvSpPr>
        <p:spPr>
          <a:xfrm>
            <a:off x="914400" y="4206240"/>
            <a:ext cx="7315200" cy="548640"/>
          </a:xfrm>
          <a:prstGeom prst="rect">
            <a:avLst/>
          </a:prstGeom>
          <a:noFill/>
          <a:ln/>
        </p:spPr>
        <p:txBody>
          <a:bodyPr wrap="square" rtlCol="0" anchor="ctr"/>
          <a:lstStyle/>
          <a:p>
            <a:pPr indent="0" marL="0">
              <a:lnSpc>
                <a:spcPct val="130000"/>
              </a:lnSpc>
              <a:buNone/>
            </a:pPr>
            <a:r>
              <a:rPr lang="en-US" sz="1100" i="1" dirty="0">
                <a:solidFill>
                  <a:srgbClr val="F5F1EB"/>
                </a:solidFill>
                <a:latin typeface="Calibri" pitchFamily="34" charset="0"/>
                <a:ea typeface="Calibri" pitchFamily="34" charset="-122"/>
                <a:cs typeface="Calibri" pitchFamily="34" charset="-120"/>
              </a:rPr>
              <a:t>Events get people in the room. But if there's nothing underneath — no emotional connection, no identity attachment, no craft appreciation — one visit doesn't create it. The visit just confirms what was already there or wasn't.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3200" b="1" dirty="0">
                <a:solidFill>
                  <a:srgbClr val="1A1816"/>
                </a:solidFill>
                <a:latin typeface="Georgia" pitchFamily="34" charset="0"/>
                <a:ea typeface="Georgia" pitchFamily="34" charset="-122"/>
                <a:cs typeface="Georgia" pitchFamily="34" charset="-120"/>
              </a:rPr>
              <a:t>What We Learned</a:t>
            </a:r>
            <a:endParaRPr lang="en-US" sz="3200" dirty="0"/>
          </a:p>
        </p:txBody>
      </p:sp>
      <p:sp>
        <p:nvSpPr>
          <p:cNvPr id="3" name="Shape 1"/>
          <p:cNvSpPr/>
          <p:nvPr/>
        </p:nvSpPr>
        <p:spPr>
          <a:xfrm>
            <a:off x="731520" y="1097280"/>
            <a:ext cx="73152" cy="777240"/>
          </a:xfrm>
          <a:prstGeom prst="rect">
            <a:avLst/>
          </a:prstGeom>
          <a:solidFill>
            <a:srgbClr val="2D6A4F"/>
          </a:solidFill>
          <a:ln/>
        </p:spPr>
      </p:sp>
      <p:sp>
        <p:nvSpPr>
          <p:cNvPr id="4" name="Text 2"/>
          <p:cNvSpPr/>
          <p:nvPr/>
        </p:nvSpPr>
        <p:spPr>
          <a:xfrm>
            <a:off x="1005840" y="1097280"/>
            <a:ext cx="7315200" cy="274320"/>
          </a:xfrm>
          <a:prstGeom prst="rect">
            <a:avLst/>
          </a:prstGeom>
          <a:noFill/>
          <a:ln/>
        </p:spPr>
        <p:txBody>
          <a:bodyPr wrap="square" lIns="0" tIns="0" rIns="0" bIns="0" rtlCol="0" anchor="ctr"/>
          <a:lstStyle/>
          <a:p>
            <a:pPr indent="0" marL="0">
              <a:buNone/>
            </a:pPr>
            <a:r>
              <a:rPr lang="en-US" sz="1400" b="1" dirty="0">
                <a:solidFill>
                  <a:srgbClr val="1A1816"/>
                </a:solidFill>
                <a:latin typeface="Georgia" pitchFamily="34" charset="0"/>
                <a:ea typeface="Georgia" pitchFamily="34" charset="-122"/>
                <a:cs typeface="Georgia" pitchFamily="34" charset="-120"/>
              </a:rPr>
              <a:t>Loyalty isn't one thing.</a:t>
            </a:r>
            <a:endParaRPr lang="en-US" sz="1400" dirty="0"/>
          </a:p>
        </p:txBody>
      </p:sp>
      <p:sp>
        <p:nvSpPr>
          <p:cNvPr id="5" name="Text 3"/>
          <p:cNvSpPr/>
          <p:nvPr/>
        </p:nvSpPr>
        <p:spPr>
          <a:xfrm>
            <a:off x="1005840" y="1371600"/>
            <a:ext cx="7498080" cy="502920"/>
          </a:xfrm>
          <a:prstGeom prst="rect">
            <a:avLst/>
          </a:prstGeom>
          <a:noFill/>
          <a:ln/>
        </p:spPr>
        <p:txBody>
          <a:bodyPr wrap="square" lIns="0" tIns="0" rIns="0" bIns="0" rtlCol="0" anchor="ctr"/>
          <a:lstStyle/>
          <a:p>
            <a:pPr indent="0" marL="0">
              <a:lnSpc>
                <a:spcPct val="135000"/>
              </a:lnSpc>
              <a:buNone/>
            </a:pPr>
            <a:r>
              <a:rPr lang="en-US" sz="1100" dirty="0">
                <a:solidFill>
                  <a:srgbClr val="A09888"/>
                </a:solidFill>
                <a:latin typeface="Calibri" pitchFamily="34" charset="0"/>
                <a:ea typeface="Calibri" pitchFamily="34" charset="-122"/>
                <a:cs typeface="Calibri" pitchFamily="34" charset="-120"/>
              </a:rPr>
              <a:t>Richard's utility, Sophie's identity, and Marcus's inertia all looked the same before the signal changed. Measuring loyalty with a single score misses what matters.</a:t>
            </a:r>
            <a:endParaRPr lang="en-US" sz="1100" dirty="0"/>
          </a:p>
        </p:txBody>
      </p:sp>
      <p:sp>
        <p:nvSpPr>
          <p:cNvPr id="6" name="Shape 4"/>
          <p:cNvSpPr/>
          <p:nvPr/>
        </p:nvSpPr>
        <p:spPr>
          <a:xfrm>
            <a:off x="731520" y="2057400"/>
            <a:ext cx="73152" cy="777240"/>
          </a:xfrm>
          <a:prstGeom prst="rect">
            <a:avLst/>
          </a:prstGeom>
          <a:solidFill>
            <a:srgbClr val="2D6A4F"/>
          </a:solidFill>
          <a:ln/>
        </p:spPr>
      </p:sp>
      <p:sp>
        <p:nvSpPr>
          <p:cNvPr id="7" name="Text 5"/>
          <p:cNvSpPr/>
          <p:nvPr/>
        </p:nvSpPr>
        <p:spPr>
          <a:xfrm>
            <a:off x="1005840" y="2057400"/>
            <a:ext cx="7315200" cy="274320"/>
          </a:xfrm>
          <a:prstGeom prst="rect">
            <a:avLst/>
          </a:prstGeom>
          <a:noFill/>
          <a:ln/>
        </p:spPr>
        <p:txBody>
          <a:bodyPr wrap="square" lIns="0" tIns="0" rIns="0" bIns="0" rtlCol="0" anchor="ctr"/>
          <a:lstStyle/>
          <a:p>
            <a:pPr indent="0" marL="0">
              <a:buNone/>
            </a:pPr>
            <a:r>
              <a:rPr lang="en-US" sz="1400" b="1" dirty="0">
                <a:solidFill>
                  <a:srgbClr val="1A1816"/>
                </a:solidFill>
                <a:latin typeface="Georgia" pitchFamily="34" charset="0"/>
                <a:ea typeface="Georgia" pitchFamily="34" charset="-122"/>
                <a:cs typeface="Georgia" pitchFamily="34" charset="-120"/>
              </a:rPr>
              <a:t>The information environment is an independent variable.</a:t>
            </a:r>
            <a:endParaRPr lang="en-US" sz="1400" dirty="0"/>
          </a:p>
        </p:txBody>
      </p:sp>
      <p:sp>
        <p:nvSpPr>
          <p:cNvPr id="8" name="Text 6"/>
          <p:cNvSpPr/>
          <p:nvPr/>
        </p:nvSpPr>
        <p:spPr>
          <a:xfrm>
            <a:off x="1005840" y="2331720"/>
            <a:ext cx="7498080" cy="502920"/>
          </a:xfrm>
          <a:prstGeom prst="rect">
            <a:avLst/>
          </a:prstGeom>
          <a:noFill/>
          <a:ln/>
        </p:spPr>
        <p:txBody>
          <a:bodyPr wrap="square" lIns="0" tIns="0" rIns="0" bIns="0" rtlCol="0" anchor="ctr"/>
          <a:lstStyle/>
          <a:p>
            <a:pPr indent="0" marL="0">
              <a:lnSpc>
                <a:spcPct val="135000"/>
              </a:lnSpc>
              <a:buNone/>
            </a:pPr>
            <a:r>
              <a:rPr lang="en-US" sz="1100" dirty="0">
                <a:solidFill>
                  <a:srgbClr val="A09888"/>
                </a:solidFill>
                <a:latin typeface="Calibri" pitchFamily="34" charset="0"/>
                <a:ea typeface="Calibri" pitchFamily="34" charset="-122"/>
                <a:cs typeface="Calibri" pitchFamily="34" charset="-120"/>
              </a:rPr>
              <a:t>Same personas in a quiet vs. loud world produced completely different outcomes. The intervention that matters most might be how much noise your customers are swimming in.</a:t>
            </a:r>
            <a:endParaRPr lang="en-US" sz="1100" dirty="0"/>
          </a:p>
        </p:txBody>
      </p:sp>
      <p:sp>
        <p:nvSpPr>
          <p:cNvPr id="9" name="Shape 7"/>
          <p:cNvSpPr/>
          <p:nvPr/>
        </p:nvSpPr>
        <p:spPr>
          <a:xfrm>
            <a:off x="731520" y="3017520"/>
            <a:ext cx="73152" cy="777240"/>
          </a:xfrm>
          <a:prstGeom prst="rect">
            <a:avLst/>
          </a:prstGeom>
          <a:solidFill>
            <a:srgbClr val="2D6A4F"/>
          </a:solidFill>
          <a:ln/>
        </p:spPr>
      </p:sp>
      <p:sp>
        <p:nvSpPr>
          <p:cNvPr id="10" name="Text 8"/>
          <p:cNvSpPr/>
          <p:nvPr/>
        </p:nvSpPr>
        <p:spPr>
          <a:xfrm>
            <a:off x="1005840" y="3017520"/>
            <a:ext cx="7315200" cy="274320"/>
          </a:xfrm>
          <a:prstGeom prst="rect">
            <a:avLst/>
          </a:prstGeom>
          <a:noFill/>
          <a:ln/>
        </p:spPr>
        <p:txBody>
          <a:bodyPr wrap="square" lIns="0" tIns="0" rIns="0" bIns="0" rtlCol="0" anchor="ctr"/>
          <a:lstStyle/>
          <a:p>
            <a:pPr indent="0" marL="0">
              <a:buNone/>
            </a:pPr>
            <a:r>
              <a:rPr lang="en-US" sz="1400" b="1" dirty="0">
                <a:solidFill>
                  <a:srgbClr val="1A1816"/>
                </a:solidFill>
                <a:latin typeface="Georgia" pitchFamily="34" charset="0"/>
                <a:ea typeface="Georgia" pitchFamily="34" charset="-122"/>
                <a:cs typeface="Georgia" pitchFamily="34" charset="-120"/>
              </a:rPr>
              <a:t>Your foodies are your biggest competitive risk.</a:t>
            </a:r>
            <a:endParaRPr lang="en-US" sz="1400" dirty="0"/>
          </a:p>
        </p:txBody>
      </p:sp>
      <p:sp>
        <p:nvSpPr>
          <p:cNvPr id="11" name="Text 9"/>
          <p:cNvSpPr/>
          <p:nvPr/>
        </p:nvSpPr>
        <p:spPr>
          <a:xfrm>
            <a:off x="1005840" y="3291840"/>
            <a:ext cx="7498080" cy="502920"/>
          </a:xfrm>
          <a:prstGeom prst="rect">
            <a:avLst/>
          </a:prstGeom>
          <a:noFill/>
          <a:ln/>
        </p:spPr>
        <p:txBody>
          <a:bodyPr wrap="square" lIns="0" tIns="0" rIns="0" bIns="0" rtlCol="0" anchor="ctr"/>
          <a:lstStyle/>
          <a:p>
            <a:pPr indent="0" marL="0">
              <a:lnSpc>
                <a:spcPct val="135000"/>
              </a:lnSpc>
              <a:buNone/>
            </a:pPr>
            <a:r>
              <a:rPr lang="en-US" sz="1100" dirty="0">
                <a:solidFill>
                  <a:srgbClr val="A09888"/>
                </a:solidFill>
                <a:latin typeface="Calibri" pitchFamily="34" charset="0"/>
                <a:ea typeface="Calibri" pitchFamily="34" charset="-122"/>
                <a:cs typeface="Calibri" pitchFamily="34" charset="-120"/>
              </a:rPr>
              <a:t>Priya rated quality at 9 every month and still dined at competitors half the time. She didn't leave because you failed. She left because someone else got more interesting.</a:t>
            </a:r>
            <a:endParaRPr lang="en-US" sz="1100" dirty="0"/>
          </a:p>
        </p:txBody>
      </p:sp>
      <p:sp>
        <p:nvSpPr>
          <p:cNvPr id="12" name="Shape 10"/>
          <p:cNvSpPr/>
          <p:nvPr/>
        </p:nvSpPr>
        <p:spPr>
          <a:xfrm>
            <a:off x="731520" y="3977640"/>
            <a:ext cx="73152" cy="777240"/>
          </a:xfrm>
          <a:prstGeom prst="rect">
            <a:avLst/>
          </a:prstGeom>
          <a:solidFill>
            <a:srgbClr val="2D6A4F"/>
          </a:solidFill>
          <a:ln/>
        </p:spPr>
      </p:sp>
      <p:sp>
        <p:nvSpPr>
          <p:cNvPr id="13" name="Text 11"/>
          <p:cNvSpPr/>
          <p:nvPr/>
        </p:nvSpPr>
        <p:spPr>
          <a:xfrm>
            <a:off x="1005840" y="3977640"/>
            <a:ext cx="7315200" cy="274320"/>
          </a:xfrm>
          <a:prstGeom prst="rect">
            <a:avLst/>
          </a:prstGeom>
          <a:noFill/>
          <a:ln/>
        </p:spPr>
        <p:txBody>
          <a:bodyPr wrap="square" lIns="0" tIns="0" rIns="0" bIns="0" rtlCol="0" anchor="ctr"/>
          <a:lstStyle/>
          <a:p>
            <a:pPr indent="0" marL="0">
              <a:buNone/>
            </a:pPr>
            <a:r>
              <a:rPr lang="en-US" sz="1400" b="1" dirty="0">
                <a:solidFill>
                  <a:srgbClr val="1A1816"/>
                </a:solidFill>
                <a:latin typeface="Georgia" pitchFamily="34" charset="0"/>
                <a:ea typeface="Georgia" pitchFamily="34" charset="-122"/>
                <a:cs typeface="Georgia" pitchFamily="34" charset="-120"/>
              </a:rPr>
              <a:t>The scariest defection is to not caring.</a:t>
            </a:r>
            <a:endParaRPr lang="en-US" sz="1400" dirty="0"/>
          </a:p>
        </p:txBody>
      </p:sp>
      <p:sp>
        <p:nvSpPr>
          <p:cNvPr id="14" name="Text 12"/>
          <p:cNvSpPr/>
          <p:nvPr/>
        </p:nvSpPr>
        <p:spPr>
          <a:xfrm>
            <a:off x="1005840" y="4251960"/>
            <a:ext cx="7498080" cy="502920"/>
          </a:xfrm>
          <a:prstGeom prst="rect">
            <a:avLst/>
          </a:prstGeom>
          <a:noFill/>
          <a:ln/>
        </p:spPr>
        <p:txBody>
          <a:bodyPr wrap="square" lIns="0" tIns="0" rIns="0" bIns="0" rtlCol="0" anchor="ctr"/>
          <a:lstStyle/>
          <a:p>
            <a:pPr indent="0" marL="0">
              <a:lnSpc>
                <a:spcPct val="135000"/>
              </a:lnSpc>
              <a:buNone/>
            </a:pPr>
            <a:r>
              <a:rPr lang="en-US" sz="1100" dirty="0">
                <a:solidFill>
                  <a:srgbClr val="A09888"/>
                </a:solidFill>
                <a:latin typeface="Calibri" pitchFamily="34" charset="0"/>
                <a:ea typeface="Calibri" pitchFamily="34" charset="-122"/>
                <a:cs typeface="Calibri" pitchFamily="34" charset="-120"/>
              </a:rPr>
              <a:t>Marcus didn't switch to a competitor. He went home. That's invisible in a churn report.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816"/>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3200" b="1" dirty="0">
                <a:solidFill>
                  <a:srgbClr val="F5F1EB"/>
                </a:solidFill>
                <a:latin typeface="Georgia" pitchFamily="34" charset="0"/>
                <a:ea typeface="Georgia" pitchFamily="34" charset="-122"/>
                <a:cs typeface="Georgia" pitchFamily="34" charset="-120"/>
              </a:rPr>
              <a:t>The Capability</a:t>
            </a:r>
            <a:endParaRPr lang="en-US" sz="3200" dirty="0"/>
          </a:p>
        </p:txBody>
      </p:sp>
      <p:sp>
        <p:nvSpPr>
          <p:cNvPr id="3" name="Text 1"/>
          <p:cNvSpPr/>
          <p:nvPr/>
        </p:nvSpPr>
        <p:spPr>
          <a:xfrm>
            <a:off x="731520" y="1097280"/>
            <a:ext cx="7315200" cy="731520"/>
          </a:xfrm>
          <a:prstGeom prst="rect">
            <a:avLst/>
          </a:prstGeom>
          <a:noFill/>
          <a:ln/>
        </p:spPr>
        <p:txBody>
          <a:bodyPr wrap="square" rtlCol="0" anchor="ctr"/>
          <a:lstStyle/>
          <a:p>
            <a:pPr indent="0" marL="0">
              <a:lnSpc>
                <a:spcPct val="140000"/>
              </a:lnSpc>
              <a:buNone/>
            </a:pPr>
            <a:r>
              <a:rPr lang="en-US" sz="1800" dirty="0">
                <a:solidFill>
                  <a:srgbClr val="D4A843"/>
                </a:solidFill>
                <a:latin typeface="Calibri" pitchFamily="34" charset="0"/>
                <a:ea typeface="Calibri" pitchFamily="34" charset="-122"/>
                <a:cs typeface="Calibri" pitchFamily="34" charset="-120"/>
              </a:rPr>
              <a:t>Five synthetic personas. One scenario. Twelve months.</a:t>
            </a:r>
            <a:endParaRPr lang="en-US" sz="1800" dirty="0"/>
          </a:p>
          <a:p>
            <a:pPr indent="0" marL="0">
              <a:lnSpc>
                <a:spcPct val="140000"/>
              </a:lnSpc>
              <a:buNone/>
            </a:pPr>
            <a:r>
              <a:rPr lang="en-US" sz="1800" dirty="0">
                <a:solidFill>
                  <a:srgbClr val="D4A843"/>
                </a:solidFill>
                <a:latin typeface="Calibri" pitchFamily="34" charset="0"/>
                <a:ea typeface="Calibri" pitchFamily="34" charset="-122"/>
                <a:cs typeface="Calibri" pitchFamily="34" charset="-120"/>
              </a:rPr>
              <a:t>Two measurement architectures. About two dollars.</a:t>
            </a:r>
            <a:endParaRPr lang="en-US" sz="1800" dirty="0"/>
          </a:p>
        </p:txBody>
      </p:sp>
      <p:sp>
        <p:nvSpPr>
          <p:cNvPr id="4" name="Text 2"/>
          <p:cNvSpPr/>
          <p:nvPr/>
        </p:nvSpPr>
        <p:spPr>
          <a:xfrm>
            <a:off x="731520" y="2103120"/>
            <a:ext cx="7680960" cy="1097280"/>
          </a:xfrm>
          <a:prstGeom prst="rect">
            <a:avLst/>
          </a:prstGeom>
          <a:noFill/>
          <a:ln/>
        </p:spPr>
        <p:txBody>
          <a:bodyPr wrap="square" rtlCol="0" anchor="ctr"/>
          <a:lstStyle/>
          <a:p>
            <a:pPr indent="0" marL="0">
              <a:lnSpc>
                <a:spcPct val="150000"/>
              </a:lnSpc>
              <a:buNone/>
            </a:pPr>
            <a:r>
              <a:rPr lang="en-US" sz="1400" dirty="0">
                <a:solidFill>
                  <a:srgbClr val="F5F1EB"/>
                </a:solidFill>
                <a:latin typeface="Calibri" pitchFamily="34" charset="0"/>
                <a:ea typeface="Calibri" pitchFamily="34" charset="-122"/>
                <a:cs typeface="Calibri" pitchFamily="34" charset="-120"/>
              </a:rPr>
              <a:t>We already know which customers we'd lose, which we'd keep, why the intervention worked on some and not others, and that the single most powerful retention tool isn't a loyalty program — it's getting the person back in the room for one more direct experience.</a:t>
            </a:r>
            <a:endParaRPr lang="en-US" sz="1400" dirty="0"/>
          </a:p>
        </p:txBody>
      </p:sp>
      <p:sp>
        <p:nvSpPr>
          <p:cNvPr id="5" name="Text 3"/>
          <p:cNvSpPr/>
          <p:nvPr/>
        </p:nvSpPr>
        <p:spPr>
          <a:xfrm>
            <a:off x="731520" y="3474720"/>
            <a:ext cx="7315200" cy="731520"/>
          </a:xfrm>
          <a:prstGeom prst="rect">
            <a:avLst/>
          </a:prstGeom>
          <a:noFill/>
          <a:ln/>
        </p:spPr>
        <p:txBody>
          <a:bodyPr wrap="square" rtlCol="0" anchor="ctr"/>
          <a:lstStyle/>
          <a:p>
            <a:pPr indent="0" marL="0">
              <a:lnSpc>
                <a:spcPct val="140000"/>
              </a:lnSpc>
              <a:buNone/>
            </a:pPr>
            <a:r>
              <a:rPr lang="en-US" sz="1400" i="1" dirty="0">
                <a:solidFill>
                  <a:srgbClr val="A09888"/>
                </a:solidFill>
                <a:latin typeface="Calibri" pitchFamily="34" charset="0"/>
                <a:ea typeface="Calibri" pitchFamily="34" charset="-122"/>
                <a:cs typeface="Calibri" pitchFamily="34" charset="-120"/>
              </a:rPr>
              <a:t>This is v0.2. The question isn't whether the methodology is production-ready.</a:t>
            </a:r>
            <a:endParaRPr lang="en-US" sz="1400" dirty="0"/>
          </a:p>
          <a:p>
            <a:pPr indent="0" marL="0">
              <a:lnSpc>
                <a:spcPct val="140000"/>
              </a:lnSpc>
              <a:buNone/>
            </a:pPr>
            <a:r>
              <a:rPr lang="en-US" sz="1400" i="1" dirty="0">
                <a:solidFill>
                  <a:srgbClr val="A09888"/>
                </a:solidFill>
                <a:latin typeface="Calibri" pitchFamily="34" charset="0"/>
                <a:ea typeface="Calibri" pitchFamily="34" charset="-122"/>
                <a:cs typeface="Calibri" pitchFamily="34" charset="-120"/>
              </a:rPr>
              <a:t>The question is whether the capability is worth investing in.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D6A4F"/>
        </a:solidFill>
      </p:bgPr>
    </p:bg>
    <p:spTree>
      <p:nvGrpSpPr>
        <p:cNvPr id="1" name=""/>
        <p:cNvGrpSpPr/>
        <p:nvPr/>
      </p:nvGrpSpPr>
      <p:grpSpPr>
        <a:xfrm>
          <a:off x="0" y="0"/>
          <a:ext cx="0" cy="0"/>
          <a:chOff x="0" y="0"/>
          <a:chExt cx="0" cy="0"/>
        </a:xfrm>
      </p:grpSpPr>
      <p:sp>
        <p:nvSpPr>
          <p:cNvPr id="2" name="Text 0"/>
          <p:cNvSpPr/>
          <p:nvPr/>
        </p:nvSpPr>
        <p:spPr>
          <a:xfrm>
            <a:off x="731520" y="1828800"/>
            <a:ext cx="7315200" cy="914400"/>
          </a:xfrm>
          <a:prstGeom prst="rect">
            <a:avLst/>
          </a:prstGeom>
          <a:noFill/>
          <a:ln/>
        </p:spPr>
        <p:txBody>
          <a:bodyPr wrap="square" rtlCol="0" anchor="ctr"/>
          <a:lstStyle/>
          <a:p>
            <a:pPr indent="0" marL="0">
              <a:buNone/>
            </a:pPr>
            <a:r>
              <a:rPr lang="en-US" sz="4400" b="1" dirty="0">
                <a:solidFill>
                  <a:srgbClr val="F5F1EB"/>
                </a:solidFill>
                <a:latin typeface="Georgia" pitchFamily="34" charset="0"/>
                <a:ea typeface="Georgia" pitchFamily="34" charset="-122"/>
                <a:cs typeface="Georgia" pitchFamily="34" charset="-120"/>
              </a:rPr>
              <a:t>Appendix</a:t>
            </a:r>
            <a:endParaRPr lang="en-US" sz="4400" dirty="0"/>
          </a:p>
        </p:txBody>
      </p:sp>
      <p:sp>
        <p:nvSpPr>
          <p:cNvPr id="3" name="Text 1"/>
          <p:cNvSpPr/>
          <p:nvPr/>
        </p:nvSpPr>
        <p:spPr>
          <a:xfrm>
            <a:off x="731520" y="2834640"/>
            <a:ext cx="7315200" cy="457200"/>
          </a:xfrm>
          <a:prstGeom prst="rect">
            <a:avLst/>
          </a:prstGeom>
          <a:noFill/>
          <a:ln/>
        </p:spPr>
        <p:txBody>
          <a:bodyPr wrap="square" rtlCol="0" anchor="ctr"/>
          <a:lstStyle/>
          <a:p>
            <a:pPr indent="0" marL="0">
              <a:buNone/>
            </a:pPr>
            <a:r>
              <a:rPr lang="en-US" sz="1600" i="1" dirty="0">
                <a:solidFill>
                  <a:srgbClr val="F5F1EB"/>
                </a:solidFill>
                <a:latin typeface="Calibri" pitchFamily="34" charset="0"/>
                <a:ea typeface="Calibri" pitchFamily="34" charset="-122"/>
                <a:cs typeface="Calibri" pitchFamily="34" charset="-120"/>
              </a:rPr>
              <a:t>Methodology, measurement design, and simulation learnings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2800" b="1" dirty="0">
                <a:solidFill>
                  <a:srgbClr val="1A1816"/>
                </a:solidFill>
                <a:latin typeface="Georgia" pitchFamily="34" charset="0"/>
                <a:ea typeface="Georgia" pitchFamily="34" charset="-122"/>
                <a:cs typeface="Georgia" pitchFamily="34" charset="-120"/>
              </a:rPr>
              <a:t>Measurement Design</a:t>
            </a:r>
            <a:endParaRPr lang="en-US" sz="2800" dirty="0"/>
          </a:p>
        </p:txBody>
      </p:sp>
      <p:sp>
        <p:nvSpPr>
          <p:cNvPr id="3" name="Text 1"/>
          <p:cNvSpPr/>
          <p:nvPr/>
        </p:nvSpPr>
        <p:spPr>
          <a:xfrm>
            <a:off x="731520" y="914400"/>
            <a:ext cx="7315200" cy="320040"/>
          </a:xfrm>
          <a:prstGeom prst="rect">
            <a:avLst/>
          </a:prstGeom>
          <a:noFill/>
          <a:ln/>
        </p:spPr>
        <p:txBody>
          <a:bodyPr wrap="square" rtlCol="0" anchor="ctr"/>
          <a:lstStyle/>
          <a:p>
            <a:pPr indent="0" marL="0">
              <a:buNone/>
            </a:pPr>
            <a:r>
              <a:rPr lang="en-US" sz="1400" i="1" dirty="0">
                <a:solidFill>
                  <a:srgbClr val="8B3A0F"/>
                </a:solidFill>
                <a:latin typeface="Calibri" pitchFamily="34" charset="0"/>
                <a:ea typeface="Calibri" pitchFamily="34" charset="-122"/>
                <a:cs typeface="Calibri" pitchFamily="34" charset="-120"/>
              </a:rPr>
              <a:t>Why we never asked 'are you loyal?'</a:t>
            </a:r>
            <a:endParaRPr lang="en-US" sz="1400" dirty="0"/>
          </a:p>
        </p:txBody>
      </p:sp>
      <p:sp>
        <p:nvSpPr>
          <p:cNvPr id="4" name="Text 2"/>
          <p:cNvSpPr/>
          <p:nvPr/>
        </p:nvSpPr>
        <p:spPr>
          <a:xfrm>
            <a:off x="731520" y="1371600"/>
            <a:ext cx="7680960" cy="1188720"/>
          </a:xfrm>
          <a:prstGeom prst="rect">
            <a:avLst/>
          </a:prstGeom>
          <a:noFill/>
          <a:ln/>
        </p:spPr>
        <p:txBody>
          <a:bodyPr wrap="square" rtlCol="0" anchor="ctr"/>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Loyalty is a lagging indicator — at best it confirms what already happened. We designed a four-item instrument that measures the components underneath: how they perceive quality (head), how emotionally connected they feel (heart), how curious they are about competitors (hand), and how confident they are in their own choice (gravity). Then we observed behavior separately. The gap between what they reported and what they did is where every interesting finding lives.</a:t>
            </a:r>
            <a:endParaRPr lang="en-US" sz="1200" dirty="0"/>
          </a:p>
        </p:txBody>
      </p:sp>
      <p:sp>
        <p:nvSpPr>
          <p:cNvPr id="5" name="Text 3"/>
          <p:cNvSpPr/>
          <p:nvPr/>
        </p:nvSpPr>
        <p:spPr>
          <a:xfrm>
            <a:off x="731520" y="2834640"/>
            <a:ext cx="7680960" cy="1097280"/>
          </a:xfrm>
          <a:prstGeom prst="rect">
            <a:avLst/>
          </a:prstGeom>
          <a:noFill/>
          <a:ln/>
        </p:spPr>
        <p:txBody>
          <a:bodyPr wrap="square" rtlCol="0" anchor="ctr"/>
          <a:lstStyle/>
          <a:p>
            <a:pPr indent="0" marL="0">
              <a:lnSpc>
                <a:spcPct val="150000"/>
              </a:lnSpc>
              <a:buNone/>
            </a:pPr>
            <a:r>
              <a:rPr lang="en-US" sz="1200" dirty="0">
                <a:solidFill>
                  <a:srgbClr val="1A1816"/>
                </a:solidFill>
                <a:latin typeface="Calibri" pitchFamily="34" charset="0"/>
                <a:ea typeface="Calibri" pitchFamily="34" charset="-122"/>
                <a:cs typeface="Calibri" pitchFamily="34" charset="-120"/>
              </a:rPr>
              <a:t>The two-call architecture ensures independence: behavior generated blind, attitudes scored after. When we switched from a single-call design to two-call, Chet &amp; Charlotte stopped hedging as much — the measurement instrument itself was changing the behavior. That's a finding about survey design, not a bug.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rtlCol="0" anchor="ctr"/>
          <a:lstStyle/>
          <a:p>
            <a:pPr indent="0" marL="0">
              <a:buNone/>
            </a:pPr>
            <a:r>
              <a:rPr lang="en-US" sz="2800" b="1" dirty="0">
                <a:solidFill>
                  <a:srgbClr val="1A1816"/>
                </a:solidFill>
                <a:latin typeface="Georgia" pitchFamily="34" charset="0"/>
                <a:ea typeface="Georgia" pitchFamily="34" charset="-122"/>
                <a:cs typeface="Georgia" pitchFamily="34" charset="-120"/>
              </a:rPr>
              <a:t>Simulation Learnings</a:t>
            </a:r>
            <a:endParaRPr lang="en-US" sz="2800" dirty="0"/>
          </a:p>
        </p:txBody>
      </p:sp>
      <p:sp>
        <p:nvSpPr>
          <p:cNvPr id="3" name="Shape 1"/>
          <p:cNvSpPr/>
          <p:nvPr/>
        </p:nvSpPr>
        <p:spPr>
          <a:xfrm>
            <a:off x="731520" y="1097280"/>
            <a:ext cx="73152" cy="777240"/>
          </a:xfrm>
          <a:prstGeom prst="rect">
            <a:avLst/>
          </a:prstGeom>
          <a:solidFill>
            <a:srgbClr val="D4A843"/>
          </a:solidFill>
          <a:ln/>
        </p:spPr>
      </p:sp>
      <p:sp>
        <p:nvSpPr>
          <p:cNvPr id="4" name="Text 2"/>
          <p:cNvSpPr/>
          <p:nvPr/>
        </p:nvSpPr>
        <p:spPr>
          <a:xfrm>
            <a:off x="1005840" y="1097280"/>
            <a:ext cx="7315200" cy="274320"/>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The ambient layer is a dial, not a backdrop.</a:t>
            </a:r>
            <a:endParaRPr lang="en-US" sz="1300" dirty="0"/>
          </a:p>
        </p:txBody>
      </p:sp>
      <p:sp>
        <p:nvSpPr>
          <p:cNvPr id="5" name="Text 3"/>
          <p:cNvSpPr/>
          <p:nvPr/>
        </p:nvSpPr>
        <p:spPr>
          <a:xfrm>
            <a:off x="1005840" y="1371600"/>
            <a:ext cx="7498080" cy="502920"/>
          </a:xfrm>
          <a:prstGeom prst="rect">
            <a:avLst/>
          </a:prstGeom>
          <a:noFill/>
          <a:ln/>
        </p:spPr>
        <p:txBody>
          <a:bodyPr wrap="square" lIns="0" tIns="0" rIns="0" bIns="0" rtlCol="0" anchor="ctr"/>
          <a:lstStyle/>
          <a:p>
            <a:pPr indent="0" marL="0">
              <a:lnSpc>
                <a:spcPct val="135000"/>
              </a:lnSpc>
              <a:buNone/>
            </a:pPr>
            <a:r>
              <a:rPr lang="en-US" sz="1000" dirty="0">
                <a:solidFill>
                  <a:srgbClr val="A09888"/>
                </a:solidFill>
                <a:latin typeface="Calibri" pitchFamily="34" charset="0"/>
                <a:ea typeface="Calibri" pitchFamily="34" charset="-122"/>
                <a:cs typeface="Calibri" pitchFamily="34" charset="-120"/>
              </a:rPr>
              <a:t>Same personas in a loud vs. quiet world produced fundamentally different outcomes. Richard defected in v0.1 (loud) and stayed loyal in v0.2 (quiet).</a:t>
            </a:r>
            <a:endParaRPr lang="en-US" sz="1000" dirty="0"/>
          </a:p>
        </p:txBody>
      </p:sp>
      <p:sp>
        <p:nvSpPr>
          <p:cNvPr id="6" name="Shape 4"/>
          <p:cNvSpPr/>
          <p:nvPr/>
        </p:nvSpPr>
        <p:spPr>
          <a:xfrm>
            <a:off x="731520" y="2084832"/>
            <a:ext cx="73152" cy="777240"/>
          </a:xfrm>
          <a:prstGeom prst="rect">
            <a:avLst/>
          </a:prstGeom>
          <a:solidFill>
            <a:srgbClr val="D4A843"/>
          </a:solidFill>
          <a:ln/>
        </p:spPr>
      </p:sp>
      <p:sp>
        <p:nvSpPr>
          <p:cNvPr id="7" name="Text 5"/>
          <p:cNvSpPr/>
          <p:nvPr/>
        </p:nvSpPr>
        <p:spPr>
          <a:xfrm>
            <a:off x="1005840" y="2084832"/>
            <a:ext cx="7315200" cy="274320"/>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Anonymized personas reduce but don't eliminate bias.</a:t>
            </a:r>
            <a:endParaRPr lang="en-US" sz="1300" dirty="0"/>
          </a:p>
        </p:txBody>
      </p:sp>
      <p:sp>
        <p:nvSpPr>
          <p:cNvPr id="8" name="Text 6"/>
          <p:cNvSpPr/>
          <p:nvPr/>
        </p:nvSpPr>
        <p:spPr>
          <a:xfrm>
            <a:off x="1005840" y="2359152"/>
            <a:ext cx="7498080" cy="502920"/>
          </a:xfrm>
          <a:prstGeom prst="rect">
            <a:avLst/>
          </a:prstGeom>
          <a:noFill/>
          <a:ln/>
        </p:spPr>
        <p:txBody>
          <a:bodyPr wrap="square" lIns="0" tIns="0" rIns="0" bIns="0" rtlCol="0" anchor="ctr"/>
          <a:lstStyle/>
          <a:p>
            <a:pPr indent="0" marL="0">
              <a:lnSpc>
                <a:spcPct val="135000"/>
              </a:lnSpc>
              <a:buNone/>
            </a:pPr>
            <a:r>
              <a:rPr lang="en-US" sz="1000" dirty="0">
                <a:solidFill>
                  <a:srgbClr val="A09888"/>
                </a:solidFill>
                <a:latin typeface="Calibri" pitchFamily="34" charset="0"/>
                <a:ea typeface="Calibri" pitchFamily="34" charset="-122"/>
                <a:cs typeface="Calibri" pitchFamily="34" charset="-120"/>
              </a:rPr>
              <a:t>Despite running as Persona 1-5 with no demographics, the model produced gendered behavioral patterns. Blinding helps but isn't sufficient.</a:t>
            </a:r>
            <a:endParaRPr lang="en-US" sz="1000" dirty="0"/>
          </a:p>
        </p:txBody>
      </p:sp>
      <p:sp>
        <p:nvSpPr>
          <p:cNvPr id="9" name="Shape 7"/>
          <p:cNvSpPr/>
          <p:nvPr/>
        </p:nvSpPr>
        <p:spPr>
          <a:xfrm>
            <a:off x="731520" y="3072384"/>
            <a:ext cx="73152" cy="777240"/>
          </a:xfrm>
          <a:prstGeom prst="rect">
            <a:avLst/>
          </a:prstGeom>
          <a:solidFill>
            <a:srgbClr val="D4A843"/>
          </a:solidFill>
          <a:ln/>
        </p:spPr>
      </p:sp>
      <p:sp>
        <p:nvSpPr>
          <p:cNvPr id="10" name="Text 8"/>
          <p:cNvSpPr/>
          <p:nvPr/>
        </p:nvSpPr>
        <p:spPr>
          <a:xfrm>
            <a:off x="1005840" y="3072384"/>
            <a:ext cx="7315200" cy="274320"/>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The 'Nando's moment' may be an artifact.</a:t>
            </a:r>
            <a:endParaRPr lang="en-US" sz="1300" dirty="0"/>
          </a:p>
        </p:txBody>
      </p:sp>
      <p:sp>
        <p:nvSpPr>
          <p:cNvPr id="11" name="Text 9"/>
          <p:cNvSpPr/>
          <p:nvPr/>
        </p:nvSpPr>
        <p:spPr>
          <a:xfrm>
            <a:off x="1005840" y="3346704"/>
            <a:ext cx="7498080" cy="502920"/>
          </a:xfrm>
          <a:prstGeom prst="rect">
            <a:avLst/>
          </a:prstGeom>
          <a:noFill/>
          <a:ln/>
        </p:spPr>
        <p:txBody>
          <a:bodyPr wrap="square" lIns="0" tIns="0" rIns="0" bIns="0" rtlCol="0" anchor="ctr"/>
          <a:lstStyle/>
          <a:p>
            <a:pPr indent="0" marL="0">
              <a:lnSpc>
                <a:spcPct val="135000"/>
              </a:lnSpc>
              <a:buNone/>
            </a:pPr>
            <a:r>
              <a:rPr lang="en-US" sz="1000" dirty="0">
                <a:solidFill>
                  <a:srgbClr val="A09888"/>
                </a:solidFill>
                <a:latin typeface="Calibri" pitchFamily="34" charset="0"/>
                <a:ea typeface="Calibri" pitchFamily="34" charset="-122"/>
                <a:cs typeface="Calibri" pitchFamily="34" charset="-120"/>
              </a:rPr>
              <a:t>Marcus leaving fine dining entirely was dramatic in the loud world but didn't replicate in the quiet world. His baseline shows low visit frequency anyway.</a:t>
            </a:r>
            <a:endParaRPr lang="en-US" sz="1000" dirty="0"/>
          </a:p>
        </p:txBody>
      </p:sp>
      <p:sp>
        <p:nvSpPr>
          <p:cNvPr id="12" name="Shape 10"/>
          <p:cNvSpPr/>
          <p:nvPr/>
        </p:nvSpPr>
        <p:spPr>
          <a:xfrm>
            <a:off x="731520" y="4059936"/>
            <a:ext cx="73152" cy="777240"/>
          </a:xfrm>
          <a:prstGeom prst="rect">
            <a:avLst/>
          </a:prstGeom>
          <a:solidFill>
            <a:srgbClr val="D4A843"/>
          </a:solidFill>
          <a:ln/>
        </p:spPr>
      </p:sp>
      <p:sp>
        <p:nvSpPr>
          <p:cNvPr id="13" name="Text 11"/>
          <p:cNvSpPr/>
          <p:nvPr/>
        </p:nvSpPr>
        <p:spPr>
          <a:xfrm>
            <a:off x="1005840" y="4059936"/>
            <a:ext cx="7315200" cy="274320"/>
          </a:xfrm>
          <a:prstGeom prst="rect">
            <a:avLst/>
          </a:prstGeom>
          <a:noFill/>
          <a:ln/>
        </p:spPr>
        <p:txBody>
          <a:bodyPr wrap="square" lIns="0" tIns="0" rIns="0" bIns="0" rtlCol="0" anchor="ctr"/>
          <a:lstStyle/>
          <a:p>
            <a:pPr indent="0" marL="0">
              <a:buNone/>
            </a:pPr>
            <a:r>
              <a:rPr lang="en-US" sz="1300" b="1" dirty="0">
                <a:solidFill>
                  <a:srgbClr val="1A1816"/>
                </a:solidFill>
                <a:latin typeface="Georgia" pitchFamily="34" charset="0"/>
                <a:ea typeface="Georgia" pitchFamily="34" charset="-122"/>
                <a:cs typeface="Georgia" pitchFamily="34" charset="-120"/>
              </a:rPr>
              <a:t>Full profiles matter for the quant layer.</a:t>
            </a:r>
            <a:endParaRPr lang="en-US" sz="1300" dirty="0"/>
          </a:p>
        </p:txBody>
      </p:sp>
      <p:sp>
        <p:nvSpPr>
          <p:cNvPr id="14" name="Text 12"/>
          <p:cNvSpPr/>
          <p:nvPr/>
        </p:nvSpPr>
        <p:spPr>
          <a:xfrm>
            <a:off x="1005840" y="4334256"/>
            <a:ext cx="7498080" cy="502920"/>
          </a:xfrm>
          <a:prstGeom prst="rect">
            <a:avLst/>
          </a:prstGeom>
          <a:noFill/>
          <a:ln/>
        </p:spPr>
        <p:txBody>
          <a:bodyPr wrap="square" lIns="0" tIns="0" rIns="0" bIns="0" rtlCol="0" anchor="ctr"/>
          <a:lstStyle/>
          <a:p>
            <a:pPr indent="0" marL="0">
              <a:lnSpc>
                <a:spcPct val="135000"/>
              </a:lnSpc>
              <a:buNone/>
            </a:pPr>
            <a:r>
              <a:rPr lang="en-US" sz="1000" dirty="0">
                <a:solidFill>
                  <a:srgbClr val="A09888"/>
                </a:solidFill>
                <a:latin typeface="Calibri" pitchFamily="34" charset="0"/>
                <a:ea typeface="Calibri" pitchFamily="34" charset="-122"/>
                <a:cs typeface="Calibri" pitchFamily="34" charset="-120"/>
              </a:rPr>
              <a:t>Compressed one-line summaries produced zero variance. The model needs full personality texture to reason about behavior.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Michelin Star Simulator</dc:title>
  <dc:subject>PptxGenJS Presentation</dc:subject>
  <dc:creator>Chad Murphy</dc:creator>
  <cp:lastModifiedBy>Chad Murphy</cp:lastModifiedBy>
  <cp:revision>1</cp:revision>
  <dcterms:created xsi:type="dcterms:W3CDTF">2026-03-24T02:04:48Z</dcterms:created>
  <dcterms:modified xsi:type="dcterms:W3CDTF">2026-03-24T02:04:48Z</dcterms:modified>
</cp:coreProperties>
</file>